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Masters/slideMaster1.xml" ContentType="application/vnd.openxmlformats-officedocument.presentationml.slideMaster+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9.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6"/>
  </p:notesMasterIdLst>
  <p:sldIdLst>
    <p:sldId id="256" r:id="rId2"/>
    <p:sldId id="311" r:id="rId3"/>
    <p:sldId id="312" r:id="rId4"/>
    <p:sldId id="313" r:id="rId5"/>
    <p:sldId id="316" r:id="rId6"/>
    <p:sldId id="317" r:id="rId7"/>
    <p:sldId id="318" r:id="rId8"/>
    <p:sldId id="314" r:id="rId9"/>
    <p:sldId id="319" r:id="rId10"/>
    <p:sldId id="320" r:id="rId11"/>
    <p:sldId id="321" r:id="rId12"/>
    <p:sldId id="322" r:id="rId13"/>
    <p:sldId id="323" r:id="rId14"/>
    <p:sldId id="324" r:id="rId15"/>
    <p:sldId id="325" r:id="rId16"/>
    <p:sldId id="326" r:id="rId17"/>
    <p:sldId id="327" r:id="rId18"/>
    <p:sldId id="328" r:id="rId19"/>
    <p:sldId id="329" r:id="rId20"/>
    <p:sldId id="330" r:id="rId21"/>
    <p:sldId id="331" r:id="rId22"/>
    <p:sldId id="332" r:id="rId23"/>
    <p:sldId id="333" r:id="rId24"/>
    <p:sldId id="334" r:id="rId25"/>
    <p:sldId id="335" r:id="rId26"/>
    <p:sldId id="336" r:id="rId27"/>
    <p:sldId id="337" r:id="rId28"/>
    <p:sldId id="340" r:id="rId29"/>
    <p:sldId id="341" r:id="rId30"/>
    <p:sldId id="339" r:id="rId31"/>
    <p:sldId id="342" r:id="rId32"/>
    <p:sldId id="343" r:id="rId33"/>
    <p:sldId id="344" r:id="rId34"/>
    <p:sldId id="345" r:id="rId35"/>
    <p:sldId id="346" r:id="rId36"/>
    <p:sldId id="347" r:id="rId37"/>
    <p:sldId id="348" r:id="rId38"/>
    <p:sldId id="349" r:id="rId39"/>
    <p:sldId id="350" r:id="rId40"/>
    <p:sldId id="353" r:id="rId41"/>
    <p:sldId id="354" r:id="rId42"/>
    <p:sldId id="338" r:id="rId43"/>
    <p:sldId id="355" r:id="rId44"/>
    <p:sldId id="351"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572" autoAdjust="0"/>
    <p:restoredTop sz="94660"/>
  </p:normalViewPr>
  <p:slideViewPr>
    <p:cSldViewPr snapToGrid="0">
      <p:cViewPr varScale="1">
        <p:scale>
          <a:sx n="121" d="100"/>
          <a:sy n="121" d="100"/>
        </p:scale>
        <p:origin x="792" y="9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customXml" Target="../customXml/item3.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customXml" Target="../customXml/item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1CF35B-F3C0-4175-A72B-6D697D868F90}" type="datetimeFigureOut">
              <a:rPr lang="en-US" smtClean="0"/>
              <a:t>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390CFE-B5B0-42F1-B336-4A923EF269CC}" type="slidenum">
              <a:rPr lang="en-US" smtClean="0"/>
              <a:t>‹#›</a:t>
            </a:fld>
            <a:endParaRPr lang="en-US"/>
          </a:p>
        </p:txBody>
      </p:sp>
    </p:spTree>
    <p:extLst>
      <p:ext uri="{BB962C8B-B14F-4D97-AF65-F5344CB8AC3E}">
        <p14:creationId xmlns:p14="http://schemas.microsoft.com/office/powerpoint/2010/main" val="39894187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925BF-AC72-C57C-642F-053847B0972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34EB6EC-9CF7-B3C9-4880-443C631B583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7A795D4-FDC7-D704-2225-E84DC5AE60DA}"/>
              </a:ext>
            </a:extLst>
          </p:cNvPr>
          <p:cNvSpPr>
            <a:spLocks noGrp="1"/>
          </p:cNvSpPr>
          <p:nvPr>
            <p:ph type="dt" sz="half" idx="10"/>
          </p:nvPr>
        </p:nvSpPr>
        <p:spPr/>
        <p:txBody>
          <a:bodyPr/>
          <a:lstStyle/>
          <a:p>
            <a:fld id="{411F3993-484C-4B70-BFC0-8813833DBBBA}" type="datetime1">
              <a:rPr lang="en-US" smtClean="0"/>
              <a:t>2/8/2026</a:t>
            </a:fld>
            <a:endParaRPr lang="en-US"/>
          </a:p>
        </p:txBody>
      </p:sp>
      <p:sp>
        <p:nvSpPr>
          <p:cNvPr id="5" name="Footer Placeholder 4">
            <a:extLst>
              <a:ext uri="{FF2B5EF4-FFF2-40B4-BE49-F238E27FC236}">
                <a16:creationId xmlns:a16="http://schemas.microsoft.com/office/drawing/2014/main" id="{67AEA683-64EB-FDF9-3F20-2C1C09D1BF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995F8A-2A1E-6619-EEDD-AF92E277D5FC}"/>
              </a:ext>
            </a:extLst>
          </p:cNvPr>
          <p:cNvSpPr>
            <a:spLocks noGrp="1"/>
          </p:cNvSpPr>
          <p:nvPr>
            <p:ph type="sldNum" sz="quarter" idx="12"/>
          </p:nvPr>
        </p:nvSpPr>
        <p:spPr/>
        <p:txBody>
          <a:bodyPr/>
          <a:lstStyle/>
          <a:p>
            <a:fld id="{C795FC6A-1DDE-4D80-97D7-06017F2A69D1}" type="slidenum">
              <a:rPr lang="en-US" smtClean="0"/>
              <a:t>‹#›</a:t>
            </a:fld>
            <a:endParaRPr lang="en-US"/>
          </a:p>
        </p:txBody>
      </p:sp>
    </p:spTree>
    <p:extLst>
      <p:ext uri="{BB962C8B-B14F-4D97-AF65-F5344CB8AC3E}">
        <p14:creationId xmlns:p14="http://schemas.microsoft.com/office/powerpoint/2010/main" val="40672523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C3093F-2380-48D2-8A68-8EF4156E402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A99DBC9-1462-8BEC-3BA8-0A626343FDF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615B2E0-38CC-71FD-6DD9-B6861630CFD5}"/>
              </a:ext>
            </a:extLst>
          </p:cNvPr>
          <p:cNvSpPr>
            <a:spLocks noGrp="1"/>
          </p:cNvSpPr>
          <p:nvPr>
            <p:ph type="dt" sz="half" idx="10"/>
          </p:nvPr>
        </p:nvSpPr>
        <p:spPr/>
        <p:txBody>
          <a:bodyPr/>
          <a:lstStyle/>
          <a:p>
            <a:fld id="{1E536657-6B23-4D4A-B2EB-44BBEDE1256B}" type="datetime1">
              <a:rPr lang="en-US" smtClean="0"/>
              <a:t>2/8/2026</a:t>
            </a:fld>
            <a:endParaRPr lang="en-US"/>
          </a:p>
        </p:txBody>
      </p:sp>
      <p:sp>
        <p:nvSpPr>
          <p:cNvPr id="5" name="Footer Placeholder 4">
            <a:extLst>
              <a:ext uri="{FF2B5EF4-FFF2-40B4-BE49-F238E27FC236}">
                <a16:creationId xmlns:a16="http://schemas.microsoft.com/office/drawing/2014/main" id="{77FA2E10-2749-2AEA-0CA7-A2CE595A58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86E39B-E059-6C3B-12F3-EACD83263D19}"/>
              </a:ext>
            </a:extLst>
          </p:cNvPr>
          <p:cNvSpPr>
            <a:spLocks noGrp="1"/>
          </p:cNvSpPr>
          <p:nvPr>
            <p:ph type="sldNum" sz="quarter" idx="12"/>
          </p:nvPr>
        </p:nvSpPr>
        <p:spPr/>
        <p:txBody>
          <a:bodyPr/>
          <a:lstStyle/>
          <a:p>
            <a:fld id="{C795FC6A-1DDE-4D80-97D7-06017F2A69D1}" type="slidenum">
              <a:rPr lang="en-US" smtClean="0"/>
              <a:t>‹#›</a:t>
            </a:fld>
            <a:endParaRPr lang="en-US"/>
          </a:p>
        </p:txBody>
      </p:sp>
    </p:spTree>
    <p:extLst>
      <p:ext uri="{BB962C8B-B14F-4D97-AF65-F5344CB8AC3E}">
        <p14:creationId xmlns:p14="http://schemas.microsoft.com/office/powerpoint/2010/main" val="40588952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0F63A-1627-E2F4-2C55-3E86E1DEB5D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4AEDDDC-9ACB-D767-FA42-7872E5CC3C4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E34FFB2-3F33-33B3-4904-9013DE1A4C28}"/>
              </a:ext>
            </a:extLst>
          </p:cNvPr>
          <p:cNvSpPr>
            <a:spLocks noGrp="1"/>
          </p:cNvSpPr>
          <p:nvPr>
            <p:ph type="dt" sz="half" idx="10"/>
          </p:nvPr>
        </p:nvSpPr>
        <p:spPr/>
        <p:txBody>
          <a:bodyPr/>
          <a:lstStyle/>
          <a:p>
            <a:fld id="{673082A3-145C-4308-8D0E-84D1CB879013}" type="datetime1">
              <a:rPr lang="en-US" smtClean="0"/>
              <a:t>2/8/2026</a:t>
            </a:fld>
            <a:endParaRPr lang="en-US"/>
          </a:p>
        </p:txBody>
      </p:sp>
      <p:sp>
        <p:nvSpPr>
          <p:cNvPr id="5" name="Footer Placeholder 4">
            <a:extLst>
              <a:ext uri="{FF2B5EF4-FFF2-40B4-BE49-F238E27FC236}">
                <a16:creationId xmlns:a16="http://schemas.microsoft.com/office/drawing/2014/main" id="{F3EB6BBA-B746-D67F-BDF9-C804F66A74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CEB0C21-4DFC-4E5D-4285-F210BDD0A3AC}"/>
              </a:ext>
            </a:extLst>
          </p:cNvPr>
          <p:cNvSpPr>
            <a:spLocks noGrp="1"/>
          </p:cNvSpPr>
          <p:nvPr>
            <p:ph type="sldNum" sz="quarter" idx="12"/>
          </p:nvPr>
        </p:nvSpPr>
        <p:spPr/>
        <p:txBody>
          <a:bodyPr/>
          <a:lstStyle/>
          <a:p>
            <a:fld id="{C795FC6A-1DDE-4D80-97D7-06017F2A69D1}" type="slidenum">
              <a:rPr lang="en-US" smtClean="0"/>
              <a:t>‹#›</a:t>
            </a:fld>
            <a:endParaRPr lang="en-US"/>
          </a:p>
        </p:txBody>
      </p:sp>
    </p:spTree>
    <p:extLst>
      <p:ext uri="{BB962C8B-B14F-4D97-AF65-F5344CB8AC3E}">
        <p14:creationId xmlns:p14="http://schemas.microsoft.com/office/powerpoint/2010/main" val="18310892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1B777D-AE6B-EEF3-3894-CA9B5C1602F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7EC0DE1-41A9-3B5F-BC80-97F956EF2C6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85448E4-A55F-403B-E149-516A385DA15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1943509-CF79-2E8E-AB6C-DA90BD8420B8}"/>
              </a:ext>
            </a:extLst>
          </p:cNvPr>
          <p:cNvSpPr>
            <a:spLocks noGrp="1"/>
          </p:cNvSpPr>
          <p:nvPr>
            <p:ph type="dt" sz="half" idx="10"/>
          </p:nvPr>
        </p:nvSpPr>
        <p:spPr/>
        <p:txBody>
          <a:bodyPr/>
          <a:lstStyle/>
          <a:p>
            <a:fld id="{EF184C43-879E-42FE-AB58-16127A3196D2}" type="datetime1">
              <a:rPr lang="en-US" smtClean="0"/>
              <a:t>2/8/2026</a:t>
            </a:fld>
            <a:endParaRPr lang="en-US"/>
          </a:p>
        </p:txBody>
      </p:sp>
      <p:sp>
        <p:nvSpPr>
          <p:cNvPr id="6" name="Footer Placeholder 5">
            <a:extLst>
              <a:ext uri="{FF2B5EF4-FFF2-40B4-BE49-F238E27FC236}">
                <a16:creationId xmlns:a16="http://schemas.microsoft.com/office/drawing/2014/main" id="{0BF82449-F28D-AB5B-D408-6AE018C5F0B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6B8B6DC-66C5-7443-961A-07F7CCBBE157}"/>
              </a:ext>
            </a:extLst>
          </p:cNvPr>
          <p:cNvSpPr>
            <a:spLocks noGrp="1"/>
          </p:cNvSpPr>
          <p:nvPr>
            <p:ph type="sldNum" sz="quarter" idx="12"/>
          </p:nvPr>
        </p:nvSpPr>
        <p:spPr/>
        <p:txBody>
          <a:bodyPr/>
          <a:lstStyle/>
          <a:p>
            <a:fld id="{C795FC6A-1DDE-4D80-97D7-06017F2A69D1}" type="slidenum">
              <a:rPr lang="en-US" smtClean="0"/>
              <a:t>‹#›</a:t>
            </a:fld>
            <a:endParaRPr lang="en-US"/>
          </a:p>
        </p:txBody>
      </p:sp>
    </p:spTree>
    <p:extLst>
      <p:ext uri="{BB962C8B-B14F-4D97-AF65-F5344CB8AC3E}">
        <p14:creationId xmlns:p14="http://schemas.microsoft.com/office/powerpoint/2010/main" val="25662363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0ED7C-CD4E-5A6C-1EED-2B45BA8230F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127D0C6-518B-8A22-EC85-46FA67D2093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F86B0A8-9207-149C-E1A9-9C4805B65C9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F51C852-37EF-E809-CE1E-11684F45289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19DE8BE-D53A-24A1-9642-2527718B907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33A0E8B-8AE1-9547-63E3-3C40FE044709}"/>
              </a:ext>
            </a:extLst>
          </p:cNvPr>
          <p:cNvSpPr>
            <a:spLocks noGrp="1"/>
          </p:cNvSpPr>
          <p:nvPr>
            <p:ph type="dt" sz="half" idx="10"/>
          </p:nvPr>
        </p:nvSpPr>
        <p:spPr/>
        <p:txBody>
          <a:bodyPr/>
          <a:lstStyle/>
          <a:p>
            <a:fld id="{3011E85B-5513-4F86-A7B5-14FAD964FCCF}" type="datetime1">
              <a:rPr lang="en-US" smtClean="0"/>
              <a:t>2/8/2026</a:t>
            </a:fld>
            <a:endParaRPr lang="en-US"/>
          </a:p>
        </p:txBody>
      </p:sp>
      <p:sp>
        <p:nvSpPr>
          <p:cNvPr id="8" name="Footer Placeholder 7">
            <a:extLst>
              <a:ext uri="{FF2B5EF4-FFF2-40B4-BE49-F238E27FC236}">
                <a16:creationId xmlns:a16="http://schemas.microsoft.com/office/drawing/2014/main" id="{9CB2D8A0-6E8A-9AF5-4A5D-151659F1EC8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2EF8DBC-683A-62D7-CDA5-2FCFC059331F}"/>
              </a:ext>
            </a:extLst>
          </p:cNvPr>
          <p:cNvSpPr>
            <a:spLocks noGrp="1"/>
          </p:cNvSpPr>
          <p:nvPr>
            <p:ph type="sldNum" sz="quarter" idx="12"/>
          </p:nvPr>
        </p:nvSpPr>
        <p:spPr/>
        <p:txBody>
          <a:bodyPr/>
          <a:lstStyle/>
          <a:p>
            <a:fld id="{C795FC6A-1DDE-4D80-97D7-06017F2A69D1}" type="slidenum">
              <a:rPr lang="en-US" smtClean="0"/>
              <a:t>‹#›</a:t>
            </a:fld>
            <a:endParaRPr lang="en-US"/>
          </a:p>
        </p:txBody>
      </p:sp>
    </p:spTree>
    <p:extLst>
      <p:ext uri="{BB962C8B-B14F-4D97-AF65-F5344CB8AC3E}">
        <p14:creationId xmlns:p14="http://schemas.microsoft.com/office/powerpoint/2010/main" val="25564841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E83A6-63C5-B478-A492-0E5908BF3D0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409EA67-23DC-D9AF-8EBD-C0576BB8196A}"/>
              </a:ext>
            </a:extLst>
          </p:cNvPr>
          <p:cNvSpPr>
            <a:spLocks noGrp="1"/>
          </p:cNvSpPr>
          <p:nvPr>
            <p:ph type="dt" sz="half" idx="10"/>
          </p:nvPr>
        </p:nvSpPr>
        <p:spPr/>
        <p:txBody>
          <a:bodyPr/>
          <a:lstStyle/>
          <a:p>
            <a:fld id="{C7CA2602-91FE-40EB-B5F6-AEEE1032EFD3}" type="datetime1">
              <a:rPr lang="en-US" smtClean="0"/>
              <a:t>2/8/2026</a:t>
            </a:fld>
            <a:endParaRPr lang="en-US"/>
          </a:p>
        </p:txBody>
      </p:sp>
      <p:sp>
        <p:nvSpPr>
          <p:cNvPr id="4" name="Footer Placeholder 3">
            <a:extLst>
              <a:ext uri="{FF2B5EF4-FFF2-40B4-BE49-F238E27FC236}">
                <a16:creationId xmlns:a16="http://schemas.microsoft.com/office/drawing/2014/main" id="{6E44CC32-47D2-F177-C49C-68AE752DFE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D300503-B48A-D38C-F2FB-BD2355FBA583}"/>
              </a:ext>
            </a:extLst>
          </p:cNvPr>
          <p:cNvSpPr>
            <a:spLocks noGrp="1"/>
          </p:cNvSpPr>
          <p:nvPr>
            <p:ph type="sldNum" sz="quarter" idx="12"/>
          </p:nvPr>
        </p:nvSpPr>
        <p:spPr/>
        <p:txBody>
          <a:bodyPr/>
          <a:lstStyle/>
          <a:p>
            <a:fld id="{C795FC6A-1DDE-4D80-97D7-06017F2A69D1}" type="slidenum">
              <a:rPr lang="en-US" smtClean="0"/>
              <a:t>‹#›</a:t>
            </a:fld>
            <a:endParaRPr lang="en-US"/>
          </a:p>
        </p:txBody>
      </p:sp>
    </p:spTree>
    <p:extLst>
      <p:ext uri="{BB962C8B-B14F-4D97-AF65-F5344CB8AC3E}">
        <p14:creationId xmlns:p14="http://schemas.microsoft.com/office/powerpoint/2010/main" val="22447934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616521A-3C9B-7FE5-3D55-B6B2A6FA3890}"/>
              </a:ext>
            </a:extLst>
          </p:cNvPr>
          <p:cNvSpPr>
            <a:spLocks noGrp="1"/>
          </p:cNvSpPr>
          <p:nvPr>
            <p:ph type="dt" sz="half" idx="10"/>
          </p:nvPr>
        </p:nvSpPr>
        <p:spPr/>
        <p:txBody>
          <a:bodyPr/>
          <a:lstStyle/>
          <a:p>
            <a:fld id="{D634D4A2-E8EC-4550-B5E5-FF0F169538E1}" type="datetime1">
              <a:rPr lang="en-US" smtClean="0"/>
              <a:t>2/8/2026</a:t>
            </a:fld>
            <a:endParaRPr lang="en-US"/>
          </a:p>
        </p:txBody>
      </p:sp>
      <p:sp>
        <p:nvSpPr>
          <p:cNvPr id="3" name="Footer Placeholder 2">
            <a:extLst>
              <a:ext uri="{FF2B5EF4-FFF2-40B4-BE49-F238E27FC236}">
                <a16:creationId xmlns:a16="http://schemas.microsoft.com/office/drawing/2014/main" id="{8AF75507-2397-B35C-BE04-FB4DBCEA977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76E967B-8F82-46D4-BBB7-6F8FFA0E8136}"/>
              </a:ext>
            </a:extLst>
          </p:cNvPr>
          <p:cNvSpPr>
            <a:spLocks noGrp="1"/>
          </p:cNvSpPr>
          <p:nvPr>
            <p:ph type="sldNum" sz="quarter" idx="12"/>
          </p:nvPr>
        </p:nvSpPr>
        <p:spPr/>
        <p:txBody>
          <a:bodyPr/>
          <a:lstStyle/>
          <a:p>
            <a:fld id="{C795FC6A-1DDE-4D80-97D7-06017F2A69D1}" type="slidenum">
              <a:rPr lang="en-US" smtClean="0"/>
              <a:t>‹#›</a:t>
            </a:fld>
            <a:endParaRPr lang="en-US"/>
          </a:p>
        </p:txBody>
      </p:sp>
    </p:spTree>
    <p:extLst>
      <p:ext uri="{BB962C8B-B14F-4D97-AF65-F5344CB8AC3E}">
        <p14:creationId xmlns:p14="http://schemas.microsoft.com/office/powerpoint/2010/main" val="41413613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535BB-0FA2-4536-646F-128DAE727A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74F872A-17F0-B491-ABF0-18E4BC31260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B4503ED-84EE-A451-FA9E-EB6B6386A9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85C989C-1564-35C1-BD38-93E682625AF5}"/>
              </a:ext>
            </a:extLst>
          </p:cNvPr>
          <p:cNvSpPr>
            <a:spLocks noGrp="1"/>
          </p:cNvSpPr>
          <p:nvPr>
            <p:ph type="dt" sz="half" idx="10"/>
          </p:nvPr>
        </p:nvSpPr>
        <p:spPr/>
        <p:txBody>
          <a:bodyPr/>
          <a:lstStyle/>
          <a:p>
            <a:fld id="{DBB2D6AE-9564-4FAF-82ED-74EE7D7E97E7}" type="datetime1">
              <a:rPr lang="en-US" smtClean="0"/>
              <a:t>2/8/2026</a:t>
            </a:fld>
            <a:endParaRPr lang="en-US"/>
          </a:p>
        </p:txBody>
      </p:sp>
      <p:sp>
        <p:nvSpPr>
          <p:cNvPr id="6" name="Footer Placeholder 5">
            <a:extLst>
              <a:ext uri="{FF2B5EF4-FFF2-40B4-BE49-F238E27FC236}">
                <a16:creationId xmlns:a16="http://schemas.microsoft.com/office/drawing/2014/main" id="{035642A5-C252-9DDF-046C-8DFA624F053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6DD96AF-1D8E-98DF-BD87-17AB7F3AA59E}"/>
              </a:ext>
            </a:extLst>
          </p:cNvPr>
          <p:cNvSpPr>
            <a:spLocks noGrp="1"/>
          </p:cNvSpPr>
          <p:nvPr>
            <p:ph type="sldNum" sz="quarter" idx="12"/>
          </p:nvPr>
        </p:nvSpPr>
        <p:spPr/>
        <p:txBody>
          <a:bodyPr/>
          <a:lstStyle/>
          <a:p>
            <a:fld id="{C795FC6A-1DDE-4D80-97D7-06017F2A69D1}" type="slidenum">
              <a:rPr lang="en-US" smtClean="0"/>
              <a:t>‹#›</a:t>
            </a:fld>
            <a:endParaRPr lang="en-US"/>
          </a:p>
        </p:txBody>
      </p:sp>
    </p:spTree>
    <p:extLst>
      <p:ext uri="{BB962C8B-B14F-4D97-AF65-F5344CB8AC3E}">
        <p14:creationId xmlns:p14="http://schemas.microsoft.com/office/powerpoint/2010/main" val="21287116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F3E15A-3081-840D-B1BD-9149BF6E090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38FC830-1F44-5788-5D0B-5C5398DAD7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206310-5D08-A2F4-FB1E-7E9EB88DBA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E0B02E0-D221-9CF5-46A9-8B880FBFD3F6}"/>
              </a:ext>
            </a:extLst>
          </p:cNvPr>
          <p:cNvSpPr>
            <a:spLocks noGrp="1"/>
          </p:cNvSpPr>
          <p:nvPr>
            <p:ph type="dt" sz="half" idx="10"/>
          </p:nvPr>
        </p:nvSpPr>
        <p:spPr/>
        <p:txBody>
          <a:bodyPr/>
          <a:lstStyle/>
          <a:p>
            <a:fld id="{AE78A8D3-FCCD-436D-B276-F1C561D7013D}" type="datetime1">
              <a:rPr lang="en-US" smtClean="0"/>
              <a:t>2/8/2026</a:t>
            </a:fld>
            <a:endParaRPr lang="en-US"/>
          </a:p>
        </p:txBody>
      </p:sp>
      <p:sp>
        <p:nvSpPr>
          <p:cNvPr id="6" name="Footer Placeholder 5">
            <a:extLst>
              <a:ext uri="{FF2B5EF4-FFF2-40B4-BE49-F238E27FC236}">
                <a16:creationId xmlns:a16="http://schemas.microsoft.com/office/drawing/2014/main" id="{6B3EA37C-F068-519C-5F7E-902E4C6616F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50009F5-4901-89EF-5FC9-3CDD539C3D06}"/>
              </a:ext>
            </a:extLst>
          </p:cNvPr>
          <p:cNvSpPr>
            <a:spLocks noGrp="1"/>
          </p:cNvSpPr>
          <p:nvPr>
            <p:ph type="sldNum" sz="quarter" idx="12"/>
          </p:nvPr>
        </p:nvSpPr>
        <p:spPr/>
        <p:txBody>
          <a:bodyPr/>
          <a:lstStyle/>
          <a:p>
            <a:fld id="{C795FC6A-1DDE-4D80-97D7-06017F2A69D1}" type="slidenum">
              <a:rPr lang="en-US" smtClean="0"/>
              <a:t>‹#›</a:t>
            </a:fld>
            <a:endParaRPr lang="en-US"/>
          </a:p>
        </p:txBody>
      </p:sp>
    </p:spTree>
    <p:extLst>
      <p:ext uri="{BB962C8B-B14F-4D97-AF65-F5344CB8AC3E}">
        <p14:creationId xmlns:p14="http://schemas.microsoft.com/office/powerpoint/2010/main" val="11622597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6099C-8325-2A02-5652-AF4C5BF64FB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01A8000-C597-033B-9CD3-A811753E4AE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1C838F-7E77-3643-E1A1-A5FFE5330DFC}"/>
              </a:ext>
            </a:extLst>
          </p:cNvPr>
          <p:cNvSpPr>
            <a:spLocks noGrp="1"/>
          </p:cNvSpPr>
          <p:nvPr>
            <p:ph type="dt" sz="half" idx="10"/>
          </p:nvPr>
        </p:nvSpPr>
        <p:spPr/>
        <p:txBody>
          <a:bodyPr/>
          <a:lstStyle/>
          <a:p>
            <a:fld id="{D109681D-A57A-4ECA-92DE-0ACFD34E2499}" type="datetime1">
              <a:rPr lang="en-US" smtClean="0"/>
              <a:t>2/8/2026</a:t>
            </a:fld>
            <a:endParaRPr lang="en-US"/>
          </a:p>
        </p:txBody>
      </p:sp>
      <p:sp>
        <p:nvSpPr>
          <p:cNvPr id="5" name="Footer Placeholder 4">
            <a:extLst>
              <a:ext uri="{FF2B5EF4-FFF2-40B4-BE49-F238E27FC236}">
                <a16:creationId xmlns:a16="http://schemas.microsoft.com/office/drawing/2014/main" id="{62F57F6C-F875-FCBA-36DA-A59D90209B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3ED211-6699-EB9C-7F55-1BC0B02BA2A0}"/>
              </a:ext>
            </a:extLst>
          </p:cNvPr>
          <p:cNvSpPr>
            <a:spLocks noGrp="1"/>
          </p:cNvSpPr>
          <p:nvPr>
            <p:ph type="sldNum" sz="quarter" idx="12"/>
          </p:nvPr>
        </p:nvSpPr>
        <p:spPr/>
        <p:txBody>
          <a:bodyPr/>
          <a:lstStyle/>
          <a:p>
            <a:fld id="{C795FC6A-1DDE-4D80-97D7-06017F2A69D1}" type="slidenum">
              <a:rPr lang="en-US" smtClean="0"/>
              <a:t>‹#›</a:t>
            </a:fld>
            <a:endParaRPr lang="en-US"/>
          </a:p>
        </p:txBody>
      </p:sp>
    </p:spTree>
    <p:extLst>
      <p:ext uri="{BB962C8B-B14F-4D97-AF65-F5344CB8AC3E}">
        <p14:creationId xmlns:p14="http://schemas.microsoft.com/office/powerpoint/2010/main" val="10123650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7AC20EA-9E74-3288-E4F0-C8390DF6BFD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B833F7E-509C-C1FE-DC65-6B5057ACC0E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9D80AE3-912B-2023-FE55-2F613A602029}"/>
              </a:ext>
            </a:extLst>
          </p:cNvPr>
          <p:cNvSpPr>
            <a:spLocks noGrp="1"/>
          </p:cNvSpPr>
          <p:nvPr>
            <p:ph type="dt" sz="half" idx="10"/>
          </p:nvPr>
        </p:nvSpPr>
        <p:spPr/>
        <p:txBody>
          <a:bodyPr/>
          <a:lstStyle/>
          <a:p>
            <a:fld id="{771371EF-8F46-4E5B-95BC-57B3365748F9}" type="datetime1">
              <a:rPr lang="en-US" smtClean="0"/>
              <a:t>2/8/2026</a:t>
            </a:fld>
            <a:endParaRPr lang="en-US"/>
          </a:p>
        </p:txBody>
      </p:sp>
      <p:sp>
        <p:nvSpPr>
          <p:cNvPr id="5" name="Footer Placeholder 4">
            <a:extLst>
              <a:ext uri="{FF2B5EF4-FFF2-40B4-BE49-F238E27FC236}">
                <a16:creationId xmlns:a16="http://schemas.microsoft.com/office/drawing/2014/main" id="{AA6F489E-AB6C-0737-A5F5-A07921B3B1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FAD796-8CC0-AA37-A902-765601588BBA}"/>
              </a:ext>
            </a:extLst>
          </p:cNvPr>
          <p:cNvSpPr>
            <a:spLocks noGrp="1"/>
          </p:cNvSpPr>
          <p:nvPr>
            <p:ph type="sldNum" sz="quarter" idx="12"/>
          </p:nvPr>
        </p:nvSpPr>
        <p:spPr/>
        <p:txBody>
          <a:bodyPr/>
          <a:lstStyle/>
          <a:p>
            <a:fld id="{C795FC6A-1DDE-4D80-97D7-06017F2A69D1}" type="slidenum">
              <a:rPr lang="en-US" smtClean="0"/>
              <a:t>‹#›</a:t>
            </a:fld>
            <a:endParaRPr lang="en-US"/>
          </a:p>
        </p:txBody>
      </p:sp>
    </p:spTree>
    <p:extLst>
      <p:ext uri="{BB962C8B-B14F-4D97-AF65-F5344CB8AC3E}">
        <p14:creationId xmlns:p14="http://schemas.microsoft.com/office/powerpoint/2010/main" val="27576998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4BF6397-4F18-9ED5-A1F5-14C42B046B6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B24B6F0-0992-A671-3514-E39E16399A4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77D98B-0F15-CCC6-B157-8F4B8671111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9F26E39-1777-4355-BFC5-32627800A46A}" type="datetime1">
              <a:rPr lang="en-US" smtClean="0"/>
              <a:t>2/8/2026</a:t>
            </a:fld>
            <a:endParaRPr lang="en-US"/>
          </a:p>
        </p:txBody>
      </p:sp>
      <p:sp>
        <p:nvSpPr>
          <p:cNvPr id="5" name="Footer Placeholder 4">
            <a:extLst>
              <a:ext uri="{FF2B5EF4-FFF2-40B4-BE49-F238E27FC236}">
                <a16:creationId xmlns:a16="http://schemas.microsoft.com/office/drawing/2014/main" id="{A6AF52DE-F3BE-54CB-5228-09F79DAE42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CD5B851-F6FF-0245-6F77-D74F5DA8E24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795FC6A-1DDE-4D80-97D7-06017F2A69D1}" type="slidenum">
              <a:rPr lang="en-US" smtClean="0"/>
              <a:t>‹#›</a:t>
            </a:fld>
            <a:endParaRPr lang="en-US"/>
          </a:p>
        </p:txBody>
      </p:sp>
    </p:spTree>
    <p:extLst>
      <p:ext uri="{BB962C8B-B14F-4D97-AF65-F5344CB8AC3E}">
        <p14:creationId xmlns:p14="http://schemas.microsoft.com/office/powerpoint/2010/main" val="8067900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5F0F6-DD65-CDB3-C871-B8BDDBA67E0D}"/>
              </a:ext>
            </a:extLst>
          </p:cNvPr>
          <p:cNvSpPr>
            <a:spLocks noGrp="1"/>
          </p:cNvSpPr>
          <p:nvPr>
            <p:ph type="ctrTitle"/>
          </p:nvPr>
        </p:nvSpPr>
        <p:spPr/>
        <p:txBody>
          <a:bodyPr/>
          <a:lstStyle/>
          <a:p>
            <a:r>
              <a:rPr lang="en-US" dirty="0"/>
              <a:t>Unsupervised Machine Learning</a:t>
            </a:r>
          </a:p>
        </p:txBody>
      </p:sp>
      <p:sp>
        <p:nvSpPr>
          <p:cNvPr id="4" name="Slide Number Placeholder 3">
            <a:extLst>
              <a:ext uri="{FF2B5EF4-FFF2-40B4-BE49-F238E27FC236}">
                <a16:creationId xmlns:a16="http://schemas.microsoft.com/office/drawing/2014/main" id="{817B9C51-6077-E1D1-176B-36A3ADF45882}"/>
              </a:ext>
            </a:extLst>
          </p:cNvPr>
          <p:cNvSpPr>
            <a:spLocks noGrp="1"/>
          </p:cNvSpPr>
          <p:nvPr>
            <p:ph type="sldNum" sz="quarter" idx="12"/>
          </p:nvPr>
        </p:nvSpPr>
        <p:spPr/>
        <p:txBody>
          <a:bodyPr/>
          <a:lstStyle/>
          <a:p>
            <a:fld id="{C795FC6A-1DDE-4D80-97D7-06017F2A69D1}" type="slidenum">
              <a:rPr lang="en-US" smtClean="0"/>
              <a:t>1</a:t>
            </a:fld>
            <a:endParaRPr lang="en-US"/>
          </a:p>
        </p:txBody>
      </p:sp>
    </p:spTree>
    <p:extLst>
      <p:ext uri="{BB962C8B-B14F-4D97-AF65-F5344CB8AC3E}">
        <p14:creationId xmlns:p14="http://schemas.microsoft.com/office/powerpoint/2010/main" val="20042848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BB653-AB50-C0FB-EEEF-802ABEEA36B3}"/>
              </a:ext>
            </a:extLst>
          </p:cNvPr>
          <p:cNvSpPr>
            <a:spLocks noGrp="1"/>
          </p:cNvSpPr>
          <p:nvPr>
            <p:ph type="title"/>
          </p:nvPr>
        </p:nvSpPr>
        <p:spPr/>
        <p:txBody>
          <a:bodyPr/>
          <a:lstStyle/>
          <a:p>
            <a:r>
              <a:rPr lang="en-US" dirty="0"/>
              <a:t>Unsupervised learning</a:t>
            </a:r>
          </a:p>
        </p:txBody>
      </p:sp>
      <p:sp>
        <p:nvSpPr>
          <p:cNvPr id="3" name="Content Placeholder 2">
            <a:extLst>
              <a:ext uri="{FF2B5EF4-FFF2-40B4-BE49-F238E27FC236}">
                <a16:creationId xmlns:a16="http://schemas.microsoft.com/office/drawing/2014/main" id="{8F60324E-EB80-A186-2634-36DE937ED49A}"/>
              </a:ext>
            </a:extLst>
          </p:cNvPr>
          <p:cNvSpPr>
            <a:spLocks noGrp="1"/>
          </p:cNvSpPr>
          <p:nvPr>
            <p:ph idx="1"/>
          </p:nvPr>
        </p:nvSpPr>
        <p:spPr/>
        <p:txBody>
          <a:bodyPr/>
          <a:lstStyle/>
          <a:p>
            <a:r>
              <a:rPr lang="en-US" dirty="0"/>
              <a:t>Unsupervised learning finds patterns in data.</a:t>
            </a:r>
          </a:p>
          <a:p>
            <a:r>
              <a:rPr lang="en-US" dirty="0"/>
              <a:t>E.g., clustering customers by their purchases.</a:t>
            </a:r>
          </a:p>
          <a:p>
            <a:r>
              <a:rPr lang="en-US" dirty="0"/>
              <a:t>Compressing the data using purchase patterns (dimension reduction).</a:t>
            </a:r>
          </a:p>
        </p:txBody>
      </p:sp>
      <p:sp>
        <p:nvSpPr>
          <p:cNvPr id="4" name="Slide Number Placeholder 3">
            <a:extLst>
              <a:ext uri="{FF2B5EF4-FFF2-40B4-BE49-F238E27FC236}">
                <a16:creationId xmlns:a16="http://schemas.microsoft.com/office/drawing/2014/main" id="{BDF284E0-DCC3-0BBB-D734-B2402DEF2B6B}"/>
              </a:ext>
            </a:extLst>
          </p:cNvPr>
          <p:cNvSpPr>
            <a:spLocks noGrp="1"/>
          </p:cNvSpPr>
          <p:nvPr>
            <p:ph type="sldNum" sz="quarter" idx="12"/>
          </p:nvPr>
        </p:nvSpPr>
        <p:spPr/>
        <p:txBody>
          <a:bodyPr/>
          <a:lstStyle/>
          <a:p>
            <a:fld id="{C795FC6A-1DDE-4D80-97D7-06017F2A69D1}" type="slidenum">
              <a:rPr lang="en-US" smtClean="0"/>
              <a:t>2</a:t>
            </a:fld>
            <a:endParaRPr lang="en-US"/>
          </a:p>
        </p:txBody>
      </p:sp>
    </p:spTree>
    <p:extLst>
      <p:ext uri="{BB962C8B-B14F-4D97-AF65-F5344CB8AC3E}">
        <p14:creationId xmlns:p14="http://schemas.microsoft.com/office/powerpoint/2010/main" val="24070391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88F37-28F0-7A57-970D-5B8F38C5B31A}"/>
              </a:ext>
            </a:extLst>
          </p:cNvPr>
          <p:cNvSpPr>
            <a:spLocks noGrp="1"/>
          </p:cNvSpPr>
          <p:nvPr>
            <p:ph type="title"/>
          </p:nvPr>
        </p:nvSpPr>
        <p:spPr/>
        <p:txBody>
          <a:bodyPr/>
          <a:lstStyle/>
          <a:p>
            <a:r>
              <a:rPr lang="en-US" dirty="0"/>
              <a:t>Supervised vs unsupervised learning</a:t>
            </a:r>
          </a:p>
        </p:txBody>
      </p:sp>
      <p:sp>
        <p:nvSpPr>
          <p:cNvPr id="3" name="Content Placeholder 2">
            <a:extLst>
              <a:ext uri="{FF2B5EF4-FFF2-40B4-BE49-F238E27FC236}">
                <a16:creationId xmlns:a16="http://schemas.microsoft.com/office/drawing/2014/main" id="{16612E11-EFE1-4098-705A-45896F3F6F1E}"/>
              </a:ext>
            </a:extLst>
          </p:cNvPr>
          <p:cNvSpPr>
            <a:spLocks noGrp="1"/>
          </p:cNvSpPr>
          <p:nvPr>
            <p:ph idx="1"/>
          </p:nvPr>
        </p:nvSpPr>
        <p:spPr/>
        <p:txBody>
          <a:bodyPr/>
          <a:lstStyle/>
          <a:p>
            <a:r>
              <a:rPr lang="en-US" dirty="0"/>
              <a:t>Supervised learning finds patterns for a prediction task.</a:t>
            </a:r>
          </a:p>
          <a:p>
            <a:pPr lvl="1"/>
            <a:r>
              <a:rPr lang="en-US" dirty="0"/>
              <a:t>E.g., classify tumors as benign or cancerous (labels) </a:t>
            </a:r>
          </a:p>
          <a:p>
            <a:r>
              <a:rPr lang="en-US" dirty="0"/>
              <a:t>Unsupervised learning finds patterns in data.</a:t>
            </a:r>
          </a:p>
          <a:p>
            <a:r>
              <a:rPr lang="en-US" dirty="0"/>
              <a:t>... but without a specific prediction task in mind.</a:t>
            </a:r>
          </a:p>
        </p:txBody>
      </p:sp>
      <p:sp>
        <p:nvSpPr>
          <p:cNvPr id="4" name="Slide Number Placeholder 3">
            <a:extLst>
              <a:ext uri="{FF2B5EF4-FFF2-40B4-BE49-F238E27FC236}">
                <a16:creationId xmlns:a16="http://schemas.microsoft.com/office/drawing/2014/main" id="{8F8104CE-11AB-8757-018E-4C19296C783D}"/>
              </a:ext>
            </a:extLst>
          </p:cNvPr>
          <p:cNvSpPr>
            <a:spLocks noGrp="1"/>
          </p:cNvSpPr>
          <p:nvPr>
            <p:ph type="sldNum" sz="quarter" idx="12"/>
          </p:nvPr>
        </p:nvSpPr>
        <p:spPr/>
        <p:txBody>
          <a:bodyPr/>
          <a:lstStyle/>
          <a:p>
            <a:fld id="{C795FC6A-1DDE-4D80-97D7-06017F2A69D1}" type="slidenum">
              <a:rPr lang="en-US" smtClean="0"/>
              <a:t>3</a:t>
            </a:fld>
            <a:endParaRPr lang="en-US"/>
          </a:p>
        </p:txBody>
      </p:sp>
    </p:spTree>
    <p:extLst>
      <p:ext uri="{BB962C8B-B14F-4D97-AF65-F5344CB8AC3E}">
        <p14:creationId xmlns:p14="http://schemas.microsoft.com/office/powerpoint/2010/main" val="13630479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C3C3025-3BCD-BA38-7F9C-4931128BCEEA}"/>
              </a:ext>
            </a:extLst>
          </p:cNvPr>
          <p:cNvSpPr>
            <a:spLocks noGrp="1"/>
          </p:cNvSpPr>
          <p:nvPr>
            <p:ph type="sldNum" sz="quarter" idx="12"/>
          </p:nvPr>
        </p:nvSpPr>
        <p:spPr/>
        <p:txBody>
          <a:bodyPr/>
          <a:lstStyle/>
          <a:p>
            <a:fld id="{C795FC6A-1DDE-4D80-97D7-06017F2A69D1}" type="slidenum">
              <a:rPr lang="en-US" smtClean="0"/>
              <a:t>4</a:t>
            </a:fld>
            <a:endParaRPr lang="en-US"/>
          </a:p>
        </p:txBody>
      </p:sp>
      <p:pic>
        <p:nvPicPr>
          <p:cNvPr id="4" name="Picture 3">
            <a:extLst>
              <a:ext uri="{FF2B5EF4-FFF2-40B4-BE49-F238E27FC236}">
                <a16:creationId xmlns:a16="http://schemas.microsoft.com/office/drawing/2014/main" id="{DDF0767D-68DF-102B-494E-89C693C099F5}"/>
              </a:ext>
            </a:extLst>
          </p:cNvPr>
          <p:cNvPicPr>
            <a:picLocks noChangeAspect="1"/>
          </p:cNvPicPr>
          <p:nvPr/>
        </p:nvPicPr>
        <p:blipFill>
          <a:blip r:embed="rId2"/>
          <a:stretch>
            <a:fillRect/>
          </a:stretch>
        </p:blipFill>
        <p:spPr>
          <a:xfrm>
            <a:off x="380086" y="920305"/>
            <a:ext cx="6887536" cy="4315427"/>
          </a:xfrm>
          <a:prstGeom prst="rect">
            <a:avLst/>
          </a:prstGeom>
        </p:spPr>
      </p:pic>
      <p:sp>
        <p:nvSpPr>
          <p:cNvPr id="6" name="TextBox 5">
            <a:extLst>
              <a:ext uri="{FF2B5EF4-FFF2-40B4-BE49-F238E27FC236}">
                <a16:creationId xmlns:a16="http://schemas.microsoft.com/office/drawing/2014/main" id="{B328F57E-7047-8961-E5FA-7B1D9800DC5F}"/>
              </a:ext>
            </a:extLst>
          </p:cNvPr>
          <p:cNvSpPr txBox="1"/>
          <p:nvPr/>
        </p:nvSpPr>
        <p:spPr>
          <a:xfrm>
            <a:off x="166253" y="6152839"/>
            <a:ext cx="10529455" cy="646331"/>
          </a:xfrm>
          <a:prstGeom prst="rect">
            <a:avLst/>
          </a:prstGeom>
          <a:noFill/>
        </p:spPr>
        <p:txBody>
          <a:bodyPr wrap="square">
            <a:spAutoFit/>
          </a:bodyPr>
          <a:lstStyle/>
          <a:p>
            <a:r>
              <a:rPr lang="en-US" dirty="0"/>
              <a:t>Data available from:</a:t>
            </a:r>
          </a:p>
          <a:p>
            <a:r>
              <a:rPr lang="en-US" dirty="0"/>
              <a:t>https://scikit-learn.org/stable/modules/generated/sklearn.datasets.load_iris.html</a:t>
            </a:r>
          </a:p>
        </p:txBody>
      </p:sp>
      <p:pic>
        <p:nvPicPr>
          <p:cNvPr id="7" name="Picture 6">
            <a:extLst>
              <a:ext uri="{FF2B5EF4-FFF2-40B4-BE49-F238E27FC236}">
                <a16:creationId xmlns:a16="http://schemas.microsoft.com/office/drawing/2014/main" id="{7388300B-44CB-752A-85A6-C93D5C991A30}"/>
              </a:ext>
            </a:extLst>
          </p:cNvPr>
          <p:cNvPicPr>
            <a:picLocks noChangeAspect="1"/>
          </p:cNvPicPr>
          <p:nvPr/>
        </p:nvPicPr>
        <p:blipFill>
          <a:blip r:embed="rId3"/>
          <a:stretch>
            <a:fillRect/>
          </a:stretch>
        </p:blipFill>
        <p:spPr>
          <a:xfrm>
            <a:off x="8330622" y="3564057"/>
            <a:ext cx="2476500" cy="1847850"/>
          </a:xfrm>
          <a:prstGeom prst="rect">
            <a:avLst/>
          </a:prstGeom>
        </p:spPr>
      </p:pic>
      <p:pic>
        <p:nvPicPr>
          <p:cNvPr id="1028" name="Picture 4" descr="&quot;Iris Dataset &quot;Analysis using Machine learning techniques">
            <a:extLst>
              <a:ext uri="{FF2B5EF4-FFF2-40B4-BE49-F238E27FC236}">
                <a16:creationId xmlns:a16="http://schemas.microsoft.com/office/drawing/2014/main" id="{0D3F846E-D213-627C-40E2-2EE1AE3A13C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6504"/>
          <a:stretch/>
        </p:blipFill>
        <p:spPr bwMode="auto">
          <a:xfrm>
            <a:off x="7038109" y="707760"/>
            <a:ext cx="5061527" cy="21153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42771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79D801-6FA0-9A88-4705-78CEF2627BEA}"/>
              </a:ext>
            </a:extLst>
          </p:cNvPr>
          <p:cNvSpPr>
            <a:spLocks noGrp="1"/>
          </p:cNvSpPr>
          <p:nvPr>
            <p:ph type="title"/>
          </p:nvPr>
        </p:nvSpPr>
        <p:spPr/>
        <p:txBody>
          <a:bodyPr/>
          <a:lstStyle/>
          <a:p>
            <a:r>
              <a:rPr lang="en-US" dirty="0"/>
              <a:t>Arrays, features and samples</a:t>
            </a:r>
          </a:p>
        </p:txBody>
      </p:sp>
      <p:sp>
        <p:nvSpPr>
          <p:cNvPr id="3" name="Content Placeholder 2">
            <a:extLst>
              <a:ext uri="{FF2B5EF4-FFF2-40B4-BE49-F238E27FC236}">
                <a16:creationId xmlns:a16="http://schemas.microsoft.com/office/drawing/2014/main" id="{A0D97899-1C9B-5418-602D-6C288BA2BA47}"/>
              </a:ext>
            </a:extLst>
          </p:cNvPr>
          <p:cNvSpPr>
            <a:spLocks noGrp="1"/>
          </p:cNvSpPr>
          <p:nvPr>
            <p:ph idx="1"/>
          </p:nvPr>
        </p:nvSpPr>
        <p:spPr/>
        <p:txBody>
          <a:bodyPr/>
          <a:lstStyle/>
          <a:p>
            <a:r>
              <a:rPr lang="en-US" dirty="0"/>
              <a:t>2D NumPy array</a:t>
            </a:r>
          </a:p>
          <a:p>
            <a:pPr lvl="1"/>
            <a:r>
              <a:rPr lang="en-US" dirty="0"/>
              <a:t>Throughout this topic, datasets like this will be written as two-dimensional NumPy arrays. </a:t>
            </a:r>
          </a:p>
          <a:p>
            <a:pPr marL="457200" lvl="1" indent="0">
              <a:buNone/>
            </a:pPr>
            <a:endParaRPr lang="en-US" dirty="0"/>
          </a:p>
          <a:p>
            <a:r>
              <a:rPr lang="en-US" dirty="0"/>
              <a:t>Columns are measurements (the </a:t>
            </a:r>
            <a:r>
              <a:rPr lang="en-US" i="1" dirty="0"/>
              <a:t>features</a:t>
            </a:r>
            <a:r>
              <a:rPr lang="en-US" dirty="0"/>
              <a:t>)</a:t>
            </a:r>
          </a:p>
          <a:p>
            <a:pPr lvl="1"/>
            <a:r>
              <a:rPr lang="en-US" dirty="0"/>
              <a:t>The columns of the array will correspond to the features. </a:t>
            </a:r>
          </a:p>
          <a:p>
            <a:endParaRPr lang="en-US" dirty="0"/>
          </a:p>
          <a:p>
            <a:r>
              <a:rPr lang="en-US" dirty="0"/>
              <a:t>Rows represent iris plants (the </a:t>
            </a:r>
            <a:r>
              <a:rPr lang="en-US" i="1" dirty="0"/>
              <a:t>samples</a:t>
            </a:r>
            <a:r>
              <a:rPr lang="en-US" dirty="0"/>
              <a:t>)</a:t>
            </a:r>
          </a:p>
          <a:p>
            <a:pPr lvl="1"/>
            <a:r>
              <a:rPr lang="en-US" dirty="0"/>
              <a:t>The measurements for individual plants are the samples of the dataset. These correspond to rows of the array.</a:t>
            </a:r>
          </a:p>
        </p:txBody>
      </p:sp>
      <p:sp>
        <p:nvSpPr>
          <p:cNvPr id="4" name="Slide Number Placeholder 3">
            <a:extLst>
              <a:ext uri="{FF2B5EF4-FFF2-40B4-BE49-F238E27FC236}">
                <a16:creationId xmlns:a16="http://schemas.microsoft.com/office/drawing/2014/main" id="{75803B9F-DF24-3736-EF2D-D72C64C2241B}"/>
              </a:ext>
            </a:extLst>
          </p:cNvPr>
          <p:cNvSpPr>
            <a:spLocks noGrp="1"/>
          </p:cNvSpPr>
          <p:nvPr>
            <p:ph type="sldNum" sz="quarter" idx="12"/>
          </p:nvPr>
        </p:nvSpPr>
        <p:spPr/>
        <p:txBody>
          <a:bodyPr/>
          <a:lstStyle/>
          <a:p>
            <a:fld id="{C795FC6A-1DDE-4D80-97D7-06017F2A69D1}" type="slidenum">
              <a:rPr lang="en-US" smtClean="0"/>
              <a:t>5</a:t>
            </a:fld>
            <a:endParaRPr lang="en-US"/>
          </a:p>
        </p:txBody>
      </p:sp>
    </p:spTree>
    <p:extLst>
      <p:ext uri="{BB962C8B-B14F-4D97-AF65-F5344CB8AC3E}">
        <p14:creationId xmlns:p14="http://schemas.microsoft.com/office/powerpoint/2010/main" val="25927095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3D4C9-4BCA-7B18-287F-5559CA008677}"/>
              </a:ext>
            </a:extLst>
          </p:cNvPr>
          <p:cNvSpPr>
            <a:spLocks noGrp="1"/>
          </p:cNvSpPr>
          <p:nvPr>
            <p:ph type="title"/>
          </p:nvPr>
        </p:nvSpPr>
        <p:spPr/>
        <p:txBody>
          <a:bodyPr/>
          <a:lstStyle/>
          <a:p>
            <a:r>
              <a:rPr lang="en-US" dirty="0"/>
              <a:t>Iris data is 4-dimensional</a:t>
            </a:r>
          </a:p>
        </p:txBody>
      </p:sp>
      <p:sp>
        <p:nvSpPr>
          <p:cNvPr id="3" name="Content Placeholder 2">
            <a:extLst>
              <a:ext uri="{FF2B5EF4-FFF2-40B4-BE49-F238E27FC236}">
                <a16:creationId xmlns:a16="http://schemas.microsoft.com/office/drawing/2014/main" id="{694B48AA-16ED-2F24-FA4C-8E90C5D90616}"/>
              </a:ext>
            </a:extLst>
          </p:cNvPr>
          <p:cNvSpPr>
            <a:spLocks noGrp="1"/>
          </p:cNvSpPr>
          <p:nvPr>
            <p:ph idx="1"/>
          </p:nvPr>
        </p:nvSpPr>
        <p:spPr/>
        <p:txBody>
          <a:bodyPr/>
          <a:lstStyle/>
          <a:p>
            <a:r>
              <a:rPr lang="en-US" b="0" i="0" dirty="0">
                <a:solidFill>
                  <a:srgbClr val="05192D"/>
                </a:solidFill>
                <a:effectLst/>
                <a:latin typeface="Studio-Feixen-Sans"/>
              </a:rPr>
              <a:t>The samples of the iris dataset have four measurements, and so correspond to points in a four-dimensional space. </a:t>
            </a:r>
          </a:p>
          <a:p>
            <a:r>
              <a:rPr lang="en-US" dirty="0">
                <a:solidFill>
                  <a:srgbClr val="05192D"/>
                </a:solidFill>
                <a:latin typeface="Studio-Feixen-Sans"/>
              </a:rPr>
              <a:t>Dimension = number of features.</a:t>
            </a:r>
          </a:p>
          <a:p>
            <a:r>
              <a:rPr lang="en-US" b="0" i="0" dirty="0">
                <a:solidFill>
                  <a:srgbClr val="05192D"/>
                </a:solidFill>
                <a:effectLst/>
                <a:latin typeface="Studio-Feixen-Sans"/>
              </a:rPr>
              <a:t>This is the dimension of the dataset. Dimension too high to visualize!!</a:t>
            </a:r>
          </a:p>
          <a:p>
            <a:r>
              <a:rPr lang="en-US" b="0" i="0" dirty="0">
                <a:solidFill>
                  <a:srgbClr val="05192D"/>
                </a:solidFill>
                <a:effectLst/>
                <a:latin typeface="Studio-Feixen-Sans"/>
              </a:rPr>
              <a:t>We can't visualize four dimensions directly, but by using unsupervised learning techniques, we can still gain insight.</a:t>
            </a:r>
            <a:endParaRPr lang="en-US" dirty="0"/>
          </a:p>
        </p:txBody>
      </p:sp>
      <p:sp>
        <p:nvSpPr>
          <p:cNvPr id="4" name="Slide Number Placeholder 3">
            <a:extLst>
              <a:ext uri="{FF2B5EF4-FFF2-40B4-BE49-F238E27FC236}">
                <a16:creationId xmlns:a16="http://schemas.microsoft.com/office/drawing/2014/main" id="{F28DDFDC-1909-FD19-27EF-7236885ED485}"/>
              </a:ext>
            </a:extLst>
          </p:cNvPr>
          <p:cNvSpPr>
            <a:spLocks noGrp="1"/>
          </p:cNvSpPr>
          <p:nvPr>
            <p:ph type="sldNum" sz="quarter" idx="12"/>
          </p:nvPr>
        </p:nvSpPr>
        <p:spPr/>
        <p:txBody>
          <a:bodyPr/>
          <a:lstStyle/>
          <a:p>
            <a:fld id="{C795FC6A-1DDE-4D80-97D7-06017F2A69D1}" type="slidenum">
              <a:rPr lang="en-US" smtClean="0"/>
              <a:t>6</a:t>
            </a:fld>
            <a:endParaRPr lang="en-US"/>
          </a:p>
        </p:txBody>
      </p:sp>
    </p:spTree>
    <p:extLst>
      <p:ext uri="{BB962C8B-B14F-4D97-AF65-F5344CB8AC3E}">
        <p14:creationId xmlns:p14="http://schemas.microsoft.com/office/powerpoint/2010/main" val="16215470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ECF8E-B517-6306-0CF9-D72F6A991227}"/>
              </a:ext>
            </a:extLst>
          </p:cNvPr>
          <p:cNvSpPr>
            <a:spLocks noGrp="1"/>
          </p:cNvSpPr>
          <p:nvPr>
            <p:ph type="title"/>
          </p:nvPr>
        </p:nvSpPr>
        <p:spPr/>
        <p:txBody>
          <a:bodyPr/>
          <a:lstStyle/>
          <a:p>
            <a:r>
              <a:rPr lang="en-US" dirty="0"/>
              <a:t>K-means clustering</a:t>
            </a:r>
          </a:p>
        </p:txBody>
      </p:sp>
      <p:sp>
        <p:nvSpPr>
          <p:cNvPr id="3" name="Content Placeholder 2">
            <a:extLst>
              <a:ext uri="{FF2B5EF4-FFF2-40B4-BE49-F238E27FC236}">
                <a16:creationId xmlns:a16="http://schemas.microsoft.com/office/drawing/2014/main" id="{C7DB050E-62B9-0DC9-E552-D47F308972FD}"/>
              </a:ext>
            </a:extLst>
          </p:cNvPr>
          <p:cNvSpPr>
            <a:spLocks noGrp="1"/>
          </p:cNvSpPr>
          <p:nvPr>
            <p:ph idx="1"/>
          </p:nvPr>
        </p:nvSpPr>
        <p:spPr/>
        <p:txBody>
          <a:bodyPr/>
          <a:lstStyle/>
          <a:p>
            <a:r>
              <a:rPr lang="en-US" b="0" i="0" dirty="0">
                <a:solidFill>
                  <a:srgbClr val="05192D"/>
                </a:solidFill>
                <a:effectLst/>
                <a:latin typeface="Studio-Feixen-Sans"/>
              </a:rPr>
              <a:t>In this chapter, we'll cluster these samples using k-means clustering. Finds clusters of samples.</a:t>
            </a:r>
          </a:p>
          <a:p>
            <a:r>
              <a:rPr lang="en-US" b="0" i="0" dirty="0">
                <a:solidFill>
                  <a:srgbClr val="05192D"/>
                </a:solidFill>
                <a:effectLst/>
                <a:latin typeface="Studio-Feixen-Sans"/>
              </a:rPr>
              <a:t>k-means finds a specified number of clusters in the samples. </a:t>
            </a:r>
          </a:p>
          <a:p>
            <a:pPr lvl="1"/>
            <a:r>
              <a:rPr lang="en-US" dirty="0">
                <a:solidFill>
                  <a:srgbClr val="05192D"/>
                </a:solidFill>
                <a:latin typeface="Studio-Feixen-Sans"/>
              </a:rPr>
              <a:t>Number of clusters must be specified.</a:t>
            </a:r>
            <a:endParaRPr lang="en-US" b="0" i="0" dirty="0">
              <a:solidFill>
                <a:srgbClr val="05192D"/>
              </a:solidFill>
              <a:effectLst/>
              <a:latin typeface="Studio-Feixen-Sans"/>
            </a:endParaRPr>
          </a:p>
          <a:p>
            <a:r>
              <a:rPr lang="en-US" b="0" i="0" dirty="0">
                <a:solidFill>
                  <a:srgbClr val="05192D"/>
                </a:solidFill>
                <a:effectLst/>
                <a:latin typeface="Studio-Feixen-Sans"/>
              </a:rPr>
              <a:t>It's implemented in the scikit-learn or "</a:t>
            </a:r>
            <a:r>
              <a:rPr lang="en-US" b="0" i="0" dirty="0" err="1">
                <a:solidFill>
                  <a:srgbClr val="05192D"/>
                </a:solidFill>
                <a:effectLst/>
                <a:latin typeface="Studio-Feixen-Sans"/>
              </a:rPr>
              <a:t>sklearn</a:t>
            </a:r>
            <a:r>
              <a:rPr lang="en-US" b="0" i="0" dirty="0">
                <a:solidFill>
                  <a:srgbClr val="05192D"/>
                </a:solidFill>
                <a:effectLst/>
                <a:latin typeface="Studio-Feixen-Sans"/>
              </a:rPr>
              <a:t>" library. </a:t>
            </a:r>
          </a:p>
          <a:p>
            <a:r>
              <a:rPr lang="en-US" b="0" i="0" dirty="0">
                <a:solidFill>
                  <a:srgbClr val="05192D"/>
                </a:solidFill>
                <a:effectLst/>
                <a:latin typeface="Studio-Feixen-Sans"/>
              </a:rPr>
              <a:t>Let's see k-means in action on some samples from the iris dataset.</a:t>
            </a:r>
            <a:endParaRPr lang="en-US" dirty="0"/>
          </a:p>
        </p:txBody>
      </p:sp>
      <p:sp>
        <p:nvSpPr>
          <p:cNvPr id="4" name="Slide Number Placeholder 3">
            <a:extLst>
              <a:ext uri="{FF2B5EF4-FFF2-40B4-BE49-F238E27FC236}">
                <a16:creationId xmlns:a16="http://schemas.microsoft.com/office/drawing/2014/main" id="{D389CC99-5A5D-12C5-BB22-77E4312FB77A}"/>
              </a:ext>
            </a:extLst>
          </p:cNvPr>
          <p:cNvSpPr>
            <a:spLocks noGrp="1"/>
          </p:cNvSpPr>
          <p:nvPr>
            <p:ph type="sldNum" sz="quarter" idx="12"/>
          </p:nvPr>
        </p:nvSpPr>
        <p:spPr/>
        <p:txBody>
          <a:bodyPr/>
          <a:lstStyle/>
          <a:p>
            <a:fld id="{C795FC6A-1DDE-4D80-97D7-06017F2A69D1}" type="slidenum">
              <a:rPr lang="en-US" smtClean="0"/>
              <a:t>7</a:t>
            </a:fld>
            <a:endParaRPr lang="en-US"/>
          </a:p>
        </p:txBody>
      </p:sp>
    </p:spTree>
    <p:extLst>
      <p:ext uri="{BB962C8B-B14F-4D97-AF65-F5344CB8AC3E}">
        <p14:creationId xmlns:p14="http://schemas.microsoft.com/office/powerpoint/2010/main" val="19823432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080FF3-60EF-A776-6272-C0D355BAA9C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54AF109-C1A1-3317-E98B-79EDEE85E5A2}"/>
              </a:ext>
            </a:extLst>
          </p:cNvPr>
          <p:cNvSpPr>
            <a:spLocks noGrp="1"/>
          </p:cNvSpPr>
          <p:nvPr>
            <p:ph type="sldNum" sz="quarter" idx="12"/>
          </p:nvPr>
        </p:nvSpPr>
        <p:spPr/>
        <p:txBody>
          <a:bodyPr/>
          <a:lstStyle/>
          <a:p>
            <a:fld id="{C795FC6A-1DDE-4D80-97D7-06017F2A69D1}" type="slidenum">
              <a:rPr lang="en-US" smtClean="0"/>
              <a:t>8</a:t>
            </a:fld>
            <a:endParaRPr lang="en-US"/>
          </a:p>
        </p:txBody>
      </p:sp>
      <p:sp>
        <p:nvSpPr>
          <p:cNvPr id="4" name="TextBox 3">
            <a:extLst>
              <a:ext uri="{FF2B5EF4-FFF2-40B4-BE49-F238E27FC236}">
                <a16:creationId xmlns:a16="http://schemas.microsoft.com/office/drawing/2014/main" id="{3F7FB943-6BD8-A013-102C-7A3D03A0FC59}"/>
              </a:ext>
            </a:extLst>
          </p:cNvPr>
          <p:cNvSpPr txBox="1"/>
          <p:nvPr/>
        </p:nvSpPr>
        <p:spPr>
          <a:xfrm>
            <a:off x="618836" y="651225"/>
            <a:ext cx="6096000" cy="923330"/>
          </a:xfrm>
          <a:prstGeom prst="rect">
            <a:avLst/>
          </a:prstGeom>
          <a:noFill/>
        </p:spPr>
        <p:txBody>
          <a:bodyPr wrap="square">
            <a:spAutoFit/>
          </a:bodyPr>
          <a:lstStyle/>
          <a:p>
            <a:r>
              <a:rPr lang="en-US" dirty="0">
                <a:latin typeface="Candara" panose="020E0502030303020204" pitchFamily="34" charset="0"/>
              </a:rPr>
              <a:t>from </a:t>
            </a:r>
            <a:r>
              <a:rPr lang="en-US" dirty="0" err="1">
                <a:latin typeface="Candara" panose="020E0502030303020204" pitchFamily="34" charset="0"/>
              </a:rPr>
              <a:t>sklearn.datasets</a:t>
            </a:r>
            <a:r>
              <a:rPr lang="en-US" dirty="0">
                <a:latin typeface="Candara" panose="020E0502030303020204" pitchFamily="34" charset="0"/>
              </a:rPr>
              <a:t> import </a:t>
            </a:r>
            <a:r>
              <a:rPr lang="en-US" dirty="0" err="1">
                <a:latin typeface="Candara" panose="020E0502030303020204" pitchFamily="34" charset="0"/>
              </a:rPr>
              <a:t>load_iris</a:t>
            </a:r>
            <a:endParaRPr lang="en-US" dirty="0">
              <a:latin typeface="Candara" panose="020E0502030303020204" pitchFamily="34" charset="0"/>
            </a:endParaRPr>
          </a:p>
          <a:p>
            <a:r>
              <a:rPr lang="en-US" dirty="0">
                <a:latin typeface="Candara" panose="020E0502030303020204" pitchFamily="34" charset="0"/>
              </a:rPr>
              <a:t>iris = </a:t>
            </a:r>
            <a:r>
              <a:rPr lang="en-US" dirty="0" err="1">
                <a:latin typeface="Candara" panose="020E0502030303020204" pitchFamily="34" charset="0"/>
              </a:rPr>
              <a:t>load_iris</a:t>
            </a:r>
            <a:r>
              <a:rPr lang="en-US" dirty="0">
                <a:latin typeface="Candara" panose="020E0502030303020204" pitchFamily="34" charset="0"/>
              </a:rPr>
              <a:t>()</a:t>
            </a:r>
          </a:p>
          <a:p>
            <a:r>
              <a:rPr lang="en-US" dirty="0">
                <a:latin typeface="Candara" panose="020E0502030303020204" pitchFamily="34" charset="0"/>
              </a:rPr>
              <a:t>print(</a:t>
            </a:r>
            <a:r>
              <a:rPr lang="en-US" dirty="0" err="1">
                <a:latin typeface="Candara" panose="020E0502030303020204" pitchFamily="34" charset="0"/>
              </a:rPr>
              <a:t>iris.data</a:t>
            </a:r>
            <a:r>
              <a:rPr lang="en-US" dirty="0">
                <a:latin typeface="Candara" panose="020E0502030303020204" pitchFamily="34" charset="0"/>
              </a:rPr>
              <a:t>)</a:t>
            </a:r>
          </a:p>
        </p:txBody>
      </p:sp>
      <p:pic>
        <p:nvPicPr>
          <p:cNvPr id="8" name="Picture 7">
            <a:extLst>
              <a:ext uri="{FF2B5EF4-FFF2-40B4-BE49-F238E27FC236}">
                <a16:creationId xmlns:a16="http://schemas.microsoft.com/office/drawing/2014/main" id="{7CE00F23-F6D8-EEEE-E6D2-0C984249AF0F}"/>
              </a:ext>
            </a:extLst>
          </p:cNvPr>
          <p:cNvPicPr>
            <a:picLocks noChangeAspect="1"/>
          </p:cNvPicPr>
          <p:nvPr/>
        </p:nvPicPr>
        <p:blipFill>
          <a:blip r:embed="rId2"/>
          <a:stretch>
            <a:fillRect/>
          </a:stretch>
        </p:blipFill>
        <p:spPr>
          <a:xfrm>
            <a:off x="706390" y="1862769"/>
            <a:ext cx="2743583" cy="4344006"/>
          </a:xfrm>
          <a:prstGeom prst="rect">
            <a:avLst/>
          </a:prstGeom>
        </p:spPr>
      </p:pic>
    </p:spTree>
    <p:extLst>
      <p:ext uri="{BB962C8B-B14F-4D97-AF65-F5344CB8AC3E}">
        <p14:creationId xmlns:p14="http://schemas.microsoft.com/office/powerpoint/2010/main" val="33689403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D0A6D26-8A15-345B-11DA-BAB8927D142C}"/>
              </a:ext>
            </a:extLst>
          </p:cNvPr>
          <p:cNvSpPr>
            <a:spLocks noGrp="1"/>
          </p:cNvSpPr>
          <p:nvPr>
            <p:ph type="sldNum" sz="quarter" idx="12"/>
          </p:nvPr>
        </p:nvSpPr>
        <p:spPr/>
        <p:txBody>
          <a:bodyPr/>
          <a:lstStyle/>
          <a:p>
            <a:fld id="{C795FC6A-1DDE-4D80-97D7-06017F2A69D1}" type="slidenum">
              <a:rPr lang="en-US" smtClean="0"/>
              <a:t>9</a:t>
            </a:fld>
            <a:endParaRPr lang="en-US"/>
          </a:p>
        </p:txBody>
      </p:sp>
      <p:pic>
        <p:nvPicPr>
          <p:cNvPr id="4" name="Picture 3">
            <a:extLst>
              <a:ext uri="{FF2B5EF4-FFF2-40B4-BE49-F238E27FC236}">
                <a16:creationId xmlns:a16="http://schemas.microsoft.com/office/drawing/2014/main" id="{EB03D701-32FE-92C0-EBDF-5AF4D99F06D5}"/>
              </a:ext>
            </a:extLst>
          </p:cNvPr>
          <p:cNvPicPr>
            <a:picLocks noChangeAspect="1"/>
          </p:cNvPicPr>
          <p:nvPr/>
        </p:nvPicPr>
        <p:blipFill>
          <a:blip r:embed="rId2"/>
          <a:srcRect b="20654"/>
          <a:stretch/>
        </p:blipFill>
        <p:spPr>
          <a:xfrm>
            <a:off x="220292" y="144659"/>
            <a:ext cx="7373379" cy="2690905"/>
          </a:xfrm>
          <a:prstGeom prst="rect">
            <a:avLst/>
          </a:prstGeom>
        </p:spPr>
      </p:pic>
      <p:sp>
        <p:nvSpPr>
          <p:cNvPr id="6" name="TextBox 5">
            <a:extLst>
              <a:ext uri="{FF2B5EF4-FFF2-40B4-BE49-F238E27FC236}">
                <a16:creationId xmlns:a16="http://schemas.microsoft.com/office/drawing/2014/main" id="{1E183FD4-FD8A-4875-21B4-65E4C0DA9913}"/>
              </a:ext>
            </a:extLst>
          </p:cNvPr>
          <p:cNvSpPr txBox="1"/>
          <p:nvPr/>
        </p:nvSpPr>
        <p:spPr>
          <a:xfrm>
            <a:off x="220292" y="2940030"/>
            <a:ext cx="6096000" cy="3416320"/>
          </a:xfrm>
          <a:prstGeom prst="rect">
            <a:avLst/>
          </a:prstGeom>
          <a:noFill/>
        </p:spPr>
        <p:txBody>
          <a:bodyPr wrap="square">
            <a:spAutoFit/>
          </a:bodyPr>
          <a:lstStyle/>
          <a:p>
            <a:r>
              <a:rPr lang="en-US" dirty="0">
                <a:latin typeface="Candara" panose="020E0502030303020204" pitchFamily="34" charset="0"/>
              </a:rPr>
              <a:t>from </a:t>
            </a:r>
            <a:r>
              <a:rPr lang="en-US" dirty="0" err="1">
                <a:latin typeface="Candara" panose="020E0502030303020204" pitchFamily="34" charset="0"/>
              </a:rPr>
              <a:t>sklearn.datasets</a:t>
            </a:r>
            <a:r>
              <a:rPr lang="en-US" dirty="0">
                <a:latin typeface="Candara" panose="020E0502030303020204" pitchFamily="34" charset="0"/>
              </a:rPr>
              <a:t> import </a:t>
            </a:r>
            <a:r>
              <a:rPr lang="en-US" dirty="0" err="1">
                <a:latin typeface="Candara" panose="020E0502030303020204" pitchFamily="34" charset="0"/>
              </a:rPr>
              <a:t>load_iris</a:t>
            </a:r>
            <a:r>
              <a:rPr lang="en-US" dirty="0">
                <a:latin typeface="Candara" panose="020E0502030303020204" pitchFamily="34" charset="0"/>
              </a:rPr>
              <a:t> </a:t>
            </a:r>
          </a:p>
          <a:p>
            <a:r>
              <a:rPr lang="en-US" dirty="0">
                <a:latin typeface="Candara" panose="020E0502030303020204" pitchFamily="34" charset="0"/>
              </a:rPr>
              <a:t>from </a:t>
            </a:r>
            <a:r>
              <a:rPr lang="en-US" dirty="0" err="1">
                <a:latin typeface="Candara" panose="020E0502030303020204" pitchFamily="34" charset="0"/>
              </a:rPr>
              <a:t>sklearn.cluster</a:t>
            </a:r>
            <a:r>
              <a:rPr lang="en-US" dirty="0">
                <a:latin typeface="Candara" panose="020E0502030303020204" pitchFamily="34" charset="0"/>
              </a:rPr>
              <a:t> import </a:t>
            </a:r>
            <a:r>
              <a:rPr lang="en-US" dirty="0" err="1">
                <a:latin typeface="Candara" panose="020E0502030303020204" pitchFamily="34" charset="0"/>
              </a:rPr>
              <a:t>Kmeans</a:t>
            </a:r>
            <a:endParaRPr lang="en-US" dirty="0">
              <a:latin typeface="Candara" panose="020E0502030303020204" pitchFamily="34" charset="0"/>
            </a:endParaRPr>
          </a:p>
          <a:p>
            <a:endParaRPr lang="en-US" dirty="0">
              <a:latin typeface="Candara" panose="020E0502030303020204" pitchFamily="34" charset="0"/>
            </a:endParaRPr>
          </a:p>
          <a:p>
            <a:r>
              <a:rPr lang="en-US" dirty="0">
                <a:latin typeface="Candara" panose="020E0502030303020204" pitchFamily="34" charset="0"/>
              </a:rPr>
              <a:t>iris = </a:t>
            </a:r>
            <a:r>
              <a:rPr lang="en-US" dirty="0" err="1">
                <a:latin typeface="Candara" panose="020E0502030303020204" pitchFamily="34" charset="0"/>
              </a:rPr>
              <a:t>load_iris</a:t>
            </a:r>
            <a:r>
              <a:rPr lang="en-US" dirty="0">
                <a:latin typeface="Candara" panose="020E0502030303020204" pitchFamily="34" charset="0"/>
              </a:rPr>
              <a:t>()</a:t>
            </a:r>
          </a:p>
          <a:p>
            <a:r>
              <a:rPr lang="en-US" dirty="0">
                <a:latin typeface="Candara" panose="020E0502030303020204" pitchFamily="34" charset="0"/>
              </a:rPr>
              <a:t>print(</a:t>
            </a:r>
            <a:r>
              <a:rPr lang="en-US" dirty="0" err="1">
                <a:latin typeface="Candara" panose="020E0502030303020204" pitchFamily="34" charset="0"/>
              </a:rPr>
              <a:t>iris.data</a:t>
            </a:r>
            <a:r>
              <a:rPr lang="en-US" dirty="0">
                <a:latin typeface="Candara" panose="020E0502030303020204" pitchFamily="34" charset="0"/>
              </a:rPr>
              <a:t>)</a:t>
            </a:r>
          </a:p>
          <a:p>
            <a:endParaRPr lang="en-US" dirty="0">
              <a:latin typeface="Candara" panose="020E0502030303020204" pitchFamily="34" charset="0"/>
            </a:endParaRPr>
          </a:p>
          <a:p>
            <a:r>
              <a:rPr lang="en-US" dirty="0">
                <a:latin typeface="Candara" panose="020E0502030303020204" pitchFamily="34" charset="0"/>
              </a:rPr>
              <a:t>model = </a:t>
            </a:r>
            <a:r>
              <a:rPr lang="en-US" dirty="0" err="1">
                <a:latin typeface="Candara" panose="020E0502030303020204" pitchFamily="34" charset="0"/>
              </a:rPr>
              <a:t>KMeans</a:t>
            </a:r>
            <a:r>
              <a:rPr lang="en-US" dirty="0">
                <a:latin typeface="Candara" panose="020E0502030303020204" pitchFamily="34" charset="0"/>
              </a:rPr>
              <a:t>(</a:t>
            </a:r>
            <a:r>
              <a:rPr lang="en-US" dirty="0" err="1">
                <a:latin typeface="Candara" panose="020E0502030303020204" pitchFamily="34" charset="0"/>
              </a:rPr>
              <a:t>n_clusters</a:t>
            </a:r>
            <a:r>
              <a:rPr lang="en-US" dirty="0">
                <a:latin typeface="Candara" panose="020E0502030303020204" pitchFamily="34" charset="0"/>
              </a:rPr>
              <a:t> = 3)</a:t>
            </a:r>
          </a:p>
          <a:p>
            <a:r>
              <a:rPr lang="en-US" dirty="0" err="1">
                <a:latin typeface="Candara" panose="020E0502030303020204" pitchFamily="34" charset="0"/>
              </a:rPr>
              <a:t>model.fit</a:t>
            </a:r>
            <a:r>
              <a:rPr lang="en-US" dirty="0">
                <a:latin typeface="Candara" panose="020E0502030303020204" pitchFamily="34" charset="0"/>
              </a:rPr>
              <a:t>(</a:t>
            </a:r>
            <a:r>
              <a:rPr lang="en-US" dirty="0" err="1">
                <a:latin typeface="Candara" panose="020E0502030303020204" pitchFamily="34" charset="0"/>
              </a:rPr>
              <a:t>iris.data</a:t>
            </a:r>
            <a:r>
              <a:rPr lang="en-US" dirty="0">
                <a:latin typeface="Candara" panose="020E0502030303020204" pitchFamily="34" charset="0"/>
              </a:rPr>
              <a:t>)</a:t>
            </a:r>
          </a:p>
          <a:p>
            <a:endParaRPr lang="en-US" dirty="0">
              <a:latin typeface="Candara" panose="020E0502030303020204" pitchFamily="34" charset="0"/>
            </a:endParaRPr>
          </a:p>
          <a:p>
            <a:r>
              <a:rPr lang="en-US" dirty="0">
                <a:latin typeface="Candara" panose="020E0502030303020204" pitchFamily="34" charset="0"/>
              </a:rPr>
              <a:t>labels = </a:t>
            </a:r>
            <a:r>
              <a:rPr lang="en-US" dirty="0" err="1">
                <a:latin typeface="Candara" panose="020E0502030303020204" pitchFamily="34" charset="0"/>
              </a:rPr>
              <a:t>model.predict</a:t>
            </a:r>
            <a:r>
              <a:rPr lang="en-US" dirty="0">
                <a:latin typeface="Candara" panose="020E0502030303020204" pitchFamily="34" charset="0"/>
              </a:rPr>
              <a:t>(</a:t>
            </a:r>
            <a:r>
              <a:rPr lang="en-US" dirty="0" err="1">
                <a:latin typeface="Candara" panose="020E0502030303020204" pitchFamily="34" charset="0"/>
              </a:rPr>
              <a:t>iris.data</a:t>
            </a:r>
            <a:r>
              <a:rPr lang="en-US" dirty="0">
                <a:latin typeface="Candara" panose="020E0502030303020204" pitchFamily="34" charset="0"/>
              </a:rPr>
              <a:t>)</a:t>
            </a:r>
          </a:p>
          <a:p>
            <a:r>
              <a:rPr lang="en-US" dirty="0">
                <a:latin typeface="Candara" panose="020E0502030303020204" pitchFamily="34" charset="0"/>
              </a:rPr>
              <a:t>print(labels)</a:t>
            </a:r>
          </a:p>
          <a:p>
            <a:endParaRPr lang="en-US" dirty="0">
              <a:latin typeface="Candara" panose="020E0502030303020204" pitchFamily="34" charset="0"/>
            </a:endParaRPr>
          </a:p>
        </p:txBody>
      </p:sp>
      <p:pic>
        <p:nvPicPr>
          <p:cNvPr id="9" name="Picture 8">
            <a:extLst>
              <a:ext uri="{FF2B5EF4-FFF2-40B4-BE49-F238E27FC236}">
                <a16:creationId xmlns:a16="http://schemas.microsoft.com/office/drawing/2014/main" id="{2F85DFA8-8A2B-B537-6013-8B37C92D183D}"/>
              </a:ext>
            </a:extLst>
          </p:cNvPr>
          <p:cNvPicPr>
            <a:picLocks noChangeAspect="1"/>
          </p:cNvPicPr>
          <p:nvPr/>
        </p:nvPicPr>
        <p:blipFill>
          <a:blip r:embed="rId3"/>
          <a:stretch>
            <a:fillRect/>
          </a:stretch>
        </p:blipFill>
        <p:spPr>
          <a:xfrm>
            <a:off x="4045527" y="5056156"/>
            <a:ext cx="7851756" cy="1247961"/>
          </a:xfrm>
          <a:prstGeom prst="rect">
            <a:avLst/>
          </a:prstGeom>
        </p:spPr>
      </p:pic>
    </p:spTree>
    <p:extLst>
      <p:ext uri="{BB962C8B-B14F-4D97-AF65-F5344CB8AC3E}">
        <p14:creationId xmlns:p14="http://schemas.microsoft.com/office/powerpoint/2010/main" val="35192317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922748-F8B7-EE24-C7E5-5972FAD9C9FF}"/>
              </a:ext>
            </a:extLst>
          </p:cNvPr>
          <p:cNvSpPr>
            <a:spLocks noGrp="1"/>
          </p:cNvSpPr>
          <p:nvPr>
            <p:ph type="title"/>
          </p:nvPr>
        </p:nvSpPr>
        <p:spPr/>
        <p:txBody>
          <a:bodyPr/>
          <a:lstStyle/>
          <a:p>
            <a:r>
              <a:rPr lang="en-US" dirty="0"/>
              <a:t>Cluster labels for new samples</a:t>
            </a:r>
          </a:p>
        </p:txBody>
      </p:sp>
      <p:sp>
        <p:nvSpPr>
          <p:cNvPr id="3" name="Content Placeholder 2">
            <a:extLst>
              <a:ext uri="{FF2B5EF4-FFF2-40B4-BE49-F238E27FC236}">
                <a16:creationId xmlns:a16="http://schemas.microsoft.com/office/drawing/2014/main" id="{5423E92E-6024-50FA-6496-BA5EEFD06950}"/>
              </a:ext>
            </a:extLst>
          </p:cNvPr>
          <p:cNvSpPr>
            <a:spLocks noGrp="1"/>
          </p:cNvSpPr>
          <p:nvPr>
            <p:ph idx="1"/>
          </p:nvPr>
        </p:nvSpPr>
        <p:spPr/>
        <p:txBody>
          <a:bodyPr/>
          <a:lstStyle/>
          <a:p>
            <a:r>
              <a:rPr lang="en-US" dirty="0"/>
              <a:t>New samples can be assigned to existing clusters.</a:t>
            </a:r>
          </a:p>
          <a:p>
            <a:r>
              <a:rPr lang="en-US" dirty="0"/>
              <a:t>k-means remembers the mean of each cluster (the "centroids").</a:t>
            </a:r>
          </a:p>
          <a:p>
            <a:r>
              <a:rPr lang="en-US" dirty="0"/>
              <a:t>Finds the nearest centroid to each new sample</a:t>
            </a:r>
          </a:p>
        </p:txBody>
      </p:sp>
      <p:sp>
        <p:nvSpPr>
          <p:cNvPr id="4" name="Slide Number Placeholder 3">
            <a:extLst>
              <a:ext uri="{FF2B5EF4-FFF2-40B4-BE49-F238E27FC236}">
                <a16:creationId xmlns:a16="http://schemas.microsoft.com/office/drawing/2014/main" id="{BBBFB190-712D-10CA-B27E-E49163C37DF3}"/>
              </a:ext>
            </a:extLst>
          </p:cNvPr>
          <p:cNvSpPr>
            <a:spLocks noGrp="1"/>
          </p:cNvSpPr>
          <p:nvPr>
            <p:ph type="sldNum" sz="quarter" idx="12"/>
          </p:nvPr>
        </p:nvSpPr>
        <p:spPr/>
        <p:txBody>
          <a:bodyPr/>
          <a:lstStyle/>
          <a:p>
            <a:fld id="{C795FC6A-1DDE-4D80-97D7-06017F2A69D1}" type="slidenum">
              <a:rPr lang="en-US" smtClean="0"/>
              <a:t>10</a:t>
            </a:fld>
            <a:endParaRPr lang="en-US"/>
          </a:p>
        </p:txBody>
      </p:sp>
      <p:sp>
        <p:nvSpPr>
          <p:cNvPr id="5" name="TextBox 4">
            <a:extLst>
              <a:ext uri="{FF2B5EF4-FFF2-40B4-BE49-F238E27FC236}">
                <a16:creationId xmlns:a16="http://schemas.microsoft.com/office/drawing/2014/main" id="{E3AA4D53-1299-9FC9-1A04-9D31FC0B30B9}"/>
              </a:ext>
            </a:extLst>
          </p:cNvPr>
          <p:cNvSpPr txBox="1"/>
          <p:nvPr/>
        </p:nvSpPr>
        <p:spPr>
          <a:xfrm>
            <a:off x="1126837" y="3670515"/>
            <a:ext cx="6096000" cy="2031325"/>
          </a:xfrm>
          <a:prstGeom prst="rect">
            <a:avLst/>
          </a:prstGeom>
          <a:noFill/>
        </p:spPr>
        <p:txBody>
          <a:bodyPr wrap="square">
            <a:spAutoFit/>
          </a:bodyPr>
          <a:lstStyle/>
          <a:p>
            <a:r>
              <a:rPr lang="en-US" dirty="0" err="1">
                <a:latin typeface="Candara" panose="020E0502030303020204" pitchFamily="34" charset="0"/>
              </a:rPr>
              <a:t>new_samples</a:t>
            </a:r>
            <a:r>
              <a:rPr lang="en-US" dirty="0">
                <a:latin typeface="Candara" panose="020E0502030303020204" pitchFamily="34" charset="0"/>
              </a:rPr>
              <a:t> = </a:t>
            </a:r>
            <a:r>
              <a:rPr lang="en-US" dirty="0" err="1">
                <a:latin typeface="Candara" panose="020E0502030303020204" pitchFamily="34" charset="0"/>
              </a:rPr>
              <a:t>np.array</a:t>
            </a:r>
            <a:r>
              <a:rPr lang="en-US" dirty="0">
                <a:latin typeface="Candara" panose="020E0502030303020204" pitchFamily="34" charset="0"/>
              </a:rPr>
              <a:t>([[5.7, 4.4, 1.5, 0.4],                       </a:t>
            </a:r>
          </a:p>
          <a:p>
            <a:r>
              <a:rPr lang="en-US" dirty="0">
                <a:latin typeface="Candara" panose="020E0502030303020204" pitchFamily="34" charset="0"/>
              </a:rPr>
              <a:t>[6.5, 3.0, 5.5, 1.8],                       </a:t>
            </a:r>
          </a:p>
          <a:p>
            <a:r>
              <a:rPr lang="en-US" dirty="0">
                <a:latin typeface="Candara" panose="020E0502030303020204" pitchFamily="34" charset="0"/>
              </a:rPr>
              <a:t>[5.8, 2.7, 5.1, 1.9]])</a:t>
            </a:r>
          </a:p>
          <a:p>
            <a:endParaRPr lang="en-US" dirty="0">
              <a:latin typeface="Candara" panose="020E0502030303020204" pitchFamily="34" charset="0"/>
            </a:endParaRPr>
          </a:p>
          <a:p>
            <a:r>
              <a:rPr lang="en-US" dirty="0" err="1">
                <a:latin typeface="Candara" panose="020E0502030303020204" pitchFamily="34" charset="0"/>
              </a:rPr>
              <a:t>new_labels</a:t>
            </a:r>
            <a:r>
              <a:rPr lang="en-US" dirty="0">
                <a:latin typeface="Candara" panose="020E0502030303020204" pitchFamily="34" charset="0"/>
              </a:rPr>
              <a:t> = </a:t>
            </a:r>
            <a:r>
              <a:rPr lang="en-US" dirty="0" err="1">
                <a:latin typeface="Candara" panose="020E0502030303020204" pitchFamily="34" charset="0"/>
              </a:rPr>
              <a:t>model.predict</a:t>
            </a:r>
            <a:r>
              <a:rPr lang="en-US" dirty="0">
                <a:latin typeface="Candara" panose="020E0502030303020204" pitchFamily="34" charset="0"/>
              </a:rPr>
              <a:t>(</a:t>
            </a:r>
            <a:r>
              <a:rPr lang="en-US" dirty="0" err="1">
                <a:latin typeface="Candara" panose="020E0502030303020204" pitchFamily="34" charset="0"/>
              </a:rPr>
              <a:t>new_samples</a:t>
            </a:r>
            <a:r>
              <a:rPr lang="en-US" dirty="0">
                <a:latin typeface="Candara" panose="020E0502030303020204" pitchFamily="34" charset="0"/>
              </a:rPr>
              <a:t>)</a:t>
            </a:r>
          </a:p>
          <a:p>
            <a:endParaRPr lang="en-US" dirty="0">
              <a:latin typeface="Candara" panose="020E0502030303020204" pitchFamily="34" charset="0"/>
            </a:endParaRPr>
          </a:p>
          <a:p>
            <a:r>
              <a:rPr lang="en-US" dirty="0">
                <a:latin typeface="Candara" panose="020E0502030303020204" pitchFamily="34" charset="0"/>
              </a:rPr>
              <a:t>print(</a:t>
            </a:r>
            <a:r>
              <a:rPr lang="en-US" dirty="0" err="1">
                <a:latin typeface="Candara" panose="020E0502030303020204" pitchFamily="34" charset="0"/>
              </a:rPr>
              <a:t>new_labels</a:t>
            </a:r>
            <a:r>
              <a:rPr lang="en-US" dirty="0">
                <a:latin typeface="Candara" panose="020E0502030303020204" pitchFamily="34" charset="0"/>
              </a:rPr>
              <a:t>)</a:t>
            </a:r>
          </a:p>
        </p:txBody>
      </p:sp>
      <p:sp>
        <p:nvSpPr>
          <p:cNvPr id="6" name="TextBox 5">
            <a:extLst>
              <a:ext uri="{FF2B5EF4-FFF2-40B4-BE49-F238E27FC236}">
                <a16:creationId xmlns:a16="http://schemas.microsoft.com/office/drawing/2014/main" id="{75B5AC5C-A561-8325-04EA-3FDAF631813B}"/>
              </a:ext>
            </a:extLst>
          </p:cNvPr>
          <p:cNvSpPr txBox="1"/>
          <p:nvPr/>
        </p:nvSpPr>
        <p:spPr>
          <a:xfrm>
            <a:off x="1126837" y="5942568"/>
            <a:ext cx="6096000" cy="369332"/>
          </a:xfrm>
          <a:prstGeom prst="rect">
            <a:avLst/>
          </a:prstGeom>
          <a:noFill/>
        </p:spPr>
        <p:txBody>
          <a:bodyPr wrap="square">
            <a:spAutoFit/>
          </a:bodyPr>
          <a:lstStyle/>
          <a:p>
            <a:r>
              <a:rPr lang="en-US" dirty="0"/>
              <a:t>[0 1 2]</a:t>
            </a:r>
          </a:p>
        </p:txBody>
      </p:sp>
    </p:spTree>
    <p:extLst>
      <p:ext uri="{BB962C8B-B14F-4D97-AF65-F5344CB8AC3E}">
        <p14:creationId xmlns:p14="http://schemas.microsoft.com/office/powerpoint/2010/main" val="21943127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42F72E6-7A3A-D996-FE6F-1D8C675F9157}"/>
              </a:ext>
            </a:extLst>
          </p:cNvPr>
          <p:cNvSpPr>
            <a:spLocks noGrp="1"/>
          </p:cNvSpPr>
          <p:nvPr>
            <p:ph type="sldNum" sz="quarter" idx="12"/>
          </p:nvPr>
        </p:nvSpPr>
        <p:spPr/>
        <p:txBody>
          <a:bodyPr/>
          <a:lstStyle/>
          <a:p>
            <a:fld id="{C795FC6A-1DDE-4D80-97D7-06017F2A69D1}" type="slidenum">
              <a:rPr lang="en-US" smtClean="0"/>
              <a:t>11</a:t>
            </a:fld>
            <a:endParaRPr lang="en-US"/>
          </a:p>
        </p:txBody>
      </p:sp>
      <p:pic>
        <p:nvPicPr>
          <p:cNvPr id="9" name="Picture 8">
            <a:extLst>
              <a:ext uri="{FF2B5EF4-FFF2-40B4-BE49-F238E27FC236}">
                <a16:creationId xmlns:a16="http://schemas.microsoft.com/office/drawing/2014/main" id="{2383AF6A-D0BE-9DF8-BDC7-365191492755}"/>
              </a:ext>
            </a:extLst>
          </p:cNvPr>
          <p:cNvPicPr>
            <a:picLocks noChangeAspect="1"/>
          </p:cNvPicPr>
          <p:nvPr/>
        </p:nvPicPr>
        <p:blipFill>
          <a:blip r:embed="rId2"/>
          <a:srcRect r="32214"/>
          <a:stretch/>
        </p:blipFill>
        <p:spPr>
          <a:xfrm>
            <a:off x="2470137" y="1380839"/>
            <a:ext cx="7251725" cy="4096322"/>
          </a:xfrm>
          <a:prstGeom prst="rect">
            <a:avLst/>
          </a:prstGeom>
        </p:spPr>
      </p:pic>
    </p:spTree>
    <p:extLst>
      <p:ext uri="{BB962C8B-B14F-4D97-AF65-F5344CB8AC3E}">
        <p14:creationId xmlns:p14="http://schemas.microsoft.com/office/powerpoint/2010/main" val="10430800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1748A60-367C-6E68-E8F1-08C67DB80D40}"/>
              </a:ext>
            </a:extLst>
          </p:cNvPr>
          <p:cNvSpPr>
            <a:spLocks noGrp="1"/>
          </p:cNvSpPr>
          <p:nvPr>
            <p:ph type="sldNum" sz="quarter" idx="12"/>
          </p:nvPr>
        </p:nvSpPr>
        <p:spPr/>
        <p:txBody>
          <a:bodyPr/>
          <a:lstStyle/>
          <a:p>
            <a:fld id="{C795FC6A-1DDE-4D80-97D7-06017F2A69D1}" type="slidenum">
              <a:rPr lang="en-US" smtClean="0"/>
              <a:t>12</a:t>
            </a:fld>
            <a:endParaRPr lang="en-US"/>
          </a:p>
        </p:txBody>
      </p:sp>
      <p:sp>
        <p:nvSpPr>
          <p:cNvPr id="4" name="TextBox 3">
            <a:extLst>
              <a:ext uri="{FF2B5EF4-FFF2-40B4-BE49-F238E27FC236}">
                <a16:creationId xmlns:a16="http://schemas.microsoft.com/office/drawing/2014/main" id="{51F1E17A-E730-2B38-5AAA-E65E1E166E9C}"/>
              </a:ext>
            </a:extLst>
          </p:cNvPr>
          <p:cNvSpPr txBox="1"/>
          <p:nvPr/>
        </p:nvSpPr>
        <p:spPr>
          <a:xfrm>
            <a:off x="544946" y="909890"/>
            <a:ext cx="6096000" cy="2677656"/>
          </a:xfrm>
          <a:prstGeom prst="rect">
            <a:avLst/>
          </a:prstGeom>
          <a:noFill/>
        </p:spPr>
        <p:txBody>
          <a:bodyPr wrap="square">
            <a:spAutoFit/>
          </a:bodyPr>
          <a:lstStyle/>
          <a:p>
            <a:r>
              <a:rPr lang="en-US" sz="2400" dirty="0">
                <a:latin typeface="Candara" panose="020E0502030303020204" pitchFamily="34" charset="0"/>
              </a:rPr>
              <a:t>import </a:t>
            </a:r>
            <a:r>
              <a:rPr lang="en-US" sz="2400" dirty="0" err="1">
                <a:latin typeface="Candara" panose="020E0502030303020204" pitchFamily="34" charset="0"/>
              </a:rPr>
              <a:t>matplotlib.pyplot</a:t>
            </a:r>
            <a:r>
              <a:rPr lang="en-US" sz="2400" dirty="0">
                <a:latin typeface="Candara" panose="020E0502030303020204" pitchFamily="34" charset="0"/>
              </a:rPr>
              <a:t> as </a:t>
            </a:r>
            <a:r>
              <a:rPr lang="en-US" sz="2400" dirty="0" err="1">
                <a:latin typeface="Candara" panose="020E0502030303020204" pitchFamily="34" charset="0"/>
              </a:rPr>
              <a:t>plt</a:t>
            </a:r>
            <a:endParaRPr lang="en-US" sz="2400" dirty="0">
              <a:latin typeface="Candara" panose="020E0502030303020204" pitchFamily="34" charset="0"/>
            </a:endParaRPr>
          </a:p>
          <a:p>
            <a:endParaRPr lang="en-US" sz="2400" dirty="0">
              <a:latin typeface="Candara" panose="020E0502030303020204" pitchFamily="34" charset="0"/>
            </a:endParaRPr>
          </a:p>
          <a:p>
            <a:r>
              <a:rPr lang="en-US" sz="2400" dirty="0" err="1">
                <a:latin typeface="Candara" panose="020E0502030303020204" pitchFamily="34" charset="0"/>
              </a:rPr>
              <a:t>xs</a:t>
            </a:r>
            <a:r>
              <a:rPr lang="en-US" sz="2400" dirty="0">
                <a:latin typeface="Candara" panose="020E0502030303020204" pitchFamily="34" charset="0"/>
              </a:rPr>
              <a:t> = </a:t>
            </a:r>
            <a:r>
              <a:rPr lang="en-US" sz="2400" dirty="0" err="1">
                <a:latin typeface="Candara" panose="020E0502030303020204" pitchFamily="34" charset="0"/>
              </a:rPr>
              <a:t>iris.data</a:t>
            </a:r>
            <a:r>
              <a:rPr lang="en-US" sz="2400" dirty="0">
                <a:latin typeface="Candara" panose="020E0502030303020204" pitchFamily="34" charset="0"/>
              </a:rPr>
              <a:t>[:,0] #sepal length</a:t>
            </a:r>
          </a:p>
          <a:p>
            <a:r>
              <a:rPr lang="en-US" sz="2400" dirty="0" err="1">
                <a:latin typeface="Candara" panose="020E0502030303020204" pitchFamily="34" charset="0"/>
              </a:rPr>
              <a:t>ys</a:t>
            </a:r>
            <a:r>
              <a:rPr lang="en-US" sz="2400" dirty="0">
                <a:latin typeface="Candara" panose="020E0502030303020204" pitchFamily="34" charset="0"/>
              </a:rPr>
              <a:t> = </a:t>
            </a:r>
            <a:r>
              <a:rPr lang="en-US" sz="2400" dirty="0" err="1">
                <a:latin typeface="Candara" panose="020E0502030303020204" pitchFamily="34" charset="0"/>
              </a:rPr>
              <a:t>iris.data</a:t>
            </a:r>
            <a:r>
              <a:rPr lang="en-US" sz="2400" dirty="0">
                <a:latin typeface="Candara" panose="020E0502030303020204" pitchFamily="34" charset="0"/>
              </a:rPr>
              <a:t>[:,2] #petal length</a:t>
            </a:r>
          </a:p>
          <a:p>
            <a:endParaRPr lang="en-US" sz="2400" dirty="0">
              <a:latin typeface="Candara" panose="020E0502030303020204" pitchFamily="34" charset="0"/>
            </a:endParaRPr>
          </a:p>
          <a:p>
            <a:r>
              <a:rPr lang="en-US" sz="2400" dirty="0" err="1">
                <a:latin typeface="Candara" panose="020E0502030303020204" pitchFamily="34" charset="0"/>
              </a:rPr>
              <a:t>plt.scatter</a:t>
            </a:r>
            <a:r>
              <a:rPr lang="en-US" sz="2400" dirty="0">
                <a:latin typeface="Candara" panose="020E0502030303020204" pitchFamily="34" charset="0"/>
              </a:rPr>
              <a:t>(</a:t>
            </a:r>
            <a:r>
              <a:rPr lang="en-US" sz="2400" dirty="0" err="1">
                <a:latin typeface="Candara" panose="020E0502030303020204" pitchFamily="34" charset="0"/>
              </a:rPr>
              <a:t>xs</a:t>
            </a:r>
            <a:r>
              <a:rPr lang="en-US" sz="2400" dirty="0">
                <a:latin typeface="Candara" panose="020E0502030303020204" pitchFamily="34" charset="0"/>
              </a:rPr>
              <a:t>, </a:t>
            </a:r>
            <a:r>
              <a:rPr lang="en-US" sz="2400" dirty="0" err="1">
                <a:latin typeface="Candara" panose="020E0502030303020204" pitchFamily="34" charset="0"/>
              </a:rPr>
              <a:t>ys</a:t>
            </a:r>
            <a:r>
              <a:rPr lang="en-US" sz="2400" dirty="0">
                <a:latin typeface="Candara" panose="020E0502030303020204" pitchFamily="34" charset="0"/>
              </a:rPr>
              <a:t>, c= labels)</a:t>
            </a:r>
          </a:p>
          <a:p>
            <a:r>
              <a:rPr lang="en-US" sz="2400" dirty="0" err="1">
                <a:latin typeface="Candara" panose="020E0502030303020204" pitchFamily="34" charset="0"/>
              </a:rPr>
              <a:t>plt.show</a:t>
            </a:r>
            <a:r>
              <a:rPr lang="en-US" sz="2400" dirty="0">
                <a:latin typeface="Candara" panose="020E0502030303020204" pitchFamily="34" charset="0"/>
              </a:rPr>
              <a:t>()</a:t>
            </a:r>
          </a:p>
        </p:txBody>
      </p:sp>
      <p:pic>
        <p:nvPicPr>
          <p:cNvPr id="6" name="Picture 5">
            <a:extLst>
              <a:ext uri="{FF2B5EF4-FFF2-40B4-BE49-F238E27FC236}">
                <a16:creationId xmlns:a16="http://schemas.microsoft.com/office/drawing/2014/main" id="{F581D81C-EF31-7E9E-5BF0-6B1FA85E64DD}"/>
              </a:ext>
            </a:extLst>
          </p:cNvPr>
          <p:cNvPicPr>
            <a:picLocks noChangeAspect="1"/>
          </p:cNvPicPr>
          <p:nvPr/>
        </p:nvPicPr>
        <p:blipFill>
          <a:blip r:embed="rId2"/>
          <a:stretch>
            <a:fillRect/>
          </a:stretch>
        </p:blipFill>
        <p:spPr>
          <a:xfrm>
            <a:off x="6578933" y="909890"/>
            <a:ext cx="5068121" cy="3846945"/>
          </a:xfrm>
          <a:prstGeom prst="rect">
            <a:avLst/>
          </a:prstGeom>
        </p:spPr>
      </p:pic>
    </p:spTree>
    <p:extLst>
      <p:ext uri="{BB962C8B-B14F-4D97-AF65-F5344CB8AC3E}">
        <p14:creationId xmlns:p14="http://schemas.microsoft.com/office/powerpoint/2010/main" val="24539300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C5EF9-CA52-8E08-5D2A-6D7C650010E0}"/>
              </a:ext>
            </a:extLst>
          </p:cNvPr>
          <p:cNvSpPr>
            <a:spLocks noGrp="1"/>
          </p:cNvSpPr>
          <p:nvPr>
            <p:ph type="title"/>
          </p:nvPr>
        </p:nvSpPr>
        <p:spPr/>
        <p:txBody>
          <a:bodyPr/>
          <a:lstStyle/>
          <a:p>
            <a:r>
              <a:rPr lang="en-US" dirty="0"/>
              <a:t>Practice – How many clusters</a:t>
            </a:r>
          </a:p>
        </p:txBody>
      </p:sp>
      <p:sp>
        <p:nvSpPr>
          <p:cNvPr id="3" name="Content Placeholder 2">
            <a:extLst>
              <a:ext uri="{FF2B5EF4-FFF2-40B4-BE49-F238E27FC236}">
                <a16:creationId xmlns:a16="http://schemas.microsoft.com/office/drawing/2014/main" id="{916340B1-B5CD-A609-C220-093F92C7BED6}"/>
              </a:ext>
            </a:extLst>
          </p:cNvPr>
          <p:cNvSpPr>
            <a:spLocks noGrp="1"/>
          </p:cNvSpPr>
          <p:nvPr>
            <p:ph idx="1"/>
          </p:nvPr>
        </p:nvSpPr>
        <p:spPr/>
        <p:txBody>
          <a:bodyPr>
            <a:normAutofit fontScale="92500" lnSpcReduction="10000"/>
          </a:bodyPr>
          <a:lstStyle/>
          <a:p>
            <a:r>
              <a:rPr lang="en-US" sz="2400" dirty="0"/>
              <a:t>You are given an array of points of size 300x2, where each row gives the (x, y) coordinates of a point on a map. Load data from ponits.csv to </a:t>
            </a:r>
            <a:r>
              <a:rPr lang="en-US" sz="2400" dirty="0" err="1"/>
              <a:t>pointsDF</a:t>
            </a:r>
            <a:r>
              <a:rPr lang="en-US" sz="2400" dirty="0"/>
              <a:t> DataFrame.</a:t>
            </a:r>
          </a:p>
          <a:p>
            <a:r>
              <a:rPr lang="en-US" sz="2400" dirty="0">
                <a:highlight>
                  <a:srgbClr val="FFFF00"/>
                </a:highlight>
              </a:rPr>
              <a:t>Convert </a:t>
            </a:r>
            <a:r>
              <a:rPr lang="en-US" sz="2400" dirty="0" err="1">
                <a:highlight>
                  <a:srgbClr val="FFFF00"/>
                </a:highlight>
              </a:rPr>
              <a:t>pointsDF</a:t>
            </a:r>
            <a:r>
              <a:rPr lang="en-US" sz="2400" dirty="0">
                <a:highlight>
                  <a:srgbClr val="FFFF00"/>
                </a:highlight>
              </a:rPr>
              <a:t> to NumPy array, namely </a:t>
            </a:r>
            <a:r>
              <a:rPr lang="en-US" sz="2400" i="1" dirty="0">
                <a:highlight>
                  <a:srgbClr val="FFFF00"/>
                </a:highlight>
              </a:rPr>
              <a:t>points</a:t>
            </a:r>
            <a:r>
              <a:rPr lang="en-US" sz="2400" dirty="0">
                <a:highlight>
                  <a:srgbClr val="FFFF00"/>
                </a:highlight>
              </a:rPr>
              <a:t>. How? Google…</a:t>
            </a:r>
          </a:p>
          <a:p>
            <a:r>
              <a:rPr lang="en-US" sz="2400" dirty="0"/>
              <a:t>Make a scatter plot of these points, and use the scatter plot to guess how many clusters there are.</a:t>
            </a:r>
          </a:p>
          <a:p>
            <a:r>
              <a:rPr lang="en-US" sz="2400" dirty="0"/>
              <a:t>Create an array called </a:t>
            </a:r>
            <a:r>
              <a:rPr lang="en-US" sz="2400" dirty="0" err="1"/>
              <a:t>xs</a:t>
            </a:r>
            <a:r>
              <a:rPr lang="en-US" sz="2400" dirty="0"/>
              <a:t> that contains the values of points[:,0] - that is, column 0 of points.</a:t>
            </a:r>
          </a:p>
          <a:p>
            <a:r>
              <a:rPr lang="en-US" sz="2400" dirty="0"/>
              <a:t>Create an array called </a:t>
            </a:r>
            <a:r>
              <a:rPr lang="en-US" sz="2400" dirty="0" err="1"/>
              <a:t>ys</a:t>
            </a:r>
            <a:r>
              <a:rPr lang="en-US" sz="2400" dirty="0"/>
              <a:t> that contains the values of points[:,1] - that is, column 1 of points.</a:t>
            </a:r>
          </a:p>
          <a:p>
            <a:r>
              <a:rPr lang="en-US" sz="2400" dirty="0"/>
              <a:t>Make a scatter plot by passing </a:t>
            </a:r>
            <a:r>
              <a:rPr lang="en-US" sz="2400" dirty="0" err="1"/>
              <a:t>xs</a:t>
            </a:r>
            <a:r>
              <a:rPr lang="en-US" sz="2400" dirty="0"/>
              <a:t> and </a:t>
            </a:r>
            <a:r>
              <a:rPr lang="en-US" sz="2400" dirty="0" err="1"/>
              <a:t>ys</a:t>
            </a:r>
            <a:r>
              <a:rPr lang="en-US" sz="2400" dirty="0"/>
              <a:t> to the </a:t>
            </a:r>
            <a:r>
              <a:rPr lang="en-US" sz="2400" dirty="0" err="1"/>
              <a:t>plt.scatter</a:t>
            </a:r>
            <a:r>
              <a:rPr lang="en-US" sz="2400" dirty="0"/>
              <a:t>() function.</a:t>
            </a:r>
          </a:p>
          <a:p>
            <a:r>
              <a:rPr lang="en-US" sz="2400" dirty="0"/>
              <a:t>Call the </a:t>
            </a:r>
            <a:r>
              <a:rPr lang="en-US" sz="2400" dirty="0" err="1"/>
              <a:t>plt.show</a:t>
            </a:r>
            <a:r>
              <a:rPr lang="en-US" sz="2400" dirty="0"/>
              <a:t>() function to show your plot.</a:t>
            </a:r>
          </a:p>
          <a:p>
            <a:r>
              <a:rPr lang="en-US" sz="2400" dirty="0">
                <a:highlight>
                  <a:srgbClr val="00FF00"/>
                </a:highlight>
              </a:rPr>
              <a:t>How many clusters do you see?</a:t>
            </a:r>
          </a:p>
        </p:txBody>
      </p:sp>
      <p:sp>
        <p:nvSpPr>
          <p:cNvPr id="4" name="Slide Number Placeholder 3">
            <a:extLst>
              <a:ext uri="{FF2B5EF4-FFF2-40B4-BE49-F238E27FC236}">
                <a16:creationId xmlns:a16="http://schemas.microsoft.com/office/drawing/2014/main" id="{7C2ECB63-11B9-7C7A-17F7-4D43E38F0958}"/>
              </a:ext>
            </a:extLst>
          </p:cNvPr>
          <p:cNvSpPr>
            <a:spLocks noGrp="1"/>
          </p:cNvSpPr>
          <p:nvPr>
            <p:ph type="sldNum" sz="quarter" idx="12"/>
          </p:nvPr>
        </p:nvSpPr>
        <p:spPr/>
        <p:txBody>
          <a:bodyPr/>
          <a:lstStyle/>
          <a:p>
            <a:fld id="{C795FC6A-1DDE-4D80-97D7-06017F2A69D1}" type="slidenum">
              <a:rPr lang="en-US" smtClean="0"/>
              <a:t>13</a:t>
            </a:fld>
            <a:endParaRPr lang="en-US"/>
          </a:p>
        </p:txBody>
      </p:sp>
    </p:spTree>
    <p:extLst>
      <p:ext uri="{BB962C8B-B14F-4D97-AF65-F5344CB8AC3E}">
        <p14:creationId xmlns:p14="http://schemas.microsoft.com/office/powerpoint/2010/main" val="29077288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AD304-1C93-C0C2-39F2-FB58306C399A}"/>
              </a:ext>
            </a:extLst>
          </p:cNvPr>
          <p:cNvSpPr>
            <a:spLocks noGrp="1"/>
          </p:cNvSpPr>
          <p:nvPr>
            <p:ph type="title"/>
          </p:nvPr>
        </p:nvSpPr>
        <p:spPr/>
        <p:txBody>
          <a:bodyPr/>
          <a:lstStyle/>
          <a:p>
            <a:r>
              <a:rPr lang="en-US" dirty="0"/>
              <a:t>Clustering 2D points</a:t>
            </a:r>
          </a:p>
        </p:txBody>
      </p:sp>
      <p:sp>
        <p:nvSpPr>
          <p:cNvPr id="3" name="Content Placeholder 2">
            <a:extLst>
              <a:ext uri="{FF2B5EF4-FFF2-40B4-BE49-F238E27FC236}">
                <a16:creationId xmlns:a16="http://schemas.microsoft.com/office/drawing/2014/main" id="{68E40417-EFC2-3769-4ED0-C567E8F251FC}"/>
              </a:ext>
            </a:extLst>
          </p:cNvPr>
          <p:cNvSpPr>
            <a:spLocks noGrp="1"/>
          </p:cNvSpPr>
          <p:nvPr>
            <p:ph idx="1"/>
          </p:nvPr>
        </p:nvSpPr>
        <p:spPr/>
        <p:txBody>
          <a:bodyPr/>
          <a:lstStyle/>
          <a:p>
            <a:r>
              <a:rPr lang="en-US" dirty="0"/>
              <a:t>From the scatter plot of the previous exercise, you saw that the points seem to separate into 3 clusters. </a:t>
            </a:r>
          </a:p>
          <a:p>
            <a:r>
              <a:rPr lang="en-US" dirty="0"/>
              <a:t>You'll now create a </a:t>
            </a:r>
            <a:r>
              <a:rPr lang="en-US" dirty="0" err="1"/>
              <a:t>KMeans</a:t>
            </a:r>
            <a:r>
              <a:rPr lang="en-US" dirty="0"/>
              <a:t> model to find 3 clusters, and fit it to the data points from the previous exercise. </a:t>
            </a:r>
          </a:p>
          <a:p>
            <a:r>
              <a:rPr lang="en-US" dirty="0"/>
              <a:t>After the model has been fit, you'll obtain the cluster labels for some new points using the .predict() method.</a:t>
            </a:r>
          </a:p>
          <a:p>
            <a:endParaRPr lang="en-US" dirty="0"/>
          </a:p>
          <a:p>
            <a:r>
              <a:rPr lang="en-US" dirty="0"/>
              <a:t>You are given an array </a:t>
            </a:r>
            <a:r>
              <a:rPr lang="en-US" dirty="0" err="1"/>
              <a:t>new_points</a:t>
            </a:r>
            <a:r>
              <a:rPr lang="en-US" dirty="0"/>
              <a:t>.</a:t>
            </a:r>
          </a:p>
        </p:txBody>
      </p:sp>
      <p:sp>
        <p:nvSpPr>
          <p:cNvPr id="4" name="Slide Number Placeholder 3">
            <a:extLst>
              <a:ext uri="{FF2B5EF4-FFF2-40B4-BE49-F238E27FC236}">
                <a16:creationId xmlns:a16="http://schemas.microsoft.com/office/drawing/2014/main" id="{9DB46D18-F828-4B74-3659-01D6AC4D5058}"/>
              </a:ext>
            </a:extLst>
          </p:cNvPr>
          <p:cNvSpPr>
            <a:spLocks noGrp="1"/>
          </p:cNvSpPr>
          <p:nvPr>
            <p:ph type="sldNum" sz="quarter" idx="12"/>
          </p:nvPr>
        </p:nvSpPr>
        <p:spPr/>
        <p:txBody>
          <a:bodyPr/>
          <a:lstStyle/>
          <a:p>
            <a:fld id="{C795FC6A-1DDE-4D80-97D7-06017F2A69D1}" type="slidenum">
              <a:rPr lang="en-US" smtClean="0"/>
              <a:t>14</a:t>
            </a:fld>
            <a:endParaRPr lang="en-US"/>
          </a:p>
        </p:txBody>
      </p:sp>
    </p:spTree>
    <p:extLst>
      <p:ext uri="{BB962C8B-B14F-4D97-AF65-F5344CB8AC3E}">
        <p14:creationId xmlns:p14="http://schemas.microsoft.com/office/powerpoint/2010/main" val="7330511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21C25A-AABA-B829-8C77-2A8E5B009279}"/>
              </a:ext>
            </a:extLst>
          </p:cNvPr>
          <p:cNvSpPr>
            <a:spLocks noGrp="1"/>
          </p:cNvSpPr>
          <p:nvPr>
            <p:ph type="title"/>
          </p:nvPr>
        </p:nvSpPr>
        <p:spPr/>
        <p:txBody>
          <a:bodyPr/>
          <a:lstStyle/>
          <a:p>
            <a:r>
              <a:rPr lang="en-US" dirty="0"/>
              <a:t>Train and fit the model</a:t>
            </a:r>
          </a:p>
        </p:txBody>
      </p:sp>
      <p:sp>
        <p:nvSpPr>
          <p:cNvPr id="3" name="Content Placeholder 2">
            <a:extLst>
              <a:ext uri="{FF2B5EF4-FFF2-40B4-BE49-F238E27FC236}">
                <a16:creationId xmlns:a16="http://schemas.microsoft.com/office/drawing/2014/main" id="{DD4726FF-521B-C76A-A6DF-7F7045958CAF}"/>
              </a:ext>
            </a:extLst>
          </p:cNvPr>
          <p:cNvSpPr>
            <a:spLocks noGrp="1"/>
          </p:cNvSpPr>
          <p:nvPr>
            <p:ph idx="1"/>
          </p:nvPr>
        </p:nvSpPr>
        <p:spPr/>
        <p:txBody>
          <a:bodyPr>
            <a:normAutofit/>
          </a:bodyPr>
          <a:lstStyle/>
          <a:p>
            <a:r>
              <a:rPr lang="en-US" sz="2400" dirty="0"/>
              <a:t>Import </a:t>
            </a:r>
            <a:r>
              <a:rPr lang="en-US" sz="2400" dirty="0" err="1"/>
              <a:t>KMeans</a:t>
            </a:r>
            <a:r>
              <a:rPr lang="en-US" sz="2400" dirty="0"/>
              <a:t> from </a:t>
            </a:r>
            <a:r>
              <a:rPr lang="en-US" sz="2400" dirty="0" err="1"/>
              <a:t>sklearn.cluster</a:t>
            </a:r>
            <a:r>
              <a:rPr lang="en-US" sz="2400" dirty="0"/>
              <a:t>.</a:t>
            </a:r>
          </a:p>
          <a:p>
            <a:r>
              <a:rPr lang="en-US" sz="2400" dirty="0"/>
              <a:t>Load data from new_points.csv and convert to NumPy array</a:t>
            </a:r>
          </a:p>
          <a:p>
            <a:r>
              <a:rPr lang="en-US" sz="2400" dirty="0"/>
              <a:t>Using </a:t>
            </a:r>
            <a:r>
              <a:rPr lang="en-US" sz="2400" dirty="0" err="1"/>
              <a:t>KMeans</a:t>
            </a:r>
            <a:r>
              <a:rPr lang="en-US" sz="2400" dirty="0"/>
              <a:t>(), create a </a:t>
            </a:r>
            <a:r>
              <a:rPr lang="en-US" sz="2400" dirty="0" err="1"/>
              <a:t>KMeans</a:t>
            </a:r>
            <a:r>
              <a:rPr lang="en-US" sz="2400" dirty="0"/>
              <a:t> instance called model to find 3 clusters. To specify the number of clusters, use the </a:t>
            </a:r>
            <a:r>
              <a:rPr lang="en-US" sz="2400" dirty="0" err="1"/>
              <a:t>n_clusters</a:t>
            </a:r>
            <a:r>
              <a:rPr lang="en-US" sz="2400" dirty="0"/>
              <a:t> keyword argument.</a:t>
            </a:r>
          </a:p>
          <a:p>
            <a:r>
              <a:rPr lang="en-US" sz="2400" dirty="0"/>
              <a:t>Use the .fit() method of model to fit the model to the array of points.</a:t>
            </a:r>
          </a:p>
          <a:p>
            <a:r>
              <a:rPr lang="en-US" sz="2400" dirty="0"/>
              <a:t>Use the .predict() method of model to predict the cluster labels of </a:t>
            </a:r>
            <a:r>
              <a:rPr lang="en-US" sz="2400" dirty="0" err="1"/>
              <a:t>new_points</a:t>
            </a:r>
            <a:r>
              <a:rPr lang="en-US" sz="2400" dirty="0"/>
              <a:t>, assigning the result to labels.</a:t>
            </a:r>
          </a:p>
          <a:p>
            <a:r>
              <a:rPr lang="en-US" sz="2400" dirty="0"/>
              <a:t>Hit submit to see the cluster labels of </a:t>
            </a:r>
            <a:r>
              <a:rPr lang="en-US" sz="2400" dirty="0" err="1"/>
              <a:t>new_points</a:t>
            </a:r>
            <a:r>
              <a:rPr lang="en-US" sz="2400" dirty="0"/>
              <a:t>.</a:t>
            </a:r>
          </a:p>
        </p:txBody>
      </p:sp>
      <p:sp>
        <p:nvSpPr>
          <p:cNvPr id="4" name="Slide Number Placeholder 3">
            <a:extLst>
              <a:ext uri="{FF2B5EF4-FFF2-40B4-BE49-F238E27FC236}">
                <a16:creationId xmlns:a16="http://schemas.microsoft.com/office/drawing/2014/main" id="{4818B9EB-8543-6521-7712-50691CE90CA8}"/>
              </a:ext>
            </a:extLst>
          </p:cNvPr>
          <p:cNvSpPr>
            <a:spLocks noGrp="1"/>
          </p:cNvSpPr>
          <p:nvPr>
            <p:ph type="sldNum" sz="quarter" idx="12"/>
          </p:nvPr>
        </p:nvSpPr>
        <p:spPr/>
        <p:txBody>
          <a:bodyPr/>
          <a:lstStyle/>
          <a:p>
            <a:fld id="{C795FC6A-1DDE-4D80-97D7-06017F2A69D1}" type="slidenum">
              <a:rPr lang="en-US" smtClean="0"/>
              <a:t>15</a:t>
            </a:fld>
            <a:endParaRPr lang="en-US"/>
          </a:p>
        </p:txBody>
      </p:sp>
      <p:pic>
        <p:nvPicPr>
          <p:cNvPr id="6" name="Picture 5">
            <a:extLst>
              <a:ext uri="{FF2B5EF4-FFF2-40B4-BE49-F238E27FC236}">
                <a16:creationId xmlns:a16="http://schemas.microsoft.com/office/drawing/2014/main" id="{877062AD-11DE-7E19-46F0-B888FF746C1E}"/>
              </a:ext>
            </a:extLst>
          </p:cNvPr>
          <p:cNvPicPr>
            <a:picLocks noChangeAspect="1"/>
          </p:cNvPicPr>
          <p:nvPr/>
        </p:nvPicPr>
        <p:blipFill>
          <a:blip r:embed="rId2"/>
          <a:stretch>
            <a:fillRect/>
          </a:stretch>
        </p:blipFill>
        <p:spPr>
          <a:xfrm>
            <a:off x="5727041" y="5232502"/>
            <a:ext cx="5179498" cy="1488973"/>
          </a:xfrm>
          <a:prstGeom prst="rect">
            <a:avLst/>
          </a:prstGeom>
        </p:spPr>
      </p:pic>
    </p:spTree>
    <p:extLst>
      <p:ext uri="{BB962C8B-B14F-4D97-AF65-F5344CB8AC3E}">
        <p14:creationId xmlns:p14="http://schemas.microsoft.com/office/powerpoint/2010/main" val="13031979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2A8335-C1D3-7A84-5938-FE34F618A5CF}"/>
              </a:ext>
            </a:extLst>
          </p:cNvPr>
          <p:cNvSpPr>
            <a:spLocks noGrp="1"/>
          </p:cNvSpPr>
          <p:nvPr>
            <p:ph type="title"/>
          </p:nvPr>
        </p:nvSpPr>
        <p:spPr>
          <a:xfrm>
            <a:off x="838200" y="168707"/>
            <a:ext cx="10515600" cy="512330"/>
          </a:xfrm>
        </p:spPr>
        <p:txBody>
          <a:bodyPr>
            <a:normAutofit fontScale="90000"/>
          </a:bodyPr>
          <a:lstStyle/>
          <a:p>
            <a:r>
              <a:rPr lang="en-US" dirty="0"/>
              <a:t>Inspect your cluster</a:t>
            </a:r>
          </a:p>
        </p:txBody>
      </p:sp>
      <p:sp>
        <p:nvSpPr>
          <p:cNvPr id="3" name="Content Placeholder 2">
            <a:extLst>
              <a:ext uri="{FF2B5EF4-FFF2-40B4-BE49-F238E27FC236}">
                <a16:creationId xmlns:a16="http://schemas.microsoft.com/office/drawing/2014/main" id="{E4625EAD-4B5B-603B-E329-A8B2DCDA66AB}"/>
              </a:ext>
            </a:extLst>
          </p:cNvPr>
          <p:cNvSpPr>
            <a:spLocks noGrp="1"/>
          </p:cNvSpPr>
          <p:nvPr>
            <p:ph idx="1"/>
          </p:nvPr>
        </p:nvSpPr>
        <p:spPr>
          <a:xfrm>
            <a:off x="838200" y="877455"/>
            <a:ext cx="10515600" cy="5299508"/>
          </a:xfrm>
        </p:spPr>
        <p:txBody>
          <a:bodyPr>
            <a:normAutofit lnSpcReduction="10000"/>
          </a:bodyPr>
          <a:lstStyle/>
          <a:p>
            <a:r>
              <a:rPr lang="en-US" sz="2400" dirty="0"/>
              <a:t>A solution to the previous exercise has already run, so </a:t>
            </a:r>
            <a:r>
              <a:rPr lang="en-US" sz="2400" dirty="0" err="1"/>
              <a:t>new_points</a:t>
            </a:r>
            <a:r>
              <a:rPr lang="en-US" sz="2400" dirty="0"/>
              <a:t> is an array of points, and labels is the array of their cluster labels.</a:t>
            </a:r>
          </a:p>
          <a:p>
            <a:r>
              <a:rPr lang="en-US" sz="2400" dirty="0"/>
              <a:t>Import </a:t>
            </a:r>
            <a:r>
              <a:rPr lang="en-US" sz="2400" dirty="0" err="1"/>
              <a:t>matplotlib.pyplot</a:t>
            </a:r>
            <a:r>
              <a:rPr lang="en-US" sz="2400" dirty="0"/>
              <a:t> as </a:t>
            </a:r>
            <a:r>
              <a:rPr lang="en-US" sz="2400" dirty="0" err="1"/>
              <a:t>plt</a:t>
            </a:r>
            <a:r>
              <a:rPr lang="en-US" sz="2400" dirty="0"/>
              <a:t>.</a:t>
            </a:r>
          </a:p>
          <a:p>
            <a:r>
              <a:rPr lang="en-US" sz="2400" dirty="0"/>
              <a:t>Assign column 0 of </a:t>
            </a:r>
            <a:r>
              <a:rPr lang="en-US" sz="2400" dirty="0" err="1"/>
              <a:t>new_points</a:t>
            </a:r>
            <a:r>
              <a:rPr lang="en-US" sz="2400" dirty="0"/>
              <a:t> to </a:t>
            </a:r>
            <a:r>
              <a:rPr lang="en-US" sz="2400" dirty="0" err="1"/>
              <a:t>xs</a:t>
            </a:r>
            <a:r>
              <a:rPr lang="en-US" sz="2400" dirty="0"/>
              <a:t>, and column 1 of </a:t>
            </a:r>
            <a:r>
              <a:rPr lang="en-US" sz="2400" dirty="0" err="1"/>
              <a:t>new_points</a:t>
            </a:r>
            <a:r>
              <a:rPr lang="en-US" sz="2400" dirty="0"/>
              <a:t> to </a:t>
            </a:r>
            <a:r>
              <a:rPr lang="en-US" sz="2400" dirty="0" err="1"/>
              <a:t>ys</a:t>
            </a:r>
            <a:r>
              <a:rPr lang="en-US" sz="2400" dirty="0"/>
              <a:t>.</a:t>
            </a:r>
          </a:p>
          <a:p>
            <a:r>
              <a:rPr lang="en-US" sz="2400" dirty="0"/>
              <a:t>Make a scatter plot of </a:t>
            </a:r>
            <a:r>
              <a:rPr lang="en-US" sz="2400" dirty="0" err="1"/>
              <a:t>xs</a:t>
            </a:r>
            <a:r>
              <a:rPr lang="en-US" sz="2400" dirty="0"/>
              <a:t> and </a:t>
            </a:r>
            <a:r>
              <a:rPr lang="en-US" sz="2400" dirty="0" err="1"/>
              <a:t>ys</a:t>
            </a:r>
            <a:r>
              <a:rPr lang="en-US" sz="2400" dirty="0"/>
              <a:t>, specifying the c=labels keyword arguments to color the points by their cluster label. </a:t>
            </a:r>
            <a:r>
              <a:rPr lang="en-US" sz="2400" dirty="0">
                <a:highlight>
                  <a:srgbClr val="00FF00"/>
                </a:highlight>
              </a:rPr>
              <a:t>Also specify alpha=0.5</a:t>
            </a:r>
            <a:r>
              <a:rPr lang="en-US" sz="2400" dirty="0"/>
              <a:t>.</a:t>
            </a:r>
          </a:p>
          <a:p>
            <a:r>
              <a:rPr lang="en-US" sz="2400" dirty="0"/>
              <a:t>Compute the coordinates of the centroids using the </a:t>
            </a:r>
            <a:r>
              <a:rPr lang="en-US" sz="2400" dirty="0">
                <a:highlight>
                  <a:srgbClr val="00FF00"/>
                </a:highlight>
              </a:rPr>
              <a:t>.</a:t>
            </a:r>
            <a:r>
              <a:rPr lang="en-US" sz="2400" dirty="0" err="1">
                <a:highlight>
                  <a:srgbClr val="00FF00"/>
                </a:highlight>
              </a:rPr>
              <a:t>cluster_centers</a:t>
            </a:r>
            <a:r>
              <a:rPr lang="en-US" sz="2400" dirty="0">
                <a:highlight>
                  <a:srgbClr val="00FF00"/>
                </a:highlight>
              </a:rPr>
              <a:t>_ </a:t>
            </a:r>
            <a:r>
              <a:rPr lang="en-US" sz="2400" dirty="0"/>
              <a:t>attribute of the model.</a:t>
            </a:r>
          </a:p>
          <a:p>
            <a:pPr marL="457200" lvl="1" indent="0">
              <a:buNone/>
            </a:pPr>
            <a:r>
              <a:rPr lang="en-US" sz="1800" dirty="0"/>
              <a:t>				centroids = </a:t>
            </a:r>
            <a:r>
              <a:rPr lang="en-US" sz="1800" dirty="0" err="1"/>
              <a:t>model.cluster_centers</a:t>
            </a:r>
            <a:r>
              <a:rPr lang="en-US" sz="1800" dirty="0"/>
              <a:t>_</a:t>
            </a:r>
          </a:p>
          <a:p>
            <a:r>
              <a:rPr lang="en-US" sz="2400" dirty="0"/>
              <a:t>Assign column 0 of centroids to </a:t>
            </a:r>
            <a:r>
              <a:rPr lang="en-US" sz="2400" dirty="0" err="1"/>
              <a:t>centroids_x</a:t>
            </a:r>
            <a:r>
              <a:rPr lang="en-US" sz="2400" dirty="0"/>
              <a:t>, and column 1 of centroids to </a:t>
            </a:r>
            <a:r>
              <a:rPr lang="en-US" sz="2400" dirty="0" err="1"/>
              <a:t>centroids_y</a:t>
            </a:r>
            <a:r>
              <a:rPr lang="en-US" sz="2400" dirty="0"/>
              <a:t>.</a:t>
            </a:r>
          </a:p>
          <a:p>
            <a:r>
              <a:rPr lang="en-US" sz="2400" dirty="0"/>
              <a:t>Make a scatter plot of </a:t>
            </a:r>
            <a:r>
              <a:rPr lang="en-US" sz="2400" dirty="0" err="1"/>
              <a:t>centroids_x</a:t>
            </a:r>
            <a:r>
              <a:rPr lang="en-US" sz="2400" dirty="0"/>
              <a:t> and </a:t>
            </a:r>
            <a:r>
              <a:rPr lang="en-US" sz="2400" dirty="0" err="1"/>
              <a:t>centroids_y</a:t>
            </a:r>
            <a:r>
              <a:rPr lang="en-US" sz="2400" dirty="0"/>
              <a:t>, using 'D' (a diamond) as a marker by specifying the marker parameter. </a:t>
            </a:r>
          </a:p>
          <a:p>
            <a:pPr lvl="1"/>
            <a:r>
              <a:rPr lang="en-US" sz="1800" dirty="0"/>
              <a:t>Set the size of the markers to be 50 using s=50.</a:t>
            </a:r>
          </a:p>
          <a:p>
            <a:endParaRPr lang="en-US" sz="2400" dirty="0"/>
          </a:p>
        </p:txBody>
      </p:sp>
      <p:sp>
        <p:nvSpPr>
          <p:cNvPr id="4" name="Slide Number Placeholder 3">
            <a:extLst>
              <a:ext uri="{FF2B5EF4-FFF2-40B4-BE49-F238E27FC236}">
                <a16:creationId xmlns:a16="http://schemas.microsoft.com/office/drawing/2014/main" id="{6B44F8E5-CE23-6AEF-D975-F9309634DC66}"/>
              </a:ext>
            </a:extLst>
          </p:cNvPr>
          <p:cNvSpPr>
            <a:spLocks noGrp="1"/>
          </p:cNvSpPr>
          <p:nvPr>
            <p:ph type="sldNum" sz="quarter" idx="12"/>
          </p:nvPr>
        </p:nvSpPr>
        <p:spPr/>
        <p:txBody>
          <a:bodyPr/>
          <a:lstStyle/>
          <a:p>
            <a:fld id="{C795FC6A-1DDE-4D80-97D7-06017F2A69D1}" type="slidenum">
              <a:rPr lang="en-US" smtClean="0"/>
              <a:t>16</a:t>
            </a:fld>
            <a:endParaRPr lang="en-US"/>
          </a:p>
        </p:txBody>
      </p:sp>
    </p:spTree>
    <p:extLst>
      <p:ext uri="{BB962C8B-B14F-4D97-AF65-F5344CB8AC3E}">
        <p14:creationId xmlns:p14="http://schemas.microsoft.com/office/powerpoint/2010/main" val="40036633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0BDB2B3-8DA1-6CD5-EEF2-D905DE496BE6}"/>
              </a:ext>
            </a:extLst>
          </p:cNvPr>
          <p:cNvSpPr>
            <a:spLocks noGrp="1"/>
          </p:cNvSpPr>
          <p:nvPr>
            <p:ph type="sldNum" sz="quarter" idx="12"/>
          </p:nvPr>
        </p:nvSpPr>
        <p:spPr/>
        <p:txBody>
          <a:bodyPr/>
          <a:lstStyle/>
          <a:p>
            <a:fld id="{C795FC6A-1DDE-4D80-97D7-06017F2A69D1}" type="slidenum">
              <a:rPr lang="en-US" smtClean="0"/>
              <a:t>17</a:t>
            </a:fld>
            <a:endParaRPr lang="en-US"/>
          </a:p>
        </p:txBody>
      </p:sp>
      <p:pic>
        <p:nvPicPr>
          <p:cNvPr id="4" name="Picture 3">
            <a:extLst>
              <a:ext uri="{FF2B5EF4-FFF2-40B4-BE49-F238E27FC236}">
                <a16:creationId xmlns:a16="http://schemas.microsoft.com/office/drawing/2014/main" id="{DE25C1CF-58FD-F938-68AC-9B92B2F5D0DD}"/>
              </a:ext>
            </a:extLst>
          </p:cNvPr>
          <p:cNvPicPr>
            <a:picLocks noChangeAspect="1"/>
          </p:cNvPicPr>
          <p:nvPr/>
        </p:nvPicPr>
        <p:blipFill>
          <a:blip r:embed="rId2"/>
          <a:stretch>
            <a:fillRect/>
          </a:stretch>
        </p:blipFill>
        <p:spPr>
          <a:xfrm>
            <a:off x="1455026" y="0"/>
            <a:ext cx="9281948" cy="6858000"/>
          </a:xfrm>
          <a:prstGeom prst="rect">
            <a:avLst/>
          </a:prstGeom>
        </p:spPr>
      </p:pic>
    </p:spTree>
    <p:extLst>
      <p:ext uri="{BB962C8B-B14F-4D97-AF65-F5344CB8AC3E}">
        <p14:creationId xmlns:p14="http://schemas.microsoft.com/office/powerpoint/2010/main" val="27096854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16D917-DE1B-3199-9530-BF0145426824}"/>
              </a:ext>
            </a:extLst>
          </p:cNvPr>
          <p:cNvSpPr>
            <a:spLocks noGrp="1"/>
          </p:cNvSpPr>
          <p:nvPr>
            <p:ph type="title"/>
          </p:nvPr>
        </p:nvSpPr>
        <p:spPr/>
        <p:txBody>
          <a:bodyPr/>
          <a:lstStyle/>
          <a:p>
            <a:r>
              <a:rPr lang="en-US" dirty="0"/>
              <a:t>Evaluating a clustering</a:t>
            </a:r>
          </a:p>
        </p:txBody>
      </p:sp>
      <p:sp>
        <p:nvSpPr>
          <p:cNvPr id="3" name="Content Placeholder 2">
            <a:extLst>
              <a:ext uri="{FF2B5EF4-FFF2-40B4-BE49-F238E27FC236}">
                <a16:creationId xmlns:a16="http://schemas.microsoft.com/office/drawing/2014/main" id="{EBB99B19-A81B-123B-FEC4-BCB8F2EF182F}"/>
              </a:ext>
            </a:extLst>
          </p:cNvPr>
          <p:cNvSpPr>
            <a:spLocks noGrp="1"/>
          </p:cNvSpPr>
          <p:nvPr>
            <p:ph idx="1"/>
          </p:nvPr>
        </p:nvSpPr>
        <p:spPr/>
        <p:txBody>
          <a:bodyPr/>
          <a:lstStyle/>
          <a:p>
            <a:r>
              <a:rPr lang="en-US" dirty="0"/>
              <a:t>Can check correspondence with e.g. iris species.</a:t>
            </a:r>
          </a:p>
          <a:p>
            <a:r>
              <a:rPr lang="en-US" dirty="0"/>
              <a:t> ... but what if there are no species to check against? </a:t>
            </a:r>
          </a:p>
          <a:p>
            <a:r>
              <a:rPr lang="en-US" dirty="0"/>
              <a:t>Measure the quality of a clustering.</a:t>
            </a:r>
          </a:p>
          <a:p>
            <a:r>
              <a:rPr lang="en-US" dirty="0"/>
              <a:t>Informs choice of how many clusters to look for</a:t>
            </a:r>
          </a:p>
        </p:txBody>
      </p:sp>
      <p:sp>
        <p:nvSpPr>
          <p:cNvPr id="4" name="Slide Number Placeholder 3">
            <a:extLst>
              <a:ext uri="{FF2B5EF4-FFF2-40B4-BE49-F238E27FC236}">
                <a16:creationId xmlns:a16="http://schemas.microsoft.com/office/drawing/2014/main" id="{3B838997-C92A-C30F-DD02-5A89710E7835}"/>
              </a:ext>
            </a:extLst>
          </p:cNvPr>
          <p:cNvSpPr>
            <a:spLocks noGrp="1"/>
          </p:cNvSpPr>
          <p:nvPr>
            <p:ph type="sldNum" sz="quarter" idx="12"/>
          </p:nvPr>
        </p:nvSpPr>
        <p:spPr/>
        <p:txBody>
          <a:bodyPr/>
          <a:lstStyle/>
          <a:p>
            <a:fld id="{C795FC6A-1DDE-4D80-97D7-06017F2A69D1}" type="slidenum">
              <a:rPr lang="en-US" smtClean="0"/>
              <a:t>18</a:t>
            </a:fld>
            <a:endParaRPr lang="en-US"/>
          </a:p>
        </p:txBody>
      </p:sp>
    </p:spTree>
    <p:extLst>
      <p:ext uri="{BB962C8B-B14F-4D97-AF65-F5344CB8AC3E}">
        <p14:creationId xmlns:p14="http://schemas.microsoft.com/office/powerpoint/2010/main" val="38486770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3C5D388-C043-AAC9-034E-D90B6CAE78FC}"/>
              </a:ext>
            </a:extLst>
          </p:cNvPr>
          <p:cNvSpPr>
            <a:spLocks noGrp="1"/>
          </p:cNvSpPr>
          <p:nvPr>
            <p:ph type="sldNum" sz="quarter" idx="12"/>
          </p:nvPr>
        </p:nvSpPr>
        <p:spPr/>
        <p:txBody>
          <a:bodyPr/>
          <a:lstStyle/>
          <a:p>
            <a:fld id="{C795FC6A-1DDE-4D80-97D7-06017F2A69D1}" type="slidenum">
              <a:rPr lang="en-US" smtClean="0"/>
              <a:t>19</a:t>
            </a:fld>
            <a:endParaRPr lang="en-US"/>
          </a:p>
        </p:txBody>
      </p:sp>
      <p:pic>
        <p:nvPicPr>
          <p:cNvPr id="4" name="Picture 3">
            <a:extLst>
              <a:ext uri="{FF2B5EF4-FFF2-40B4-BE49-F238E27FC236}">
                <a16:creationId xmlns:a16="http://schemas.microsoft.com/office/drawing/2014/main" id="{0C23EE5A-2F43-DBEC-F9F1-BF5B9D534087}"/>
              </a:ext>
            </a:extLst>
          </p:cNvPr>
          <p:cNvPicPr>
            <a:picLocks noChangeAspect="1"/>
          </p:cNvPicPr>
          <p:nvPr/>
        </p:nvPicPr>
        <p:blipFill>
          <a:blip r:embed="rId2"/>
          <a:stretch>
            <a:fillRect/>
          </a:stretch>
        </p:blipFill>
        <p:spPr>
          <a:xfrm>
            <a:off x="746966" y="136525"/>
            <a:ext cx="10698068" cy="3705742"/>
          </a:xfrm>
          <a:prstGeom prst="rect">
            <a:avLst/>
          </a:prstGeom>
        </p:spPr>
      </p:pic>
      <p:sp>
        <p:nvSpPr>
          <p:cNvPr id="6" name="TextBox 5">
            <a:extLst>
              <a:ext uri="{FF2B5EF4-FFF2-40B4-BE49-F238E27FC236}">
                <a16:creationId xmlns:a16="http://schemas.microsoft.com/office/drawing/2014/main" id="{C9EE2E92-4A2D-3396-5EEC-763CE8F2650B}"/>
              </a:ext>
            </a:extLst>
          </p:cNvPr>
          <p:cNvSpPr txBox="1"/>
          <p:nvPr/>
        </p:nvSpPr>
        <p:spPr>
          <a:xfrm>
            <a:off x="822036" y="4327528"/>
            <a:ext cx="10698068" cy="2308324"/>
          </a:xfrm>
          <a:prstGeom prst="rect">
            <a:avLst/>
          </a:prstGeom>
          <a:noFill/>
        </p:spPr>
        <p:txBody>
          <a:bodyPr wrap="square">
            <a:spAutoFit/>
          </a:bodyPr>
          <a:lstStyle/>
          <a:p>
            <a:r>
              <a:rPr lang="en-US" sz="2400" dirty="0"/>
              <a:t>The table shows the number of samples that have each possible cluster label/species combination. For example, we see that cluster 1 corresponds perfectly with the species </a:t>
            </a:r>
            <a:r>
              <a:rPr lang="en-US" sz="2400" dirty="0" err="1"/>
              <a:t>setosa</a:t>
            </a:r>
            <a:r>
              <a:rPr lang="en-US" sz="2400" dirty="0"/>
              <a:t>. </a:t>
            </a:r>
          </a:p>
          <a:p>
            <a:endParaRPr lang="en-US" sz="2400" dirty="0"/>
          </a:p>
          <a:p>
            <a:r>
              <a:rPr lang="en-US" sz="2400" dirty="0"/>
              <a:t>On the other hand, while cluster 0 contains mainly virginica samples, there are also some virginica samples in cluster 2.</a:t>
            </a:r>
          </a:p>
        </p:txBody>
      </p:sp>
    </p:spTree>
    <p:extLst>
      <p:ext uri="{BB962C8B-B14F-4D97-AF65-F5344CB8AC3E}">
        <p14:creationId xmlns:p14="http://schemas.microsoft.com/office/powerpoint/2010/main" val="27627867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ACFCF54-4385-5B4E-8501-550314AB0732}"/>
              </a:ext>
            </a:extLst>
          </p:cNvPr>
          <p:cNvSpPr>
            <a:spLocks noGrp="1"/>
          </p:cNvSpPr>
          <p:nvPr>
            <p:ph type="sldNum" sz="quarter" idx="12"/>
          </p:nvPr>
        </p:nvSpPr>
        <p:spPr/>
        <p:txBody>
          <a:bodyPr/>
          <a:lstStyle/>
          <a:p>
            <a:fld id="{C795FC6A-1DDE-4D80-97D7-06017F2A69D1}" type="slidenum">
              <a:rPr lang="en-US" smtClean="0"/>
              <a:t>20</a:t>
            </a:fld>
            <a:endParaRPr lang="en-US"/>
          </a:p>
        </p:txBody>
      </p:sp>
      <p:pic>
        <p:nvPicPr>
          <p:cNvPr id="4" name="Picture 3">
            <a:extLst>
              <a:ext uri="{FF2B5EF4-FFF2-40B4-BE49-F238E27FC236}">
                <a16:creationId xmlns:a16="http://schemas.microsoft.com/office/drawing/2014/main" id="{B1F585C9-7B5C-AEA6-4A40-2D5C26ACBB10}"/>
              </a:ext>
            </a:extLst>
          </p:cNvPr>
          <p:cNvPicPr>
            <a:picLocks noChangeAspect="1"/>
          </p:cNvPicPr>
          <p:nvPr/>
        </p:nvPicPr>
        <p:blipFill>
          <a:blip r:embed="rId2"/>
          <a:stretch>
            <a:fillRect/>
          </a:stretch>
        </p:blipFill>
        <p:spPr>
          <a:xfrm>
            <a:off x="789834" y="127289"/>
            <a:ext cx="10612331" cy="3505689"/>
          </a:xfrm>
          <a:prstGeom prst="rect">
            <a:avLst/>
          </a:prstGeom>
        </p:spPr>
      </p:pic>
      <p:pic>
        <p:nvPicPr>
          <p:cNvPr id="6" name="Picture 5">
            <a:extLst>
              <a:ext uri="{FF2B5EF4-FFF2-40B4-BE49-F238E27FC236}">
                <a16:creationId xmlns:a16="http://schemas.microsoft.com/office/drawing/2014/main" id="{684ECB74-42E5-0A8D-AB1F-2E537863A3CE}"/>
              </a:ext>
            </a:extLst>
          </p:cNvPr>
          <p:cNvPicPr>
            <a:picLocks noChangeAspect="1"/>
          </p:cNvPicPr>
          <p:nvPr/>
        </p:nvPicPr>
        <p:blipFill>
          <a:blip r:embed="rId3"/>
          <a:stretch>
            <a:fillRect/>
          </a:stretch>
        </p:blipFill>
        <p:spPr>
          <a:xfrm>
            <a:off x="766018" y="1061707"/>
            <a:ext cx="10659963" cy="4734586"/>
          </a:xfrm>
          <a:prstGeom prst="rect">
            <a:avLst/>
          </a:prstGeom>
        </p:spPr>
      </p:pic>
    </p:spTree>
    <p:extLst>
      <p:ext uri="{BB962C8B-B14F-4D97-AF65-F5344CB8AC3E}">
        <p14:creationId xmlns:p14="http://schemas.microsoft.com/office/powerpoint/2010/main" val="20856001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8A6A723-CA5D-4749-24BD-C7D157408DC1}"/>
              </a:ext>
            </a:extLst>
          </p:cNvPr>
          <p:cNvSpPr>
            <a:spLocks noGrp="1"/>
          </p:cNvSpPr>
          <p:nvPr>
            <p:ph type="sldNum" sz="quarter" idx="12"/>
          </p:nvPr>
        </p:nvSpPr>
        <p:spPr/>
        <p:txBody>
          <a:bodyPr/>
          <a:lstStyle/>
          <a:p>
            <a:fld id="{C795FC6A-1DDE-4D80-97D7-06017F2A69D1}" type="slidenum">
              <a:rPr lang="en-US" smtClean="0"/>
              <a:t>21</a:t>
            </a:fld>
            <a:endParaRPr lang="en-US"/>
          </a:p>
        </p:txBody>
      </p:sp>
      <p:pic>
        <p:nvPicPr>
          <p:cNvPr id="3" name="Picture 2">
            <a:extLst>
              <a:ext uri="{FF2B5EF4-FFF2-40B4-BE49-F238E27FC236}">
                <a16:creationId xmlns:a16="http://schemas.microsoft.com/office/drawing/2014/main" id="{86F0ED25-7054-DAE3-F96B-9E929BC8299F}"/>
              </a:ext>
            </a:extLst>
          </p:cNvPr>
          <p:cNvPicPr>
            <a:picLocks noChangeAspect="1"/>
          </p:cNvPicPr>
          <p:nvPr/>
        </p:nvPicPr>
        <p:blipFill>
          <a:blip r:embed="rId2"/>
          <a:stretch>
            <a:fillRect/>
          </a:stretch>
        </p:blipFill>
        <p:spPr>
          <a:xfrm>
            <a:off x="766018" y="1061707"/>
            <a:ext cx="10659963" cy="4734586"/>
          </a:xfrm>
          <a:prstGeom prst="rect">
            <a:avLst/>
          </a:prstGeom>
        </p:spPr>
      </p:pic>
    </p:spTree>
    <p:extLst>
      <p:ext uri="{BB962C8B-B14F-4D97-AF65-F5344CB8AC3E}">
        <p14:creationId xmlns:p14="http://schemas.microsoft.com/office/powerpoint/2010/main" val="24662363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3E5A6F4-A18B-0790-C42D-D410CA9E591C}"/>
              </a:ext>
            </a:extLst>
          </p:cNvPr>
          <p:cNvSpPr>
            <a:spLocks noGrp="1"/>
          </p:cNvSpPr>
          <p:nvPr>
            <p:ph type="sldNum" sz="quarter" idx="12"/>
          </p:nvPr>
        </p:nvSpPr>
        <p:spPr/>
        <p:txBody>
          <a:bodyPr/>
          <a:lstStyle/>
          <a:p>
            <a:fld id="{C795FC6A-1DDE-4D80-97D7-06017F2A69D1}" type="slidenum">
              <a:rPr lang="en-US" smtClean="0"/>
              <a:t>22</a:t>
            </a:fld>
            <a:endParaRPr lang="en-US"/>
          </a:p>
        </p:txBody>
      </p:sp>
      <p:pic>
        <p:nvPicPr>
          <p:cNvPr id="4" name="Picture 3">
            <a:extLst>
              <a:ext uri="{FF2B5EF4-FFF2-40B4-BE49-F238E27FC236}">
                <a16:creationId xmlns:a16="http://schemas.microsoft.com/office/drawing/2014/main" id="{62AE811C-60FC-92E9-EE2C-73E633326619}"/>
              </a:ext>
            </a:extLst>
          </p:cNvPr>
          <p:cNvPicPr>
            <a:picLocks noChangeAspect="1"/>
          </p:cNvPicPr>
          <p:nvPr/>
        </p:nvPicPr>
        <p:blipFill>
          <a:blip r:embed="rId2"/>
          <a:stretch>
            <a:fillRect/>
          </a:stretch>
        </p:blipFill>
        <p:spPr>
          <a:xfrm>
            <a:off x="756492" y="1166497"/>
            <a:ext cx="10679015" cy="4525006"/>
          </a:xfrm>
          <a:prstGeom prst="rect">
            <a:avLst/>
          </a:prstGeom>
        </p:spPr>
      </p:pic>
    </p:spTree>
    <p:extLst>
      <p:ext uri="{BB962C8B-B14F-4D97-AF65-F5344CB8AC3E}">
        <p14:creationId xmlns:p14="http://schemas.microsoft.com/office/powerpoint/2010/main" val="20416284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BBA5E-0BA8-87CA-23DE-0D4F69D2D1F4}"/>
              </a:ext>
            </a:extLst>
          </p:cNvPr>
          <p:cNvSpPr>
            <a:spLocks noGrp="1"/>
          </p:cNvSpPr>
          <p:nvPr>
            <p:ph type="title"/>
          </p:nvPr>
        </p:nvSpPr>
        <p:spPr/>
        <p:txBody>
          <a:bodyPr/>
          <a:lstStyle/>
          <a:p>
            <a:r>
              <a:rPr lang="en-US" dirty="0"/>
              <a:t>Measuring clustering quality</a:t>
            </a:r>
          </a:p>
        </p:txBody>
      </p:sp>
      <p:sp>
        <p:nvSpPr>
          <p:cNvPr id="3" name="Content Placeholder 2">
            <a:extLst>
              <a:ext uri="{FF2B5EF4-FFF2-40B4-BE49-F238E27FC236}">
                <a16:creationId xmlns:a16="http://schemas.microsoft.com/office/drawing/2014/main" id="{962302DB-CB00-7FAD-196B-5A48EB0C9511}"/>
              </a:ext>
            </a:extLst>
          </p:cNvPr>
          <p:cNvSpPr>
            <a:spLocks noGrp="1"/>
          </p:cNvSpPr>
          <p:nvPr>
            <p:ph idx="1"/>
          </p:nvPr>
        </p:nvSpPr>
        <p:spPr/>
        <p:txBody>
          <a:bodyPr/>
          <a:lstStyle/>
          <a:p>
            <a:r>
              <a:rPr lang="en-US" dirty="0"/>
              <a:t>Using only samples and their cluster labels.</a:t>
            </a:r>
          </a:p>
          <a:p>
            <a:r>
              <a:rPr lang="en-US" dirty="0"/>
              <a:t>A good clustering has tight clusters.</a:t>
            </a:r>
          </a:p>
          <a:p>
            <a:r>
              <a:rPr lang="en-US" dirty="0"/>
              <a:t>Samples in each cluster bunched together</a:t>
            </a:r>
          </a:p>
        </p:txBody>
      </p:sp>
      <p:sp>
        <p:nvSpPr>
          <p:cNvPr id="4" name="Slide Number Placeholder 3">
            <a:extLst>
              <a:ext uri="{FF2B5EF4-FFF2-40B4-BE49-F238E27FC236}">
                <a16:creationId xmlns:a16="http://schemas.microsoft.com/office/drawing/2014/main" id="{ED8183F1-0303-E87A-B210-B4C5824B8D89}"/>
              </a:ext>
            </a:extLst>
          </p:cNvPr>
          <p:cNvSpPr>
            <a:spLocks noGrp="1"/>
          </p:cNvSpPr>
          <p:nvPr>
            <p:ph type="sldNum" sz="quarter" idx="12"/>
          </p:nvPr>
        </p:nvSpPr>
        <p:spPr/>
        <p:txBody>
          <a:bodyPr/>
          <a:lstStyle/>
          <a:p>
            <a:fld id="{C795FC6A-1DDE-4D80-97D7-06017F2A69D1}" type="slidenum">
              <a:rPr lang="en-US" smtClean="0"/>
              <a:t>23</a:t>
            </a:fld>
            <a:endParaRPr lang="en-US"/>
          </a:p>
        </p:txBody>
      </p:sp>
      <p:pic>
        <p:nvPicPr>
          <p:cNvPr id="5" name="Picture 4">
            <a:extLst>
              <a:ext uri="{FF2B5EF4-FFF2-40B4-BE49-F238E27FC236}">
                <a16:creationId xmlns:a16="http://schemas.microsoft.com/office/drawing/2014/main" id="{09C73964-6886-EE84-8770-327A601C1F8C}"/>
              </a:ext>
            </a:extLst>
          </p:cNvPr>
          <p:cNvPicPr>
            <a:picLocks noChangeAspect="1"/>
          </p:cNvPicPr>
          <p:nvPr/>
        </p:nvPicPr>
        <p:blipFill>
          <a:blip r:embed="rId2"/>
          <a:stretch>
            <a:fillRect/>
          </a:stretch>
        </p:blipFill>
        <p:spPr>
          <a:xfrm>
            <a:off x="7255038" y="3373685"/>
            <a:ext cx="3915488" cy="2892972"/>
          </a:xfrm>
          <a:prstGeom prst="rect">
            <a:avLst/>
          </a:prstGeom>
        </p:spPr>
      </p:pic>
    </p:spTree>
    <p:extLst>
      <p:ext uri="{BB962C8B-B14F-4D97-AF65-F5344CB8AC3E}">
        <p14:creationId xmlns:p14="http://schemas.microsoft.com/office/powerpoint/2010/main" val="13161492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71BBFB8-E83E-59DC-0334-9EFFD00486DE}"/>
              </a:ext>
            </a:extLst>
          </p:cNvPr>
          <p:cNvSpPr>
            <a:spLocks noGrp="1"/>
          </p:cNvSpPr>
          <p:nvPr>
            <p:ph type="sldNum" sz="quarter" idx="12"/>
          </p:nvPr>
        </p:nvSpPr>
        <p:spPr/>
        <p:txBody>
          <a:bodyPr/>
          <a:lstStyle/>
          <a:p>
            <a:fld id="{C795FC6A-1DDE-4D80-97D7-06017F2A69D1}" type="slidenum">
              <a:rPr lang="en-US" smtClean="0"/>
              <a:t>24</a:t>
            </a:fld>
            <a:endParaRPr lang="en-US"/>
          </a:p>
        </p:txBody>
      </p:sp>
      <p:pic>
        <p:nvPicPr>
          <p:cNvPr id="4" name="Picture 3">
            <a:extLst>
              <a:ext uri="{FF2B5EF4-FFF2-40B4-BE49-F238E27FC236}">
                <a16:creationId xmlns:a16="http://schemas.microsoft.com/office/drawing/2014/main" id="{E074C003-F2F7-1858-AA23-1BFA408291D4}"/>
              </a:ext>
            </a:extLst>
          </p:cNvPr>
          <p:cNvPicPr>
            <a:picLocks noChangeAspect="1"/>
          </p:cNvPicPr>
          <p:nvPr/>
        </p:nvPicPr>
        <p:blipFill>
          <a:blip r:embed="rId2"/>
          <a:srcRect r="30714"/>
          <a:stretch/>
        </p:blipFill>
        <p:spPr>
          <a:xfrm>
            <a:off x="727913" y="671127"/>
            <a:ext cx="7438625" cy="5515745"/>
          </a:xfrm>
          <a:prstGeom prst="rect">
            <a:avLst/>
          </a:prstGeom>
        </p:spPr>
      </p:pic>
      <p:sp>
        <p:nvSpPr>
          <p:cNvPr id="5" name="TextBox 4">
            <a:extLst>
              <a:ext uri="{FF2B5EF4-FFF2-40B4-BE49-F238E27FC236}">
                <a16:creationId xmlns:a16="http://schemas.microsoft.com/office/drawing/2014/main" id="{B4152633-30DA-F04A-61B8-8FE9AA0C8D82}"/>
              </a:ext>
            </a:extLst>
          </p:cNvPr>
          <p:cNvSpPr txBox="1"/>
          <p:nvPr/>
        </p:nvSpPr>
        <p:spPr>
          <a:xfrm>
            <a:off x="8442434" y="3878317"/>
            <a:ext cx="3271345" cy="923330"/>
          </a:xfrm>
          <a:prstGeom prst="rect">
            <a:avLst/>
          </a:prstGeom>
          <a:noFill/>
        </p:spPr>
        <p:txBody>
          <a:bodyPr wrap="square" rtlCol="0">
            <a:spAutoFit/>
          </a:bodyPr>
          <a:lstStyle/>
          <a:p>
            <a:r>
              <a:rPr lang="en-US" dirty="0"/>
              <a:t>Note: samples = </a:t>
            </a:r>
            <a:r>
              <a:rPr lang="en-US" dirty="0" err="1"/>
              <a:t>iris.data</a:t>
            </a:r>
            <a:endParaRPr lang="en-US" dirty="0"/>
          </a:p>
          <a:p>
            <a:r>
              <a:rPr lang="en-US" dirty="0"/>
              <a:t>So replace samples with </a:t>
            </a:r>
            <a:r>
              <a:rPr lang="en-US" dirty="0" err="1"/>
              <a:t>iris.data</a:t>
            </a:r>
            <a:r>
              <a:rPr lang="en-US" dirty="0"/>
              <a:t> in this code.</a:t>
            </a:r>
          </a:p>
        </p:txBody>
      </p:sp>
    </p:spTree>
    <p:extLst>
      <p:ext uri="{BB962C8B-B14F-4D97-AF65-F5344CB8AC3E}">
        <p14:creationId xmlns:p14="http://schemas.microsoft.com/office/powerpoint/2010/main" val="23266366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65610E2-8E89-9EFF-7C07-C146475D76A6}"/>
              </a:ext>
            </a:extLst>
          </p:cNvPr>
          <p:cNvSpPr>
            <a:spLocks noGrp="1"/>
          </p:cNvSpPr>
          <p:nvPr>
            <p:ph type="sldNum" sz="quarter" idx="12"/>
          </p:nvPr>
        </p:nvSpPr>
        <p:spPr/>
        <p:txBody>
          <a:bodyPr/>
          <a:lstStyle/>
          <a:p>
            <a:fld id="{C795FC6A-1DDE-4D80-97D7-06017F2A69D1}" type="slidenum">
              <a:rPr lang="en-US" smtClean="0"/>
              <a:t>25</a:t>
            </a:fld>
            <a:endParaRPr lang="en-US"/>
          </a:p>
        </p:txBody>
      </p:sp>
      <p:pic>
        <p:nvPicPr>
          <p:cNvPr id="4" name="Picture 3">
            <a:extLst>
              <a:ext uri="{FF2B5EF4-FFF2-40B4-BE49-F238E27FC236}">
                <a16:creationId xmlns:a16="http://schemas.microsoft.com/office/drawing/2014/main" id="{6B01ABD4-4F68-CB84-2535-B86FE4324455}"/>
              </a:ext>
            </a:extLst>
          </p:cNvPr>
          <p:cNvPicPr>
            <a:picLocks noChangeAspect="1"/>
          </p:cNvPicPr>
          <p:nvPr/>
        </p:nvPicPr>
        <p:blipFill>
          <a:blip r:embed="rId2"/>
          <a:srcRect r="29416"/>
          <a:stretch/>
        </p:blipFill>
        <p:spPr>
          <a:xfrm>
            <a:off x="395278" y="717638"/>
            <a:ext cx="11401443" cy="5422724"/>
          </a:xfrm>
          <a:prstGeom prst="rect">
            <a:avLst/>
          </a:prstGeom>
        </p:spPr>
      </p:pic>
    </p:spTree>
    <p:extLst>
      <p:ext uri="{BB962C8B-B14F-4D97-AF65-F5344CB8AC3E}">
        <p14:creationId xmlns:p14="http://schemas.microsoft.com/office/powerpoint/2010/main" val="33638821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ED408FF-CF9E-71DE-4309-570DF3AB4F7E}"/>
              </a:ext>
            </a:extLst>
          </p:cNvPr>
          <p:cNvSpPr>
            <a:spLocks noGrp="1"/>
          </p:cNvSpPr>
          <p:nvPr>
            <p:ph type="sldNum" sz="quarter" idx="12"/>
          </p:nvPr>
        </p:nvSpPr>
        <p:spPr/>
        <p:txBody>
          <a:bodyPr/>
          <a:lstStyle/>
          <a:p>
            <a:fld id="{C795FC6A-1DDE-4D80-97D7-06017F2A69D1}" type="slidenum">
              <a:rPr lang="en-US" smtClean="0"/>
              <a:t>26</a:t>
            </a:fld>
            <a:endParaRPr lang="en-US"/>
          </a:p>
        </p:txBody>
      </p:sp>
      <p:pic>
        <p:nvPicPr>
          <p:cNvPr id="4" name="Picture 3">
            <a:extLst>
              <a:ext uri="{FF2B5EF4-FFF2-40B4-BE49-F238E27FC236}">
                <a16:creationId xmlns:a16="http://schemas.microsoft.com/office/drawing/2014/main" id="{5A8905B4-1615-1030-62A0-C8F1F31175CA}"/>
              </a:ext>
            </a:extLst>
          </p:cNvPr>
          <p:cNvPicPr>
            <a:picLocks noChangeAspect="1"/>
          </p:cNvPicPr>
          <p:nvPr/>
        </p:nvPicPr>
        <p:blipFill>
          <a:blip r:embed="rId2"/>
          <a:srcRect r="30388"/>
          <a:stretch/>
        </p:blipFill>
        <p:spPr>
          <a:xfrm>
            <a:off x="1125606" y="508100"/>
            <a:ext cx="9771519" cy="5753337"/>
          </a:xfrm>
          <a:prstGeom prst="rect">
            <a:avLst/>
          </a:prstGeom>
        </p:spPr>
      </p:pic>
    </p:spTree>
    <p:extLst>
      <p:ext uri="{BB962C8B-B14F-4D97-AF65-F5344CB8AC3E}">
        <p14:creationId xmlns:p14="http://schemas.microsoft.com/office/powerpoint/2010/main" val="18553003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66E8552-C28B-F6B6-7D9C-921C748A4455}"/>
              </a:ext>
            </a:extLst>
          </p:cNvPr>
          <p:cNvSpPr>
            <a:spLocks noGrp="1"/>
          </p:cNvSpPr>
          <p:nvPr>
            <p:ph type="sldNum" sz="quarter" idx="12"/>
          </p:nvPr>
        </p:nvSpPr>
        <p:spPr/>
        <p:txBody>
          <a:bodyPr/>
          <a:lstStyle/>
          <a:p>
            <a:fld id="{C795FC6A-1DDE-4D80-97D7-06017F2A69D1}" type="slidenum">
              <a:rPr lang="en-US" smtClean="0"/>
              <a:t>27</a:t>
            </a:fld>
            <a:endParaRPr lang="en-US"/>
          </a:p>
        </p:txBody>
      </p:sp>
      <p:sp>
        <p:nvSpPr>
          <p:cNvPr id="4" name="TextBox 3">
            <a:extLst>
              <a:ext uri="{FF2B5EF4-FFF2-40B4-BE49-F238E27FC236}">
                <a16:creationId xmlns:a16="http://schemas.microsoft.com/office/drawing/2014/main" id="{D38E2D02-F18E-393D-FF44-C2227F5AC985}"/>
              </a:ext>
            </a:extLst>
          </p:cNvPr>
          <p:cNvSpPr txBox="1"/>
          <p:nvPr/>
        </p:nvSpPr>
        <p:spPr>
          <a:xfrm>
            <a:off x="163566" y="107079"/>
            <a:ext cx="11810343" cy="3231654"/>
          </a:xfrm>
          <a:prstGeom prst="rect">
            <a:avLst/>
          </a:prstGeom>
          <a:noFill/>
        </p:spPr>
        <p:txBody>
          <a:bodyPr wrap="square">
            <a:spAutoFit/>
          </a:bodyPr>
          <a:lstStyle/>
          <a:p>
            <a:r>
              <a:rPr lang="en-US" sz="2400" b="1" dirty="0"/>
              <a:t>How many clusters of grain?</a:t>
            </a:r>
          </a:p>
          <a:p>
            <a:r>
              <a:rPr lang="en-US" dirty="0"/>
              <a:t>You learned how to choose a good number of clusters for a dataset using the k-means inertia graph. You are given an array of samples (</a:t>
            </a:r>
            <a:r>
              <a:rPr lang="en-US" dirty="0">
                <a:highlight>
                  <a:srgbClr val="00FF00"/>
                </a:highlight>
              </a:rPr>
              <a:t>loaded from seeds.csv and do not forget to convert the data into NumPy array</a:t>
            </a:r>
            <a:r>
              <a:rPr lang="en-US" dirty="0"/>
              <a:t>) containing the measurements (such as area, perimeter, length, and several others) of samples of grain. What's a good number of clusters in this case?</a:t>
            </a:r>
          </a:p>
          <a:p>
            <a:endParaRPr lang="en-US" dirty="0"/>
          </a:p>
          <a:p>
            <a:pPr marL="285750" indent="-285750">
              <a:buFont typeface="Arial" panose="020B0604020202020204" pitchFamily="34" charset="0"/>
              <a:buChar char="•"/>
            </a:pPr>
            <a:r>
              <a:rPr lang="en-US" dirty="0"/>
              <a:t>For each of the given values of k (1 to 10), perform the following steps:</a:t>
            </a:r>
          </a:p>
          <a:p>
            <a:pPr marL="285750" indent="-285750">
              <a:buFont typeface="Arial" panose="020B0604020202020204" pitchFamily="34" charset="0"/>
              <a:buChar char="•"/>
            </a:pPr>
            <a:r>
              <a:rPr lang="en-US" dirty="0"/>
              <a:t>Create a </a:t>
            </a:r>
            <a:r>
              <a:rPr lang="en-US" dirty="0" err="1"/>
              <a:t>KMeans</a:t>
            </a:r>
            <a:r>
              <a:rPr lang="en-US" dirty="0"/>
              <a:t> instance called model with k clusters.</a:t>
            </a:r>
          </a:p>
          <a:p>
            <a:pPr marL="285750" indent="-285750">
              <a:buFont typeface="Arial" panose="020B0604020202020204" pitchFamily="34" charset="0"/>
              <a:buChar char="•"/>
            </a:pPr>
            <a:r>
              <a:rPr lang="en-US" dirty="0"/>
              <a:t>Fit the model to the grain data samples.</a:t>
            </a:r>
          </a:p>
          <a:p>
            <a:pPr marL="285750" indent="-285750">
              <a:buFont typeface="Arial" panose="020B0604020202020204" pitchFamily="34" charset="0"/>
              <a:buChar char="•"/>
            </a:pPr>
            <a:r>
              <a:rPr lang="en-US" dirty="0"/>
              <a:t>Append the value of the inertia_ attribute of model to the list inertias.</a:t>
            </a:r>
          </a:p>
          <a:p>
            <a:pPr marL="285750" indent="-285750">
              <a:buFont typeface="Arial" panose="020B0604020202020204" pitchFamily="34" charset="0"/>
              <a:buChar char="•"/>
            </a:pPr>
            <a:r>
              <a:rPr lang="en-US" dirty="0"/>
              <a:t>Then plot!</a:t>
            </a:r>
          </a:p>
          <a:p>
            <a:endParaRPr lang="en-US" dirty="0"/>
          </a:p>
        </p:txBody>
      </p:sp>
      <p:sp>
        <p:nvSpPr>
          <p:cNvPr id="7" name="TextBox 6">
            <a:extLst>
              <a:ext uri="{FF2B5EF4-FFF2-40B4-BE49-F238E27FC236}">
                <a16:creationId xmlns:a16="http://schemas.microsoft.com/office/drawing/2014/main" id="{08F69523-A5F2-62C0-D961-10E419A35E6E}"/>
              </a:ext>
            </a:extLst>
          </p:cNvPr>
          <p:cNvSpPr txBox="1"/>
          <p:nvPr/>
        </p:nvSpPr>
        <p:spPr>
          <a:xfrm>
            <a:off x="4454940" y="2763744"/>
            <a:ext cx="7466944" cy="4154984"/>
          </a:xfrm>
          <a:prstGeom prst="rect">
            <a:avLst/>
          </a:prstGeom>
          <a:noFill/>
        </p:spPr>
        <p:txBody>
          <a:bodyPr wrap="square">
            <a:spAutoFit/>
          </a:bodyPr>
          <a:lstStyle/>
          <a:p>
            <a:r>
              <a:rPr lang="en-US" sz="1600" dirty="0" err="1"/>
              <a:t>seedsDF</a:t>
            </a:r>
            <a:r>
              <a:rPr lang="en-US" sz="1600" dirty="0"/>
              <a:t> = </a:t>
            </a:r>
            <a:r>
              <a:rPr lang="en-US" sz="1600" dirty="0" err="1"/>
              <a:t>pd.read_csv</a:t>
            </a:r>
            <a:r>
              <a:rPr lang="en-US" sz="1600" dirty="0"/>
              <a:t>('seeds.csv’)</a:t>
            </a:r>
          </a:p>
          <a:p>
            <a:r>
              <a:rPr lang="en-US" sz="1600" dirty="0"/>
              <a:t>seeds = seedsDF.to______ #convert to </a:t>
            </a:r>
            <a:r>
              <a:rPr lang="en-US" sz="1600" dirty="0" err="1"/>
              <a:t>numpy</a:t>
            </a:r>
            <a:endParaRPr lang="en-US" sz="1600" dirty="0"/>
          </a:p>
          <a:p>
            <a:r>
              <a:rPr lang="en-US" sz="1600" dirty="0" err="1"/>
              <a:t>ks</a:t>
            </a:r>
            <a:r>
              <a:rPr lang="en-US" sz="1600" dirty="0"/>
              <a:t> = range(1, 10)</a:t>
            </a:r>
          </a:p>
          <a:p>
            <a:r>
              <a:rPr lang="en-US" sz="1600" dirty="0"/>
              <a:t>inertias = []</a:t>
            </a:r>
          </a:p>
          <a:p>
            <a:r>
              <a:rPr lang="en-US" sz="1600" dirty="0"/>
              <a:t>	for k in </a:t>
            </a:r>
            <a:r>
              <a:rPr lang="en-US" sz="1600" dirty="0" err="1"/>
              <a:t>ks</a:t>
            </a:r>
            <a:r>
              <a:rPr lang="en-US" sz="1600" dirty="0"/>
              <a:t>:    # Create a </a:t>
            </a:r>
            <a:r>
              <a:rPr lang="en-US" sz="1600" dirty="0" err="1"/>
              <a:t>KMeans</a:t>
            </a:r>
            <a:r>
              <a:rPr lang="en-US" sz="1600" dirty="0"/>
              <a:t> instance with k clusters: model</a:t>
            </a:r>
          </a:p>
          <a:p>
            <a:r>
              <a:rPr lang="en-US" sz="1600" dirty="0"/>
              <a:t>		model = ___________        </a:t>
            </a:r>
          </a:p>
          <a:p>
            <a:r>
              <a:rPr lang="en-US" sz="1600" dirty="0"/>
              <a:t>		# Fit model to seeds    </a:t>
            </a:r>
          </a:p>
          <a:p>
            <a:r>
              <a:rPr lang="en-US" sz="1600" dirty="0"/>
              <a:t>		</a:t>
            </a:r>
            <a:r>
              <a:rPr lang="en-US" sz="1600" dirty="0" err="1"/>
              <a:t>model.fit</a:t>
            </a:r>
            <a:r>
              <a:rPr lang="en-US" sz="1600" dirty="0"/>
              <a:t>(__________)        </a:t>
            </a:r>
          </a:p>
          <a:p>
            <a:r>
              <a:rPr lang="en-US" sz="1600" dirty="0"/>
              <a:t>		# Append the inertia to the list of inertias    				inertias.__________(</a:t>
            </a:r>
            <a:r>
              <a:rPr lang="en-US" sz="1600" dirty="0" err="1"/>
              <a:t>model.inertia</a:t>
            </a:r>
            <a:r>
              <a:rPr lang="en-US" sz="1600" dirty="0"/>
              <a:t>_)    </a:t>
            </a:r>
          </a:p>
          <a:p>
            <a:r>
              <a:rPr lang="en-US" sz="1600" dirty="0"/>
              <a:t># Plot </a:t>
            </a:r>
            <a:r>
              <a:rPr lang="en-US" sz="1600" dirty="0" err="1"/>
              <a:t>ks</a:t>
            </a:r>
            <a:r>
              <a:rPr lang="en-US" sz="1600" dirty="0"/>
              <a:t> vs inertias</a:t>
            </a:r>
          </a:p>
          <a:p>
            <a:r>
              <a:rPr lang="en-US" sz="1600" dirty="0" err="1"/>
              <a:t>plt.plot</a:t>
            </a:r>
            <a:r>
              <a:rPr lang="en-US" sz="1600" dirty="0"/>
              <a:t>(</a:t>
            </a:r>
            <a:r>
              <a:rPr lang="en-US" sz="1600" dirty="0" err="1"/>
              <a:t>ks</a:t>
            </a:r>
            <a:r>
              <a:rPr lang="en-US" sz="1600" dirty="0"/>
              <a:t>, inertias, '-o’)</a:t>
            </a:r>
          </a:p>
          <a:p>
            <a:r>
              <a:rPr lang="en-US" sz="1600" dirty="0" err="1"/>
              <a:t>plt.xlabel</a:t>
            </a:r>
            <a:r>
              <a:rPr lang="en-US" sz="1600" dirty="0"/>
              <a:t>('number of clusters, k’)</a:t>
            </a:r>
          </a:p>
          <a:p>
            <a:r>
              <a:rPr lang="en-US" sz="1600" dirty="0" err="1"/>
              <a:t>plt.ylabel</a:t>
            </a:r>
            <a:r>
              <a:rPr lang="en-US" sz="1600" dirty="0"/>
              <a:t>('inertia’)</a:t>
            </a:r>
          </a:p>
          <a:p>
            <a:r>
              <a:rPr lang="en-US" sz="1600" dirty="0" err="1"/>
              <a:t>plt.xticks</a:t>
            </a:r>
            <a:r>
              <a:rPr lang="en-US" sz="1600" dirty="0"/>
              <a:t>(</a:t>
            </a:r>
            <a:r>
              <a:rPr lang="en-US" sz="1600" dirty="0" err="1"/>
              <a:t>ks</a:t>
            </a:r>
            <a:r>
              <a:rPr lang="en-US" sz="1600" dirty="0"/>
              <a:t>)</a:t>
            </a:r>
          </a:p>
          <a:p>
            <a:r>
              <a:rPr lang="en-US" sz="1600" dirty="0" err="1"/>
              <a:t>plt.show</a:t>
            </a:r>
            <a:r>
              <a:rPr lang="en-US" sz="1600" dirty="0"/>
              <a:t>()</a:t>
            </a:r>
          </a:p>
        </p:txBody>
      </p:sp>
      <p:pic>
        <p:nvPicPr>
          <p:cNvPr id="9" name="Picture 8">
            <a:extLst>
              <a:ext uri="{FF2B5EF4-FFF2-40B4-BE49-F238E27FC236}">
                <a16:creationId xmlns:a16="http://schemas.microsoft.com/office/drawing/2014/main" id="{32D2D2AA-6DBA-C4CF-0716-AB360207A9BE}"/>
              </a:ext>
            </a:extLst>
          </p:cNvPr>
          <p:cNvPicPr>
            <a:picLocks noChangeAspect="1"/>
          </p:cNvPicPr>
          <p:nvPr/>
        </p:nvPicPr>
        <p:blipFill>
          <a:blip r:embed="rId2"/>
          <a:stretch>
            <a:fillRect/>
          </a:stretch>
        </p:blipFill>
        <p:spPr>
          <a:xfrm>
            <a:off x="281152" y="3597384"/>
            <a:ext cx="3779586" cy="2758966"/>
          </a:xfrm>
          <a:prstGeom prst="rect">
            <a:avLst/>
          </a:prstGeom>
        </p:spPr>
      </p:pic>
    </p:spTree>
    <p:extLst>
      <p:ext uri="{BB962C8B-B14F-4D97-AF65-F5344CB8AC3E}">
        <p14:creationId xmlns:p14="http://schemas.microsoft.com/office/powerpoint/2010/main" val="39095208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ABA0955-9E5E-DB38-A04D-3D541D87542D}"/>
              </a:ext>
            </a:extLst>
          </p:cNvPr>
          <p:cNvSpPr>
            <a:spLocks noGrp="1"/>
          </p:cNvSpPr>
          <p:nvPr>
            <p:ph type="sldNum" sz="quarter" idx="12"/>
          </p:nvPr>
        </p:nvSpPr>
        <p:spPr/>
        <p:txBody>
          <a:bodyPr/>
          <a:lstStyle/>
          <a:p>
            <a:fld id="{C795FC6A-1DDE-4D80-97D7-06017F2A69D1}" type="slidenum">
              <a:rPr lang="en-US" smtClean="0"/>
              <a:t>28</a:t>
            </a:fld>
            <a:endParaRPr lang="en-US"/>
          </a:p>
        </p:txBody>
      </p:sp>
      <p:sp>
        <p:nvSpPr>
          <p:cNvPr id="4" name="TextBox 3">
            <a:extLst>
              <a:ext uri="{FF2B5EF4-FFF2-40B4-BE49-F238E27FC236}">
                <a16:creationId xmlns:a16="http://schemas.microsoft.com/office/drawing/2014/main" id="{1E8458C6-3FA2-A04F-24E8-1E3D87A2AE29}"/>
              </a:ext>
            </a:extLst>
          </p:cNvPr>
          <p:cNvSpPr txBox="1"/>
          <p:nvPr/>
        </p:nvSpPr>
        <p:spPr>
          <a:xfrm>
            <a:off x="384285" y="228712"/>
            <a:ext cx="7611985" cy="3970318"/>
          </a:xfrm>
          <a:prstGeom prst="rect">
            <a:avLst/>
          </a:prstGeom>
          <a:noFill/>
        </p:spPr>
        <p:txBody>
          <a:bodyPr wrap="square">
            <a:spAutoFit/>
          </a:bodyPr>
          <a:lstStyle/>
          <a:p>
            <a:r>
              <a:rPr lang="en-US" dirty="0"/>
              <a:t>Seeds comprise seven geometric parameters of wheat kernels were measured: </a:t>
            </a:r>
          </a:p>
          <a:p>
            <a:r>
              <a:rPr lang="en-US" dirty="0"/>
              <a:t>1</a:t>
            </a:r>
            <a:r>
              <a:rPr lang="en-US" dirty="0">
                <a:highlight>
                  <a:srgbClr val="FFFF00"/>
                </a:highlight>
              </a:rPr>
              <a:t>. area A</a:t>
            </a:r>
            <a:r>
              <a:rPr lang="en-US" dirty="0"/>
              <a:t>,    #column 0</a:t>
            </a:r>
          </a:p>
          <a:p>
            <a:r>
              <a:rPr lang="en-US" dirty="0"/>
              <a:t>2. perimeter P, </a:t>
            </a:r>
          </a:p>
          <a:p>
            <a:r>
              <a:rPr lang="en-US" dirty="0"/>
              <a:t>3. compactness C = 4*pi*A/P^2, </a:t>
            </a:r>
          </a:p>
          <a:p>
            <a:r>
              <a:rPr lang="en-US" dirty="0"/>
              <a:t>4. length of kernel,</a:t>
            </a:r>
          </a:p>
          <a:p>
            <a:r>
              <a:rPr lang="en-US" dirty="0"/>
              <a:t>5. width of kernel,</a:t>
            </a:r>
          </a:p>
          <a:p>
            <a:r>
              <a:rPr lang="en-US" dirty="0"/>
              <a:t>6. asymmetry coefficient</a:t>
            </a:r>
          </a:p>
          <a:p>
            <a:r>
              <a:rPr lang="en-US" dirty="0"/>
              <a:t>7. length </a:t>
            </a:r>
            <a:r>
              <a:rPr lang="en-US" dirty="0">
                <a:highlight>
                  <a:srgbClr val="FFFF00"/>
                </a:highlight>
              </a:rPr>
              <a:t>of kernel groove</a:t>
            </a:r>
            <a:r>
              <a:rPr lang="en-US" dirty="0"/>
              <a:t>. #column 6</a:t>
            </a:r>
          </a:p>
          <a:p>
            <a:endParaRPr lang="en-US" dirty="0"/>
          </a:p>
          <a:p>
            <a:r>
              <a:rPr lang="en-US" dirty="0"/>
              <a:t>Do the scatter plot.</a:t>
            </a:r>
          </a:p>
          <a:p>
            <a:endParaRPr lang="en-US" dirty="0"/>
          </a:p>
          <a:p>
            <a:r>
              <a:rPr lang="en-US" dirty="0"/>
              <a:t>Try with different combinations of values for x and y.</a:t>
            </a:r>
          </a:p>
          <a:p>
            <a:endParaRPr lang="en-US" dirty="0"/>
          </a:p>
          <a:p>
            <a:r>
              <a:rPr lang="en-US" dirty="0"/>
              <a:t>In the given plot, x is the area, and y is the length of the kernel groove.</a:t>
            </a:r>
          </a:p>
        </p:txBody>
      </p:sp>
      <p:pic>
        <p:nvPicPr>
          <p:cNvPr id="6" name="Picture 5">
            <a:extLst>
              <a:ext uri="{FF2B5EF4-FFF2-40B4-BE49-F238E27FC236}">
                <a16:creationId xmlns:a16="http://schemas.microsoft.com/office/drawing/2014/main" id="{D2C3FCB1-ECE7-DD01-77BE-1393B1B3D92E}"/>
              </a:ext>
            </a:extLst>
          </p:cNvPr>
          <p:cNvPicPr>
            <a:picLocks noChangeAspect="1"/>
          </p:cNvPicPr>
          <p:nvPr/>
        </p:nvPicPr>
        <p:blipFill>
          <a:blip r:embed="rId2"/>
          <a:stretch>
            <a:fillRect/>
          </a:stretch>
        </p:blipFill>
        <p:spPr>
          <a:xfrm>
            <a:off x="7252534" y="3054733"/>
            <a:ext cx="4776556" cy="3484179"/>
          </a:xfrm>
          <a:prstGeom prst="rect">
            <a:avLst/>
          </a:prstGeom>
        </p:spPr>
      </p:pic>
    </p:spTree>
    <p:extLst>
      <p:ext uri="{BB962C8B-B14F-4D97-AF65-F5344CB8AC3E}">
        <p14:creationId xmlns:p14="http://schemas.microsoft.com/office/powerpoint/2010/main" val="8771280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BD874CD-ABEE-B871-8DD1-F4A749D1991E}"/>
              </a:ext>
            </a:extLst>
          </p:cNvPr>
          <p:cNvSpPr>
            <a:spLocks noGrp="1"/>
          </p:cNvSpPr>
          <p:nvPr>
            <p:ph type="sldNum" sz="quarter" idx="12"/>
          </p:nvPr>
        </p:nvSpPr>
        <p:spPr/>
        <p:txBody>
          <a:bodyPr/>
          <a:lstStyle/>
          <a:p>
            <a:fld id="{C795FC6A-1DDE-4D80-97D7-06017F2A69D1}" type="slidenum">
              <a:rPr lang="en-US" smtClean="0"/>
              <a:t>29</a:t>
            </a:fld>
            <a:endParaRPr lang="en-US"/>
          </a:p>
        </p:txBody>
      </p:sp>
      <p:sp>
        <p:nvSpPr>
          <p:cNvPr id="4" name="TextBox 3">
            <a:extLst>
              <a:ext uri="{FF2B5EF4-FFF2-40B4-BE49-F238E27FC236}">
                <a16:creationId xmlns:a16="http://schemas.microsoft.com/office/drawing/2014/main" id="{609A9A20-2876-2E64-753B-509D4E5A3EEB}"/>
              </a:ext>
            </a:extLst>
          </p:cNvPr>
          <p:cNvSpPr txBox="1"/>
          <p:nvPr/>
        </p:nvSpPr>
        <p:spPr>
          <a:xfrm>
            <a:off x="61092" y="120036"/>
            <a:ext cx="12038942" cy="1569660"/>
          </a:xfrm>
          <a:prstGeom prst="rect">
            <a:avLst/>
          </a:prstGeom>
          <a:noFill/>
        </p:spPr>
        <p:txBody>
          <a:bodyPr wrap="square">
            <a:spAutoFit/>
          </a:bodyPr>
          <a:lstStyle/>
          <a:p>
            <a:r>
              <a:rPr lang="en-US" sz="800" dirty="0"/>
              <a:t>varieties = ['Kama wheat', 'Kama wheat', 'Kama wheat', 'Kama wheat', 'Kama wheat', 'Kama wheat', 'Kama wheat', 'Kama wheat', 'Kama wheat', 'Kama wheat', 'Kama wheat', 'Kama wheat', 'Kama wheat', 'Kama wheat', 'Kama wheat', 'Kama wheat', 'Kama wheat', 'Kama wheat', 'Kama wheat', 'Kama wheat', 'Kama wheat', 'Kama wheat', 'Kama wheat', 'Kama wheat', 'Kama wheat', 'Kama wheat', 'Kama wheat', 'Kama wheat', 'Kama wheat', 'Kama wheat', 'Kama wheat', 'Kama wheat', 'Kama wheat', 'Kama wheat', 'Kama wheat', 'Kama wheat', 'Kama wheat', 'Kama wheat', 'Kama wheat', 'Kama wheat', 'Kama wheat', 'Kama wheat', 'Kama wheat', 'Kama wheat', 'Kama wheat', 'Kama wheat', 'Kama wheat', 'Kama wheat', 'Kama wheat', 'Kama wheat', 'Kama wheat', 'Kama wheat', 'Kama wheat', 'Kama wheat', 'Kama wheat', 'Kama wheat', 'Kama wheat', 'Kama wheat', 'Kama wheat', 'Kama wheat', 'Kama wheat', 'Kama wheat', 'Kama wheat', 'Kama wheat', 'Kama wheat', 'Kama wheat', 'Kama wheat', 'Kama wheat', 'Kama wheat', 'Kama wheat', 'Rosa wheat', 'Rosa wheat', 'Rosa wheat', 'Rosa wheat', 'Rosa wheat', 'Rosa wheat', 'Rosa wheat', 'Rosa wheat', 'Rosa wheat', 'Rosa wheat', 'Rosa wheat', 'Rosa wheat', 'Rosa wheat', 'Rosa wheat', 'Rosa wheat', 'Rosa wheat', 'Rosa wheat', 'Rosa wheat', 'Rosa wheat', 'Rosa wheat', 'Rosa wheat', 'Rosa wheat', 'Rosa wheat', 'Rosa wheat', 'Rosa wheat', 'Rosa wheat', 'Rosa wheat', 'Rosa wheat', 'Rosa wheat', 'Rosa wheat', 'Rosa wheat', 'Rosa wheat', 'Rosa wheat', 'Rosa wheat', 'Rosa wheat', 'Rosa wheat', 'Rosa wheat', 'Rosa wheat', 'Rosa wheat', 'Rosa wheat', 'Rosa wheat', 'Rosa wheat', 'Rosa wheat', 'Rosa wheat', 'Rosa wheat', 'Rosa wheat', 'Rosa wheat', 'Rosa wheat', 'Rosa wheat', 'Rosa wheat', 'Rosa wheat', 'Rosa wheat', 'Rosa wheat', 'Rosa wheat', 'Rosa wheat', 'Rosa wheat', 'Rosa wheat', 'Rosa wheat', 'Rosa wheat', 'Rosa wheat', 'Rosa wheat', 'Rosa wheat', 'Rosa wheat', 'Rosa wheat', 'Rosa wheat', 'Rosa wheat', 'Rosa wheat', 'Rosa wheat', 'Rosa wheat', 'Rosa wheat', 'Canadian wheat', 'Canadian wheat', 'Canadian wheat', 'Canadian wheat', 'Canadian wheat', 'Canadian wheat', 'Canadian wheat', 'Canadian wheat', 'Canadian wheat', 'Canadian wheat', 'Canadian wheat', 'Canadian wheat', 'Canadian wheat', 'Canadian wheat', 'Canadian wheat', 'Canadian wheat', 'Canadian wheat', 'Canadian wheat', 'Canadian wheat', 'Canadian wheat', 'Canadian wheat', 'Canadian wheat', 'Canadian wheat', 'Canadian wheat', 'Canadian wheat', 'Canadian wheat', 'Canadian wheat', 'Canadian wheat', 'Canadian wheat', 'Canadian wheat', 'Canadian wheat', 'Canadian wheat', 'Canadian wheat', 'Canadian wheat', 'Canadian wheat', 'Canadian wheat', 'Canadian wheat', 'Canadian wheat', 'Canadian wheat', 'Canadian wheat', 'Canadian wheat', 'Canadian wheat', 'Canadian wheat', 'Canadian wheat', 'Canadian wheat', 'Canadian wheat', 'Canadian wheat', 'Canadian wheat', 'Canadian wheat', 'Canadian wheat', 'Canadian wheat', 'Canadian wheat', 'Canadian wheat', 'Canadian wheat', 'Canadian wheat', 'Canadian wheat', 'Canadian wheat', 'Canadian wheat', 'Canadian wheat', 'Canadian wheat', 'Canadian wheat', 'Canadian wheat', 'Canadian wheat', 'Canadian wheat', 'Canadian wheat', 'Canadian wheat', 'Canadian wheat', 'Canadian wheat', 'Canadian wheat']</a:t>
            </a:r>
          </a:p>
        </p:txBody>
      </p:sp>
      <p:sp>
        <p:nvSpPr>
          <p:cNvPr id="8" name="TextBox 7">
            <a:extLst>
              <a:ext uri="{FF2B5EF4-FFF2-40B4-BE49-F238E27FC236}">
                <a16:creationId xmlns:a16="http://schemas.microsoft.com/office/drawing/2014/main" id="{F285444B-3F7E-A602-70B6-5CC6A8257C47}"/>
              </a:ext>
            </a:extLst>
          </p:cNvPr>
          <p:cNvSpPr txBox="1"/>
          <p:nvPr/>
        </p:nvSpPr>
        <p:spPr>
          <a:xfrm>
            <a:off x="61092" y="1847142"/>
            <a:ext cx="11818225" cy="4410823"/>
          </a:xfrm>
          <a:prstGeom prst="rect">
            <a:avLst/>
          </a:prstGeom>
          <a:noFill/>
        </p:spPr>
        <p:txBody>
          <a:bodyPr wrap="square">
            <a:spAutoFit/>
          </a:bodyPr>
          <a:lstStyle/>
          <a:p>
            <a:pPr>
              <a:lnSpc>
                <a:spcPts val="1575"/>
              </a:lnSpc>
            </a:pPr>
            <a:r>
              <a:rPr lang="en-US" b="0" dirty="0">
                <a:effectLst/>
                <a:latin typeface="JetBrainsMonoNL"/>
              </a:rPr>
              <a:t>#To see cross-</a:t>
            </a:r>
            <a:r>
              <a:rPr lang="en-US" b="0" dirty="0" err="1">
                <a:effectLst/>
                <a:latin typeface="JetBrainsMonoNL"/>
              </a:rPr>
              <a:t>tabluation</a:t>
            </a:r>
            <a:endParaRPr lang="en-US" b="0" dirty="0">
              <a:effectLst/>
              <a:latin typeface="JetBrainsMonoNL"/>
            </a:endParaRPr>
          </a:p>
          <a:p>
            <a:pPr>
              <a:lnSpc>
                <a:spcPts val="1575"/>
              </a:lnSpc>
            </a:pPr>
            <a:endParaRPr lang="en-US" dirty="0">
              <a:latin typeface="JetBrainsMonoNL"/>
            </a:endParaRPr>
          </a:p>
          <a:p>
            <a:pPr>
              <a:lnSpc>
                <a:spcPts val="1575"/>
              </a:lnSpc>
            </a:pPr>
            <a:r>
              <a:rPr lang="en-US" b="0" dirty="0">
                <a:effectLst/>
                <a:latin typeface="JetBrainsMonoNL"/>
              </a:rPr>
              <a:t># Create a </a:t>
            </a:r>
            <a:r>
              <a:rPr lang="en-US" b="0" dirty="0" err="1">
                <a:effectLst/>
                <a:latin typeface="JetBrainsMonoNL"/>
              </a:rPr>
              <a:t>KMeans</a:t>
            </a:r>
            <a:r>
              <a:rPr lang="en-US" b="0" dirty="0">
                <a:effectLst/>
                <a:latin typeface="JetBrainsMonoNL"/>
              </a:rPr>
              <a:t> model with 3 clusters: model</a:t>
            </a:r>
          </a:p>
          <a:p>
            <a:pPr>
              <a:lnSpc>
                <a:spcPts val="1575"/>
              </a:lnSpc>
            </a:pPr>
            <a:r>
              <a:rPr lang="en-US" b="0" dirty="0">
                <a:effectLst/>
                <a:latin typeface="JetBrainsMonoNL"/>
              </a:rPr>
              <a:t>model = </a:t>
            </a:r>
            <a:r>
              <a:rPr lang="en-US" b="0" dirty="0" err="1">
                <a:effectLst/>
                <a:latin typeface="JetBrainsMonoNL"/>
              </a:rPr>
              <a:t>KMeans</a:t>
            </a:r>
            <a:r>
              <a:rPr lang="en-US" b="0" dirty="0">
                <a:effectLst/>
                <a:latin typeface="JetBrainsMonoNL"/>
              </a:rPr>
              <a:t>(</a:t>
            </a:r>
            <a:r>
              <a:rPr lang="en-US" b="0" dirty="0" err="1">
                <a:effectLst/>
                <a:latin typeface="JetBrainsMonoNL"/>
              </a:rPr>
              <a:t>n_clusters</a:t>
            </a:r>
            <a:r>
              <a:rPr lang="en-US" b="0" dirty="0">
                <a:effectLst/>
                <a:latin typeface="JetBrainsMonoNL"/>
              </a:rPr>
              <a:t>=3)</a:t>
            </a:r>
          </a:p>
          <a:p>
            <a:pPr>
              <a:lnSpc>
                <a:spcPts val="1575"/>
              </a:lnSpc>
            </a:pPr>
            <a:br>
              <a:rPr lang="en-US" b="0" dirty="0">
                <a:effectLst/>
                <a:latin typeface="JetBrainsMonoNL"/>
              </a:rPr>
            </a:br>
            <a:r>
              <a:rPr lang="en-US" b="0" dirty="0">
                <a:effectLst/>
                <a:latin typeface="JetBrainsMonoNL"/>
              </a:rPr>
              <a:t># Use </a:t>
            </a:r>
            <a:r>
              <a:rPr lang="en-US" b="0" dirty="0" err="1">
                <a:effectLst/>
                <a:latin typeface="JetBrainsMonoNL"/>
              </a:rPr>
              <a:t>fit_predict</a:t>
            </a:r>
            <a:r>
              <a:rPr lang="en-US" b="0" dirty="0">
                <a:effectLst/>
                <a:latin typeface="JetBrainsMonoNL"/>
              </a:rPr>
              <a:t> to fit model and obtain cluster labels: labels</a:t>
            </a:r>
          </a:p>
          <a:p>
            <a:pPr>
              <a:lnSpc>
                <a:spcPts val="1575"/>
              </a:lnSpc>
            </a:pPr>
            <a:r>
              <a:rPr lang="en-US" b="0" dirty="0">
                <a:effectLst/>
                <a:latin typeface="JetBrainsMonoNL"/>
              </a:rPr>
              <a:t>labels = </a:t>
            </a:r>
            <a:r>
              <a:rPr lang="en-US" b="0" dirty="0" err="1">
                <a:effectLst/>
                <a:latin typeface="JetBrainsMonoNL"/>
              </a:rPr>
              <a:t>model.fit_predict</a:t>
            </a:r>
            <a:r>
              <a:rPr lang="en-US" b="0" dirty="0">
                <a:effectLst/>
                <a:latin typeface="JetBrainsMonoNL"/>
              </a:rPr>
              <a:t>(samples)</a:t>
            </a:r>
          </a:p>
          <a:p>
            <a:pPr>
              <a:lnSpc>
                <a:spcPts val="1575"/>
              </a:lnSpc>
            </a:pPr>
            <a:br>
              <a:rPr lang="en-US" b="0" dirty="0">
                <a:effectLst/>
                <a:latin typeface="JetBrainsMonoNL"/>
              </a:rPr>
            </a:br>
            <a:r>
              <a:rPr lang="en-US" b="0" dirty="0">
                <a:effectLst/>
                <a:latin typeface="JetBrainsMonoNL"/>
              </a:rPr>
              <a:t># Create a DataFrame with clusters and varieties as columns: </a:t>
            </a:r>
            <a:r>
              <a:rPr lang="en-US" b="0" dirty="0" err="1">
                <a:effectLst/>
                <a:latin typeface="JetBrainsMonoNL"/>
              </a:rPr>
              <a:t>df</a:t>
            </a:r>
            <a:endParaRPr lang="en-US" b="0" dirty="0">
              <a:effectLst/>
              <a:latin typeface="JetBrainsMonoNL"/>
            </a:endParaRPr>
          </a:p>
          <a:p>
            <a:pPr>
              <a:lnSpc>
                <a:spcPts val="1575"/>
              </a:lnSpc>
            </a:pPr>
            <a:r>
              <a:rPr lang="en-US" b="0" dirty="0" err="1">
                <a:effectLst/>
                <a:latin typeface="JetBrainsMonoNL"/>
              </a:rPr>
              <a:t>df</a:t>
            </a:r>
            <a:r>
              <a:rPr lang="en-US" b="0" dirty="0">
                <a:effectLst/>
                <a:latin typeface="JetBrainsMonoNL"/>
              </a:rPr>
              <a:t> = </a:t>
            </a:r>
            <a:r>
              <a:rPr lang="en-US" b="0" dirty="0" err="1">
                <a:effectLst/>
                <a:latin typeface="JetBrainsMonoNL"/>
              </a:rPr>
              <a:t>pd.DataFrame</a:t>
            </a:r>
            <a:r>
              <a:rPr lang="en-US" b="0" dirty="0">
                <a:effectLst/>
                <a:latin typeface="JetBrainsMonoNL"/>
              </a:rPr>
              <a:t>({'labels': labels, 'varieties': varieties})</a:t>
            </a:r>
          </a:p>
          <a:p>
            <a:pPr>
              <a:lnSpc>
                <a:spcPts val="1575"/>
              </a:lnSpc>
            </a:pPr>
            <a:br>
              <a:rPr lang="en-US" b="0" dirty="0">
                <a:effectLst/>
                <a:latin typeface="JetBrainsMonoNL"/>
              </a:rPr>
            </a:br>
            <a:r>
              <a:rPr lang="en-US" b="0" dirty="0">
                <a:effectLst/>
                <a:latin typeface="JetBrainsMonoNL"/>
              </a:rPr>
              <a:t># Create crosstab: </a:t>
            </a:r>
            <a:r>
              <a:rPr lang="en-US" b="0" dirty="0" err="1">
                <a:effectLst/>
                <a:latin typeface="JetBrainsMonoNL"/>
              </a:rPr>
              <a:t>ct</a:t>
            </a:r>
            <a:endParaRPr lang="en-US" b="0" dirty="0">
              <a:effectLst/>
              <a:latin typeface="JetBrainsMonoNL"/>
            </a:endParaRPr>
          </a:p>
          <a:p>
            <a:pPr>
              <a:lnSpc>
                <a:spcPts val="1575"/>
              </a:lnSpc>
            </a:pPr>
            <a:r>
              <a:rPr lang="en-US" b="0" dirty="0" err="1">
                <a:effectLst/>
                <a:latin typeface="JetBrainsMonoNL"/>
              </a:rPr>
              <a:t>ct</a:t>
            </a:r>
            <a:r>
              <a:rPr lang="en-US" b="0" dirty="0">
                <a:effectLst/>
                <a:latin typeface="JetBrainsMonoNL"/>
              </a:rPr>
              <a:t> = </a:t>
            </a:r>
            <a:r>
              <a:rPr lang="en-US" b="0" dirty="0" err="1">
                <a:effectLst/>
                <a:latin typeface="JetBrainsMonoNL"/>
              </a:rPr>
              <a:t>pd.crosstab</a:t>
            </a:r>
            <a:r>
              <a:rPr lang="en-US" b="0" dirty="0">
                <a:effectLst/>
                <a:latin typeface="JetBrainsMonoNL"/>
              </a:rPr>
              <a:t>(</a:t>
            </a:r>
            <a:r>
              <a:rPr lang="en-US" b="0" dirty="0" err="1">
                <a:effectLst/>
                <a:latin typeface="JetBrainsMonoNL"/>
              </a:rPr>
              <a:t>df</a:t>
            </a:r>
            <a:r>
              <a:rPr lang="en-US" b="0" dirty="0">
                <a:effectLst/>
                <a:latin typeface="JetBrainsMonoNL"/>
              </a:rPr>
              <a:t>['labels'], </a:t>
            </a:r>
            <a:r>
              <a:rPr lang="en-US" b="0" dirty="0" err="1">
                <a:effectLst/>
                <a:latin typeface="JetBrainsMonoNL"/>
              </a:rPr>
              <a:t>df</a:t>
            </a:r>
            <a:r>
              <a:rPr lang="en-US" b="0" dirty="0">
                <a:effectLst/>
                <a:latin typeface="JetBrainsMonoNL"/>
              </a:rPr>
              <a:t>['varieties'])</a:t>
            </a:r>
          </a:p>
          <a:p>
            <a:pPr>
              <a:lnSpc>
                <a:spcPts val="1575"/>
              </a:lnSpc>
            </a:pPr>
            <a:br>
              <a:rPr lang="en-US" b="0" dirty="0">
                <a:effectLst/>
                <a:latin typeface="JetBrainsMonoNL"/>
              </a:rPr>
            </a:br>
            <a:r>
              <a:rPr lang="en-US" b="0" dirty="0">
                <a:effectLst/>
                <a:latin typeface="JetBrainsMonoNL"/>
              </a:rPr>
              <a:t># Display </a:t>
            </a:r>
            <a:r>
              <a:rPr lang="en-US" b="0" dirty="0" err="1">
                <a:effectLst/>
                <a:latin typeface="JetBrainsMonoNL"/>
              </a:rPr>
              <a:t>ct</a:t>
            </a:r>
            <a:endParaRPr lang="en-US" b="0" dirty="0">
              <a:effectLst/>
              <a:latin typeface="JetBrainsMonoNL"/>
            </a:endParaRPr>
          </a:p>
          <a:p>
            <a:pPr>
              <a:lnSpc>
                <a:spcPts val="1575"/>
              </a:lnSpc>
            </a:pPr>
            <a:r>
              <a:rPr lang="en-US" b="0" dirty="0">
                <a:effectLst/>
                <a:latin typeface="JetBrainsMonoNL"/>
              </a:rPr>
              <a:t>print(</a:t>
            </a:r>
            <a:r>
              <a:rPr lang="en-US" b="0" dirty="0" err="1">
                <a:effectLst/>
                <a:latin typeface="JetBrainsMonoNL"/>
              </a:rPr>
              <a:t>ct</a:t>
            </a:r>
            <a:r>
              <a:rPr lang="en-US" b="0" dirty="0">
                <a:effectLst/>
                <a:latin typeface="JetBrainsMonoNL"/>
              </a:rPr>
              <a:t>)</a:t>
            </a:r>
          </a:p>
          <a:p>
            <a:pPr>
              <a:lnSpc>
                <a:spcPts val="1575"/>
              </a:lnSpc>
            </a:pPr>
            <a:endParaRPr lang="en-US" dirty="0">
              <a:latin typeface="JetBrainsMonoNL"/>
            </a:endParaRPr>
          </a:p>
          <a:p>
            <a:pPr>
              <a:lnSpc>
                <a:spcPts val="1575"/>
              </a:lnSpc>
            </a:pPr>
            <a:endParaRPr lang="en-US" b="0" dirty="0">
              <a:effectLst/>
              <a:latin typeface="JetBrainsMonoNL"/>
            </a:endParaRPr>
          </a:p>
          <a:p>
            <a:pPr>
              <a:lnSpc>
                <a:spcPts val="1575"/>
              </a:lnSpc>
            </a:pPr>
            <a:endParaRPr lang="en-US" dirty="0">
              <a:latin typeface="JetBrainsMonoNL"/>
            </a:endParaRPr>
          </a:p>
          <a:p>
            <a:pPr>
              <a:lnSpc>
                <a:spcPts val="1575"/>
              </a:lnSpc>
            </a:pPr>
            <a:r>
              <a:rPr lang="en-US" b="0" dirty="0">
                <a:effectLst/>
                <a:highlight>
                  <a:srgbClr val="FF0000"/>
                </a:highlight>
                <a:latin typeface="JetBrainsMonoNL"/>
              </a:rPr>
              <a:t>Note: the values in the varieties array is not the exact match with the labels obtained from the model. This is provided as an example how to see the cross-tabulation.</a:t>
            </a:r>
          </a:p>
        </p:txBody>
      </p:sp>
      <p:pic>
        <p:nvPicPr>
          <p:cNvPr id="10" name="Picture 9">
            <a:extLst>
              <a:ext uri="{FF2B5EF4-FFF2-40B4-BE49-F238E27FC236}">
                <a16:creationId xmlns:a16="http://schemas.microsoft.com/office/drawing/2014/main" id="{4425A7F3-48A1-8FBC-8036-A85C6AA2FF14}"/>
              </a:ext>
            </a:extLst>
          </p:cNvPr>
          <p:cNvPicPr>
            <a:picLocks noChangeAspect="1"/>
          </p:cNvPicPr>
          <p:nvPr/>
        </p:nvPicPr>
        <p:blipFill>
          <a:blip r:embed="rId2"/>
          <a:stretch>
            <a:fillRect/>
          </a:stretch>
        </p:blipFill>
        <p:spPr>
          <a:xfrm>
            <a:off x="6683284" y="1852876"/>
            <a:ext cx="5196033" cy="1195160"/>
          </a:xfrm>
          <a:prstGeom prst="rect">
            <a:avLst/>
          </a:prstGeom>
        </p:spPr>
      </p:pic>
    </p:spTree>
    <p:extLst>
      <p:ext uri="{BB962C8B-B14F-4D97-AF65-F5344CB8AC3E}">
        <p14:creationId xmlns:p14="http://schemas.microsoft.com/office/powerpoint/2010/main" val="16590354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6DCEA6-68A9-F221-BBDA-1A4601BE6E18}"/>
              </a:ext>
            </a:extLst>
          </p:cNvPr>
          <p:cNvSpPr>
            <a:spLocks noGrp="1"/>
          </p:cNvSpPr>
          <p:nvPr>
            <p:ph type="title"/>
          </p:nvPr>
        </p:nvSpPr>
        <p:spPr/>
        <p:txBody>
          <a:bodyPr/>
          <a:lstStyle/>
          <a:p>
            <a:r>
              <a:rPr lang="en-US" dirty="0"/>
              <a:t>Transforming features for better clustering</a:t>
            </a:r>
          </a:p>
        </p:txBody>
      </p:sp>
      <p:sp>
        <p:nvSpPr>
          <p:cNvPr id="4" name="Slide Number Placeholder 3">
            <a:extLst>
              <a:ext uri="{FF2B5EF4-FFF2-40B4-BE49-F238E27FC236}">
                <a16:creationId xmlns:a16="http://schemas.microsoft.com/office/drawing/2014/main" id="{2D1582BC-2F17-2175-C6B3-A6CCEA81AD13}"/>
              </a:ext>
            </a:extLst>
          </p:cNvPr>
          <p:cNvSpPr>
            <a:spLocks noGrp="1"/>
          </p:cNvSpPr>
          <p:nvPr>
            <p:ph type="sldNum" sz="quarter" idx="12"/>
          </p:nvPr>
        </p:nvSpPr>
        <p:spPr/>
        <p:txBody>
          <a:bodyPr/>
          <a:lstStyle/>
          <a:p>
            <a:fld id="{C795FC6A-1DDE-4D80-97D7-06017F2A69D1}" type="slidenum">
              <a:rPr lang="en-US" smtClean="0"/>
              <a:t>30</a:t>
            </a:fld>
            <a:endParaRPr lang="en-US"/>
          </a:p>
        </p:txBody>
      </p:sp>
    </p:spTree>
    <p:extLst>
      <p:ext uri="{BB962C8B-B14F-4D97-AF65-F5344CB8AC3E}">
        <p14:creationId xmlns:p14="http://schemas.microsoft.com/office/powerpoint/2010/main" val="35652144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A046E30-0CB6-08FA-1A05-3839E668F9C3}"/>
              </a:ext>
            </a:extLst>
          </p:cNvPr>
          <p:cNvSpPr>
            <a:spLocks noGrp="1"/>
          </p:cNvSpPr>
          <p:nvPr>
            <p:ph type="sldNum" sz="quarter" idx="12"/>
          </p:nvPr>
        </p:nvSpPr>
        <p:spPr/>
        <p:txBody>
          <a:bodyPr/>
          <a:lstStyle/>
          <a:p>
            <a:fld id="{C795FC6A-1DDE-4D80-97D7-06017F2A69D1}" type="slidenum">
              <a:rPr lang="en-US" smtClean="0"/>
              <a:t>31</a:t>
            </a:fld>
            <a:endParaRPr lang="en-US"/>
          </a:p>
        </p:txBody>
      </p:sp>
      <p:pic>
        <p:nvPicPr>
          <p:cNvPr id="10" name="Picture 9">
            <a:extLst>
              <a:ext uri="{FF2B5EF4-FFF2-40B4-BE49-F238E27FC236}">
                <a16:creationId xmlns:a16="http://schemas.microsoft.com/office/drawing/2014/main" id="{996646E2-626A-D8B8-927C-0566BEE1077A}"/>
              </a:ext>
            </a:extLst>
          </p:cNvPr>
          <p:cNvPicPr>
            <a:picLocks noChangeAspect="1"/>
          </p:cNvPicPr>
          <p:nvPr/>
        </p:nvPicPr>
        <p:blipFill>
          <a:blip r:embed="rId2"/>
          <a:stretch>
            <a:fillRect/>
          </a:stretch>
        </p:blipFill>
        <p:spPr>
          <a:xfrm>
            <a:off x="708860" y="384378"/>
            <a:ext cx="10774279" cy="2448267"/>
          </a:xfrm>
          <a:prstGeom prst="rect">
            <a:avLst/>
          </a:prstGeom>
        </p:spPr>
      </p:pic>
      <p:pic>
        <p:nvPicPr>
          <p:cNvPr id="12" name="Picture 11">
            <a:extLst>
              <a:ext uri="{FF2B5EF4-FFF2-40B4-BE49-F238E27FC236}">
                <a16:creationId xmlns:a16="http://schemas.microsoft.com/office/drawing/2014/main" id="{F4E487C1-C144-0616-986B-C838D2DDD827}"/>
              </a:ext>
            </a:extLst>
          </p:cNvPr>
          <p:cNvPicPr>
            <a:picLocks noChangeAspect="1"/>
          </p:cNvPicPr>
          <p:nvPr/>
        </p:nvPicPr>
        <p:blipFill>
          <a:blip r:embed="rId3"/>
          <a:stretch>
            <a:fillRect/>
          </a:stretch>
        </p:blipFill>
        <p:spPr>
          <a:xfrm>
            <a:off x="732675" y="3527548"/>
            <a:ext cx="10726647" cy="2133898"/>
          </a:xfrm>
          <a:prstGeom prst="rect">
            <a:avLst/>
          </a:prstGeom>
        </p:spPr>
      </p:pic>
    </p:spTree>
    <p:extLst>
      <p:ext uri="{BB962C8B-B14F-4D97-AF65-F5344CB8AC3E}">
        <p14:creationId xmlns:p14="http://schemas.microsoft.com/office/powerpoint/2010/main" val="31509578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D60E427-4B6A-E82B-EA79-39845603EE80}"/>
              </a:ext>
            </a:extLst>
          </p:cNvPr>
          <p:cNvSpPr>
            <a:spLocks noGrp="1"/>
          </p:cNvSpPr>
          <p:nvPr>
            <p:ph type="sldNum" sz="quarter" idx="12"/>
          </p:nvPr>
        </p:nvSpPr>
        <p:spPr/>
        <p:txBody>
          <a:bodyPr/>
          <a:lstStyle/>
          <a:p>
            <a:fld id="{C795FC6A-1DDE-4D80-97D7-06017F2A69D1}" type="slidenum">
              <a:rPr lang="en-US" smtClean="0"/>
              <a:t>32</a:t>
            </a:fld>
            <a:endParaRPr lang="en-US"/>
          </a:p>
        </p:txBody>
      </p:sp>
      <p:pic>
        <p:nvPicPr>
          <p:cNvPr id="4" name="Picture 3">
            <a:extLst>
              <a:ext uri="{FF2B5EF4-FFF2-40B4-BE49-F238E27FC236}">
                <a16:creationId xmlns:a16="http://schemas.microsoft.com/office/drawing/2014/main" id="{85C42CB6-EA3B-43B3-8A55-844AD9046EB4}"/>
              </a:ext>
            </a:extLst>
          </p:cNvPr>
          <p:cNvPicPr>
            <a:picLocks noChangeAspect="1"/>
          </p:cNvPicPr>
          <p:nvPr/>
        </p:nvPicPr>
        <p:blipFill>
          <a:blip r:embed="rId2"/>
          <a:stretch>
            <a:fillRect/>
          </a:stretch>
        </p:blipFill>
        <p:spPr>
          <a:xfrm>
            <a:off x="766018" y="1037891"/>
            <a:ext cx="10659963" cy="4782217"/>
          </a:xfrm>
          <a:prstGeom prst="rect">
            <a:avLst/>
          </a:prstGeom>
        </p:spPr>
      </p:pic>
    </p:spTree>
    <p:extLst>
      <p:ext uri="{BB962C8B-B14F-4D97-AF65-F5344CB8AC3E}">
        <p14:creationId xmlns:p14="http://schemas.microsoft.com/office/powerpoint/2010/main" val="40216599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4B30D11-B83F-2844-24F3-1D9FB015CFE1}"/>
              </a:ext>
            </a:extLst>
          </p:cNvPr>
          <p:cNvSpPr>
            <a:spLocks noGrp="1"/>
          </p:cNvSpPr>
          <p:nvPr>
            <p:ph type="sldNum" sz="quarter" idx="12"/>
          </p:nvPr>
        </p:nvSpPr>
        <p:spPr/>
        <p:txBody>
          <a:bodyPr/>
          <a:lstStyle/>
          <a:p>
            <a:fld id="{C795FC6A-1DDE-4D80-97D7-06017F2A69D1}" type="slidenum">
              <a:rPr lang="en-US" smtClean="0"/>
              <a:t>33</a:t>
            </a:fld>
            <a:endParaRPr lang="en-US"/>
          </a:p>
        </p:txBody>
      </p:sp>
      <p:pic>
        <p:nvPicPr>
          <p:cNvPr id="4" name="Picture 3">
            <a:extLst>
              <a:ext uri="{FF2B5EF4-FFF2-40B4-BE49-F238E27FC236}">
                <a16:creationId xmlns:a16="http://schemas.microsoft.com/office/drawing/2014/main" id="{A3457F51-E1DD-85B1-0986-8C56E1AEC160}"/>
              </a:ext>
            </a:extLst>
          </p:cNvPr>
          <p:cNvPicPr>
            <a:picLocks noChangeAspect="1"/>
          </p:cNvPicPr>
          <p:nvPr/>
        </p:nvPicPr>
        <p:blipFill>
          <a:blip r:embed="rId2"/>
          <a:stretch>
            <a:fillRect/>
          </a:stretch>
        </p:blipFill>
        <p:spPr>
          <a:xfrm>
            <a:off x="818413" y="833075"/>
            <a:ext cx="10555173" cy="5191850"/>
          </a:xfrm>
          <a:prstGeom prst="rect">
            <a:avLst/>
          </a:prstGeom>
        </p:spPr>
      </p:pic>
    </p:spTree>
    <p:extLst>
      <p:ext uri="{BB962C8B-B14F-4D97-AF65-F5344CB8AC3E}">
        <p14:creationId xmlns:p14="http://schemas.microsoft.com/office/powerpoint/2010/main" val="24969936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31000CA-1A49-2A78-9D89-89AC0AB4EFC3}"/>
              </a:ext>
            </a:extLst>
          </p:cNvPr>
          <p:cNvSpPr>
            <a:spLocks noGrp="1"/>
          </p:cNvSpPr>
          <p:nvPr>
            <p:ph type="sldNum" sz="quarter" idx="12"/>
          </p:nvPr>
        </p:nvSpPr>
        <p:spPr/>
        <p:txBody>
          <a:bodyPr/>
          <a:lstStyle/>
          <a:p>
            <a:fld id="{C795FC6A-1DDE-4D80-97D7-06017F2A69D1}" type="slidenum">
              <a:rPr lang="en-US" smtClean="0"/>
              <a:t>34</a:t>
            </a:fld>
            <a:endParaRPr lang="en-US"/>
          </a:p>
        </p:txBody>
      </p:sp>
      <p:pic>
        <p:nvPicPr>
          <p:cNvPr id="4" name="Picture 3">
            <a:extLst>
              <a:ext uri="{FF2B5EF4-FFF2-40B4-BE49-F238E27FC236}">
                <a16:creationId xmlns:a16="http://schemas.microsoft.com/office/drawing/2014/main" id="{38CA9EEA-CBBC-D187-36F3-15D976E8608F}"/>
              </a:ext>
            </a:extLst>
          </p:cNvPr>
          <p:cNvPicPr>
            <a:picLocks noChangeAspect="1"/>
          </p:cNvPicPr>
          <p:nvPr/>
        </p:nvPicPr>
        <p:blipFill>
          <a:blip r:embed="rId2"/>
          <a:stretch>
            <a:fillRect/>
          </a:stretch>
        </p:blipFill>
        <p:spPr>
          <a:xfrm>
            <a:off x="699334" y="1090286"/>
            <a:ext cx="10793331" cy="4677428"/>
          </a:xfrm>
          <a:prstGeom prst="rect">
            <a:avLst/>
          </a:prstGeom>
        </p:spPr>
      </p:pic>
    </p:spTree>
    <p:extLst>
      <p:ext uri="{BB962C8B-B14F-4D97-AF65-F5344CB8AC3E}">
        <p14:creationId xmlns:p14="http://schemas.microsoft.com/office/powerpoint/2010/main" val="34619714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476BBBF-1D3B-B99F-633C-FBA7A523193F}"/>
              </a:ext>
            </a:extLst>
          </p:cNvPr>
          <p:cNvSpPr>
            <a:spLocks noGrp="1"/>
          </p:cNvSpPr>
          <p:nvPr>
            <p:ph type="sldNum" sz="quarter" idx="12"/>
          </p:nvPr>
        </p:nvSpPr>
        <p:spPr/>
        <p:txBody>
          <a:bodyPr/>
          <a:lstStyle/>
          <a:p>
            <a:fld id="{C795FC6A-1DDE-4D80-97D7-06017F2A69D1}" type="slidenum">
              <a:rPr lang="en-US" smtClean="0"/>
              <a:t>35</a:t>
            </a:fld>
            <a:endParaRPr lang="en-US"/>
          </a:p>
        </p:txBody>
      </p:sp>
      <p:pic>
        <p:nvPicPr>
          <p:cNvPr id="4" name="Picture 3">
            <a:extLst>
              <a:ext uri="{FF2B5EF4-FFF2-40B4-BE49-F238E27FC236}">
                <a16:creationId xmlns:a16="http://schemas.microsoft.com/office/drawing/2014/main" id="{ABEDC12C-FDEA-17B9-2003-8FA9F9E31C74}"/>
              </a:ext>
            </a:extLst>
          </p:cNvPr>
          <p:cNvPicPr>
            <a:picLocks noChangeAspect="1"/>
          </p:cNvPicPr>
          <p:nvPr/>
        </p:nvPicPr>
        <p:blipFill>
          <a:blip r:embed="rId2"/>
          <a:stretch>
            <a:fillRect/>
          </a:stretch>
        </p:blipFill>
        <p:spPr>
          <a:xfrm>
            <a:off x="608100" y="243454"/>
            <a:ext cx="10745700" cy="3029373"/>
          </a:xfrm>
          <a:prstGeom prst="rect">
            <a:avLst/>
          </a:prstGeom>
        </p:spPr>
      </p:pic>
      <p:pic>
        <p:nvPicPr>
          <p:cNvPr id="6" name="Picture 5">
            <a:extLst>
              <a:ext uri="{FF2B5EF4-FFF2-40B4-BE49-F238E27FC236}">
                <a16:creationId xmlns:a16="http://schemas.microsoft.com/office/drawing/2014/main" id="{06753795-EA11-016D-BE97-7CAEBCCAFEB4}"/>
              </a:ext>
            </a:extLst>
          </p:cNvPr>
          <p:cNvPicPr>
            <a:picLocks noChangeAspect="1"/>
          </p:cNvPicPr>
          <p:nvPr/>
        </p:nvPicPr>
        <p:blipFill>
          <a:blip r:embed="rId3"/>
          <a:stretch>
            <a:fillRect/>
          </a:stretch>
        </p:blipFill>
        <p:spPr>
          <a:xfrm>
            <a:off x="756492" y="3280907"/>
            <a:ext cx="10679015" cy="3258005"/>
          </a:xfrm>
          <a:prstGeom prst="rect">
            <a:avLst/>
          </a:prstGeom>
        </p:spPr>
      </p:pic>
    </p:spTree>
    <p:extLst>
      <p:ext uri="{BB962C8B-B14F-4D97-AF65-F5344CB8AC3E}">
        <p14:creationId xmlns:p14="http://schemas.microsoft.com/office/powerpoint/2010/main" val="11547601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A93A29F-2067-0751-D71B-F24F0EB5BA9C}"/>
              </a:ext>
            </a:extLst>
          </p:cNvPr>
          <p:cNvSpPr>
            <a:spLocks noGrp="1"/>
          </p:cNvSpPr>
          <p:nvPr>
            <p:ph type="sldNum" sz="quarter" idx="12"/>
          </p:nvPr>
        </p:nvSpPr>
        <p:spPr/>
        <p:txBody>
          <a:bodyPr/>
          <a:lstStyle/>
          <a:p>
            <a:fld id="{C795FC6A-1DDE-4D80-97D7-06017F2A69D1}" type="slidenum">
              <a:rPr lang="en-US" smtClean="0"/>
              <a:t>36</a:t>
            </a:fld>
            <a:endParaRPr lang="en-US"/>
          </a:p>
        </p:txBody>
      </p:sp>
      <p:pic>
        <p:nvPicPr>
          <p:cNvPr id="4" name="Picture 3">
            <a:extLst>
              <a:ext uri="{FF2B5EF4-FFF2-40B4-BE49-F238E27FC236}">
                <a16:creationId xmlns:a16="http://schemas.microsoft.com/office/drawing/2014/main" id="{5C1BD37C-C509-F1A6-F98B-F4EE4E7EF4AC}"/>
              </a:ext>
            </a:extLst>
          </p:cNvPr>
          <p:cNvPicPr>
            <a:picLocks noChangeAspect="1"/>
          </p:cNvPicPr>
          <p:nvPr/>
        </p:nvPicPr>
        <p:blipFill>
          <a:blip r:embed="rId2"/>
          <a:srcRect r="17942"/>
          <a:stretch/>
        </p:blipFill>
        <p:spPr>
          <a:xfrm>
            <a:off x="284593" y="281614"/>
            <a:ext cx="10618362" cy="6333597"/>
          </a:xfrm>
          <a:prstGeom prst="rect">
            <a:avLst/>
          </a:prstGeom>
        </p:spPr>
      </p:pic>
    </p:spTree>
    <p:extLst>
      <p:ext uri="{BB962C8B-B14F-4D97-AF65-F5344CB8AC3E}">
        <p14:creationId xmlns:p14="http://schemas.microsoft.com/office/powerpoint/2010/main" val="35967812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087C166-B0D0-87D0-AE2A-C5775BFC7BD3}"/>
              </a:ext>
            </a:extLst>
          </p:cNvPr>
          <p:cNvSpPr>
            <a:spLocks noGrp="1"/>
          </p:cNvSpPr>
          <p:nvPr>
            <p:ph type="sldNum" sz="quarter" idx="12"/>
          </p:nvPr>
        </p:nvSpPr>
        <p:spPr/>
        <p:txBody>
          <a:bodyPr/>
          <a:lstStyle/>
          <a:p>
            <a:fld id="{C795FC6A-1DDE-4D80-97D7-06017F2A69D1}" type="slidenum">
              <a:rPr lang="en-US" smtClean="0"/>
              <a:t>37</a:t>
            </a:fld>
            <a:endParaRPr lang="en-US"/>
          </a:p>
        </p:txBody>
      </p:sp>
      <p:sp>
        <p:nvSpPr>
          <p:cNvPr id="6" name="TextBox 5">
            <a:extLst>
              <a:ext uri="{FF2B5EF4-FFF2-40B4-BE49-F238E27FC236}">
                <a16:creationId xmlns:a16="http://schemas.microsoft.com/office/drawing/2014/main" id="{C45FCF74-CBDE-3A37-7ACC-79710B4985FB}"/>
              </a:ext>
            </a:extLst>
          </p:cNvPr>
          <p:cNvSpPr txBox="1"/>
          <p:nvPr/>
        </p:nvSpPr>
        <p:spPr>
          <a:xfrm>
            <a:off x="189115" y="152414"/>
            <a:ext cx="6097384" cy="5416868"/>
          </a:xfrm>
          <a:prstGeom prst="rect">
            <a:avLst/>
          </a:prstGeom>
          <a:noFill/>
        </p:spPr>
        <p:txBody>
          <a:bodyPr wrap="square">
            <a:spAutoFit/>
          </a:bodyPr>
          <a:lstStyle/>
          <a:p>
            <a:r>
              <a:rPr lang="en-US" sz="1600" dirty="0"/>
              <a:t>#Clustering without standardization</a:t>
            </a:r>
          </a:p>
          <a:p>
            <a:r>
              <a:rPr lang="en-US" sz="1600" dirty="0"/>
              <a:t>fish = </a:t>
            </a:r>
            <a:r>
              <a:rPr lang="en-US" sz="1600" dirty="0" err="1"/>
              <a:t>pd.read_csv</a:t>
            </a:r>
            <a:r>
              <a:rPr lang="en-US" sz="1600" dirty="0"/>
              <a:t>('fish.csv', header = None)</a:t>
            </a:r>
          </a:p>
          <a:p>
            <a:r>
              <a:rPr lang="en-US" sz="1600" dirty="0"/>
              <a:t>samples=fish.drop(0, axis=1)</a:t>
            </a:r>
          </a:p>
          <a:p>
            <a:r>
              <a:rPr lang="en-US" sz="1600" dirty="0" err="1"/>
              <a:t>samples.head</a:t>
            </a:r>
            <a:r>
              <a:rPr lang="en-US" sz="1600" dirty="0"/>
              <a:t>()</a:t>
            </a:r>
          </a:p>
          <a:p>
            <a:endParaRPr lang="en-US" sz="1600" dirty="0"/>
          </a:p>
          <a:p>
            <a:r>
              <a:rPr lang="en-US" sz="1600" dirty="0" err="1"/>
              <a:t>kmeans</a:t>
            </a:r>
            <a:r>
              <a:rPr lang="en-US" sz="1600" dirty="0"/>
              <a:t> = </a:t>
            </a:r>
            <a:r>
              <a:rPr lang="en-US" sz="1600" dirty="0" err="1"/>
              <a:t>KMeans</a:t>
            </a:r>
            <a:r>
              <a:rPr lang="en-US" sz="1600" dirty="0"/>
              <a:t>(</a:t>
            </a:r>
            <a:r>
              <a:rPr lang="en-US" sz="1600" dirty="0" err="1"/>
              <a:t>n_clusters</a:t>
            </a:r>
            <a:r>
              <a:rPr lang="en-US" sz="1600" dirty="0"/>
              <a:t>=4)</a:t>
            </a:r>
          </a:p>
          <a:p>
            <a:endParaRPr lang="en-US" sz="1600" dirty="0"/>
          </a:p>
          <a:p>
            <a:r>
              <a:rPr lang="en-US" sz="1600" dirty="0"/>
              <a:t># Fit the pipeline to samples</a:t>
            </a:r>
          </a:p>
          <a:p>
            <a:r>
              <a:rPr lang="en-US" sz="1600" dirty="0" err="1"/>
              <a:t>kmeans.fit</a:t>
            </a:r>
            <a:r>
              <a:rPr lang="en-US" sz="1600" dirty="0"/>
              <a:t>(samples)</a:t>
            </a:r>
          </a:p>
          <a:p>
            <a:endParaRPr lang="en-US" sz="1600" dirty="0"/>
          </a:p>
          <a:p>
            <a:r>
              <a:rPr lang="en-US" sz="1600" dirty="0"/>
              <a:t># Calculate the cluster labels: labels</a:t>
            </a:r>
          </a:p>
          <a:p>
            <a:r>
              <a:rPr lang="en-US" sz="1600" dirty="0"/>
              <a:t>labels = </a:t>
            </a:r>
            <a:r>
              <a:rPr lang="en-US" sz="1600" dirty="0" err="1"/>
              <a:t>kmeans.predict</a:t>
            </a:r>
            <a:r>
              <a:rPr lang="en-US" sz="1600" dirty="0"/>
              <a:t>(samples)</a:t>
            </a:r>
          </a:p>
          <a:p>
            <a:endParaRPr lang="en-US" sz="1600" dirty="0"/>
          </a:p>
          <a:p>
            <a:r>
              <a:rPr lang="en-US" sz="1600" dirty="0"/>
              <a:t># Create a DataFrame with labels and species as columns: </a:t>
            </a:r>
            <a:r>
              <a:rPr lang="en-US" sz="1600" dirty="0" err="1"/>
              <a:t>df</a:t>
            </a:r>
            <a:endParaRPr lang="en-US" sz="1600" dirty="0"/>
          </a:p>
          <a:p>
            <a:r>
              <a:rPr lang="en-US" sz="1600" dirty="0" err="1"/>
              <a:t>df</a:t>
            </a:r>
            <a:r>
              <a:rPr lang="en-US" sz="1600" dirty="0"/>
              <a:t> = </a:t>
            </a:r>
            <a:r>
              <a:rPr lang="en-US" sz="1600" dirty="0" err="1"/>
              <a:t>pd.DataFrame</a:t>
            </a:r>
            <a:r>
              <a:rPr lang="en-US" sz="1600" dirty="0"/>
              <a:t>({'labels': labels, 'species': species})</a:t>
            </a:r>
          </a:p>
          <a:p>
            <a:endParaRPr lang="en-US" sz="1600" dirty="0"/>
          </a:p>
          <a:p>
            <a:r>
              <a:rPr lang="en-US" sz="1600" dirty="0"/>
              <a:t># Create crosstab: </a:t>
            </a:r>
            <a:r>
              <a:rPr lang="en-US" sz="1600" dirty="0" err="1"/>
              <a:t>ct</a:t>
            </a:r>
            <a:endParaRPr lang="en-US" sz="1600" dirty="0"/>
          </a:p>
          <a:p>
            <a:r>
              <a:rPr lang="en-US" sz="1600" dirty="0" err="1"/>
              <a:t>ct</a:t>
            </a:r>
            <a:r>
              <a:rPr lang="en-US" sz="1600" dirty="0"/>
              <a:t> = </a:t>
            </a:r>
            <a:r>
              <a:rPr lang="en-US" sz="1600" dirty="0" err="1"/>
              <a:t>pd.crosstab</a:t>
            </a:r>
            <a:r>
              <a:rPr lang="en-US" sz="1600" dirty="0"/>
              <a:t>(</a:t>
            </a:r>
            <a:r>
              <a:rPr lang="en-US" sz="1600" dirty="0" err="1"/>
              <a:t>df</a:t>
            </a:r>
            <a:r>
              <a:rPr lang="en-US" sz="1600" dirty="0"/>
              <a:t>['labels'], </a:t>
            </a:r>
            <a:r>
              <a:rPr lang="en-US" sz="1600" dirty="0" err="1"/>
              <a:t>df</a:t>
            </a:r>
            <a:r>
              <a:rPr lang="en-US" sz="1600" dirty="0"/>
              <a:t>['species’])</a:t>
            </a:r>
          </a:p>
          <a:p>
            <a:endParaRPr lang="en-US" sz="1600" dirty="0"/>
          </a:p>
          <a:p>
            <a:r>
              <a:rPr lang="en-US" sz="1600" dirty="0"/>
              <a:t># Display </a:t>
            </a:r>
            <a:r>
              <a:rPr lang="en-US" sz="1600" dirty="0" err="1"/>
              <a:t>ct</a:t>
            </a:r>
            <a:endParaRPr lang="en-US" sz="1600" dirty="0"/>
          </a:p>
          <a:p>
            <a:r>
              <a:rPr lang="en-US" sz="1600" dirty="0"/>
              <a:t>print(</a:t>
            </a:r>
            <a:r>
              <a:rPr lang="en-US" sz="1600" dirty="0" err="1"/>
              <a:t>ct</a:t>
            </a:r>
            <a:r>
              <a:rPr lang="en-US" sz="1600" dirty="0"/>
              <a:t>)</a:t>
            </a:r>
          </a:p>
        </p:txBody>
      </p:sp>
      <p:pic>
        <p:nvPicPr>
          <p:cNvPr id="8" name="Picture 7">
            <a:extLst>
              <a:ext uri="{FF2B5EF4-FFF2-40B4-BE49-F238E27FC236}">
                <a16:creationId xmlns:a16="http://schemas.microsoft.com/office/drawing/2014/main" id="{D9C7CA3D-AE1A-C9CC-D24E-9057C4D9E36F}"/>
              </a:ext>
            </a:extLst>
          </p:cNvPr>
          <p:cNvPicPr>
            <a:picLocks noChangeAspect="1"/>
          </p:cNvPicPr>
          <p:nvPr/>
        </p:nvPicPr>
        <p:blipFill>
          <a:blip r:embed="rId2"/>
          <a:stretch>
            <a:fillRect/>
          </a:stretch>
        </p:blipFill>
        <p:spPr>
          <a:xfrm>
            <a:off x="6900528" y="698656"/>
            <a:ext cx="4791744" cy="1886213"/>
          </a:xfrm>
          <a:prstGeom prst="rect">
            <a:avLst/>
          </a:prstGeom>
        </p:spPr>
      </p:pic>
      <p:sp>
        <p:nvSpPr>
          <p:cNvPr id="10" name="TextBox 9">
            <a:extLst>
              <a:ext uri="{FF2B5EF4-FFF2-40B4-BE49-F238E27FC236}">
                <a16:creationId xmlns:a16="http://schemas.microsoft.com/office/drawing/2014/main" id="{9B3FA536-C27E-0357-4EAC-7BB697F6E2B9}"/>
              </a:ext>
            </a:extLst>
          </p:cNvPr>
          <p:cNvSpPr txBox="1"/>
          <p:nvPr/>
        </p:nvSpPr>
        <p:spPr>
          <a:xfrm>
            <a:off x="189114" y="5705812"/>
            <a:ext cx="10825249" cy="1015663"/>
          </a:xfrm>
          <a:prstGeom prst="rect">
            <a:avLst/>
          </a:prstGeom>
          <a:noFill/>
        </p:spPr>
        <p:txBody>
          <a:bodyPr wrap="square">
            <a:spAutoFit/>
          </a:bodyPr>
          <a:lstStyle/>
          <a:p>
            <a:r>
              <a:rPr lang="en-US" sz="1200" dirty="0"/>
              <a:t>species = ['Bream', 'Bream', 'Bream', 'Bream', 'Bream', 'Bream', 'Bream', 'Bream', 'Bream', 'Bream', 'Bream', 'Bream', 'Bream', 'Bream', 'Bream', 'Bream', 'Bream', 'Bream', 'Bream', 'Bream', 'Bream', 'Bream', 'Bream', 'Bream', 'Bream', 'Bream', 'Bream', 'Bream', 'Bream', 'Bream', 'Bream', 'Bream', 'Bream', 'Bream', 'Roach', 'Roach', 'Roach', 'Roach', 'Roach', 'Roach', 'Roach', 'Roach', 'Roach', 'Roach', 'Roach', 'Roach', 'Roach', 'Roach', 'Roach', 'Roach', 'Roach', 'Roach', 'Roach', 'Roach', 'Smelt', 'Smelt', 'Smelt', 'Smelt', 'Smelt', 'Smelt', 'Smelt', 'Smelt', 'Smelt', 'Smelt', 'Smelt', 'Smelt', 'Smelt', 'Smelt', 'Pike', 'Pike', 'Pike', 'Pike', 'Pike', 'Pike', 'Pike', 'Pike', 'Pike', 'Pike', 'Pike', 'Pike', 'Pike', 'Pike', 'Pike', 'Pike', 'Pike']</a:t>
            </a:r>
          </a:p>
        </p:txBody>
      </p:sp>
    </p:spTree>
    <p:extLst>
      <p:ext uri="{BB962C8B-B14F-4D97-AF65-F5344CB8AC3E}">
        <p14:creationId xmlns:p14="http://schemas.microsoft.com/office/powerpoint/2010/main" val="13506742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0E0759-A602-5B38-56CF-E9A8FA672377}"/>
              </a:ext>
            </a:extLst>
          </p:cNvPr>
          <p:cNvSpPr>
            <a:spLocks noGrp="1"/>
          </p:cNvSpPr>
          <p:nvPr>
            <p:ph type="title"/>
          </p:nvPr>
        </p:nvSpPr>
        <p:spPr/>
        <p:txBody>
          <a:bodyPr/>
          <a:lstStyle/>
          <a:p>
            <a:r>
              <a:rPr lang="en-US" dirty="0"/>
              <a:t>Scaling fish data for clustering</a:t>
            </a:r>
          </a:p>
        </p:txBody>
      </p:sp>
      <p:sp>
        <p:nvSpPr>
          <p:cNvPr id="3" name="Content Placeholder 2">
            <a:extLst>
              <a:ext uri="{FF2B5EF4-FFF2-40B4-BE49-F238E27FC236}">
                <a16:creationId xmlns:a16="http://schemas.microsoft.com/office/drawing/2014/main" id="{A569C9CC-B5AF-0EBC-4A81-D5165BA55D65}"/>
              </a:ext>
            </a:extLst>
          </p:cNvPr>
          <p:cNvSpPr>
            <a:spLocks noGrp="1"/>
          </p:cNvSpPr>
          <p:nvPr>
            <p:ph idx="1"/>
          </p:nvPr>
        </p:nvSpPr>
        <p:spPr/>
        <p:txBody>
          <a:bodyPr>
            <a:normAutofit/>
          </a:bodyPr>
          <a:lstStyle/>
          <a:p>
            <a:r>
              <a:rPr lang="en-US" sz="1800" dirty="0"/>
              <a:t>Each row represents an individual fish. The measurements, such as weight in grams, length in centimeters, and the percentage ratio of height to length, have very different scales. </a:t>
            </a:r>
          </a:p>
          <a:p>
            <a:r>
              <a:rPr lang="en-US" sz="1800" dirty="0"/>
              <a:t>In order to cluster this data effectively, you'll need to standardize these features first. In this exercise, you'll build a pipeline to standardize and cluster the data.</a:t>
            </a:r>
          </a:p>
          <a:p>
            <a:r>
              <a:rPr lang="en-US" sz="1800" dirty="0"/>
              <a:t>Load data from fish.csv. Drop a necessary column.</a:t>
            </a:r>
          </a:p>
          <a:p>
            <a:r>
              <a:rPr lang="en-US" sz="1800" dirty="0"/>
              <a:t>Import:</a:t>
            </a:r>
          </a:p>
          <a:p>
            <a:pPr lvl="1"/>
            <a:r>
              <a:rPr lang="en-US" sz="1400" dirty="0" err="1"/>
              <a:t>make_pipeline</a:t>
            </a:r>
            <a:r>
              <a:rPr lang="en-US" sz="1400" dirty="0"/>
              <a:t> from </a:t>
            </a:r>
            <a:r>
              <a:rPr lang="en-US" sz="1400" dirty="0" err="1"/>
              <a:t>sklearn.pipeline</a:t>
            </a:r>
            <a:r>
              <a:rPr lang="en-US" sz="1400" dirty="0"/>
              <a:t>.</a:t>
            </a:r>
          </a:p>
          <a:p>
            <a:pPr lvl="1"/>
            <a:r>
              <a:rPr lang="en-US" sz="1400" dirty="0" err="1"/>
              <a:t>StandardScaler</a:t>
            </a:r>
            <a:r>
              <a:rPr lang="en-US" sz="1400" dirty="0"/>
              <a:t> from </a:t>
            </a:r>
            <a:r>
              <a:rPr lang="en-US" sz="1400" dirty="0" err="1"/>
              <a:t>sklearn.preprocessing</a:t>
            </a:r>
            <a:r>
              <a:rPr lang="en-US" sz="1400" dirty="0"/>
              <a:t>.</a:t>
            </a:r>
          </a:p>
          <a:p>
            <a:pPr lvl="1"/>
            <a:r>
              <a:rPr lang="en-US" sz="1400" dirty="0" err="1"/>
              <a:t>KMeans</a:t>
            </a:r>
            <a:r>
              <a:rPr lang="en-US" sz="1400" dirty="0"/>
              <a:t> from </a:t>
            </a:r>
            <a:r>
              <a:rPr lang="en-US" sz="1400" dirty="0" err="1"/>
              <a:t>sklearn.cluster</a:t>
            </a:r>
            <a:r>
              <a:rPr lang="en-US" sz="1400" dirty="0"/>
              <a:t>.</a:t>
            </a:r>
          </a:p>
          <a:p>
            <a:r>
              <a:rPr lang="en-US" sz="1800" dirty="0"/>
              <a:t>Create an instance of </a:t>
            </a:r>
            <a:r>
              <a:rPr lang="en-US" sz="1800" dirty="0" err="1"/>
              <a:t>StandardScaler</a:t>
            </a:r>
            <a:r>
              <a:rPr lang="en-US" sz="1800" dirty="0"/>
              <a:t> called scaler.</a:t>
            </a:r>
          </a:p>
          <a:p>
            <a:r>
              <a:rPr lang="en-US" sz="1800" dirty="0"/>
              <a:t>Create an instance of </a:t>
            </a:r>
            <a:r>
              <a:rPr lang="en-US" sz="1800" dirty="0" err="1"/>
              <a:t>KMeans</a:t>
            </a:r>
            <a:r>
              <a:rPr lang="en-US" sz="1800" dirty="0"/>
              <a:t> with 4 clusters called </a:t>
            </a:r>
            <a:r>
              <a:rPr lang="en-US" sz="1800" dirty="0" err="1"/>
              <a:t>kmeans</a:t>
            </a:r>
            <a:r>
              <a:rPr lang="en-US" sz="1800" dirty="0"/>
              <a:t>.</a:t>
            </a:r>
          </a:p>
          <a:p>
            <a:r>
              <a:rPr lang="en-US" sz="1800" dirty="0"/>
              <a:t>Create a pipeline called pipeline that chains scaler and means. To do this, you just need to pass them in as arguments to </a:t>
            </a:r>
            <a:r>
              <a:rPr lang="en-US" sz="1800" dirty="0" err="1"/>
              <a:t>make_pipeline</a:t>
            </a:r>
            <a:r>
              <a:rPr lang="en-US" sz="1800" dirty="0"/>
              <a:t>().</a:t>
            </a:r>
          </a:p>
          <a:p>
            <a:endParaRPr lang="en-US" sz="1800" dirty="0"/>
          </a:p>
        </p:txBody>
      </p:sp>
      <p:sp>
        <p:nvSpPr>
          <p:cNvPr id="4" name="Slide Number Placeholder 3">
            <a:extLst>
              <a:ext uri="{FF2B5EF4-FFF2-40B4-BE49-F238E27FC236}">
                <a16:creationId xmlns:a16="http://schemas.microsoft.com/office/drawing/2014/main" id="{7CBFC667-D24D-E5FC-CAB6-FF413E2E1A28}"/>
              </a:ext>
            </a:extLst>
          </p:cNvPr>
          <p:cNvSpPr>
            <a:spLocks noGrp="1"/>
          </p:cNvSpPr>
          <p:nvPr>
            <p:ph type="sldNum" sz="quarter" idx="12"/>
          </p:nvPr>
        </p:nvSpPr>
        <p:spPr/>
        <p:txBody>
          <a:bodyPr/>
          <a:lstStyle/>
          <a:p>
            <a:fld id="{C795FC6A-1DDE-4D80-97D7-06017F2A69D1}" type="slidenum">
              <a:rPr lang="en-US" smtClean="0"/>
              <a:t>38</a:t>
            </a:fld>
            <a:endParaRPr lang="en-US"/>
          </a:p>
        </p:txBody>
      </p:sp>
    </p:spTree>
    <p:extLst>
      <p:ext uri="{BB962C8B-B14F-4D97-AF65-F5344CB8AC3E}">
        <p14:creationId xmlns:p14="http://schemas.microsoft.com/office/powerpoint/2010/main" val="14864678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8154A1-F971-4E5A-CE21-025F0E4EFD93}"/>
              </a:ext>
            </a:extLst>
          </p:cNvPr>
          <p:cNvSpPr>
            <a:spLocks noGrp="1"/>
          </p:cNvSpPr>
          <p:nvPr>
            <p:ph type="title"/>
          </p:nvPr>
        </p:nvSpPr>
        <p:spPr/>
        <p:txBody>
          <a:bodyPr/>
          <a:lstStyle/>
          <a:p>
            <a:r>
              <a:rPr lang="en-US" dirty="0"/>
              <a:t>Scaling fish data for clustering (cont.)</a:t>
            </a:r>
          </a:p>
        </p:txBody>
      </p:sp>
      <p:sp>
        <p:nvSpPr>
          <p:cNvPr id="3" name="Content Placeholder 2">
            <a:extLst>
              <a:ext uri="{FF2B5EF4-FFF2-40B4-BE49-F238E27FC236}">
                <a16:creationId xmlns:a16="http://schemas.microsoft.com/office/drawing/2014/main" id="{351AC166-1EE1-0059-2EAD-E26447A4CF61}"/>
              </a:ext>
            </a:extLst>
          </p:cNvPr>
          <p:cNvSpPr>
            <a:spLocks noGrp="1"/>
          </p:cNvSpPr>
          <p:nvPr>
            <p:ph idx="1"/>
          </p:nvPr>
        </p:nvSpPr>
        <p:spPr/>
        <p:txBody>
          <a:bodyPr>
            <a:normAutofit/>
          </a:bodyPr>
          <a:lstStyle/>
          <a:p>
            <a:r>
              <a:rPr lang="en-US" sz="2000" dirty="0"/>
              <a:t>Fit the pipeline to the fish measurements samples.</a:t>
            </a:r>
          </a:p>
          <a:p>
            <a:r>
              <a:rPr lang="en-US" sz="2000" dirty="0"/>
              <a:t>Obtain the cluster labels for samples by using the .predict() method of pipeline.</a:t>
            </a:r>
          </a:p>
          <a:p>
            <a:r>
              <a:rPr lang="en-US" sz="2000" dirty="0"/>
              <a:t>Using </a:t>
            </a:r>
            <a:r>
              <a:rPr lang="en-US" sz="2000" dirty="0" err="1"/>
              <a:t>pd.DataFrame</a:t>
            </a:r>
            <a:r>
              <a:rPr lang="en-US" sz="2000" dirty="0"/>
              <a:t>(), create a DataFrame </a:t>
            </a:r>
            <a:r>
              <a:rPr lang="en-US" sz="2000" dirty="0" err="1"/>
              <a:t>df</a:t>
            </a:r>
            <a:r>
              <a:rPr lang="en-US" sz="2000" dirty="0"/>
              <a:t> with two columns named 'labels' and 'species', using labels and species, respectively, for the column values.</a:t>
            </a:r>
          </a:p>
          <a:p>
            <a:r>
              <a:rPr lang="en-US" sz="2000" dirty="0"/>
              <a:t>Using </a:t>
            </a:r>
            <a:r>
              <a:rPr lang="en-US" sz="2000" dirty="0" err="1"/>
              <a:t>pd.crosstab</a:t>
            </a:r>
            <a:r>
              <a:rPr lang="en-US" sz="2000" dirty="0"/>
              <a:t>(), create a cross-tabulation </a:t>
            </a:r>
            <a:r>
              <a:rPr lang="en-US" sz="2000" dirty="0" err="1"/>
              <a:t>ct</a:t>
            </a:r>
            <a:r>
              <a:rPr lang="en-US" sz="2000" dirty="0"/>
              <a:t> of </a:t>
            </a:r>
            <a:r>
              <a:rPr lang="en-US" sz="2000" dirty="0" err="1"/>
              <a:t>df</a:t>
            </a:r>
            <a:r>
              <a:rPr lang="en-US" sz="2000" dirty="0"/>
              <a:t>['labels'] and </a:t>
            </a:r>
            <a:r>
              <a:rPr lang="en-US" sz="2000" dirty="0" err="1"/>
              <a:t>df</a:t>
            </a:r>
            <a:r>
              <a:rPr lang="en-US" sz="2000" dirty="0"/>
              <a:t>['species'].</a:t>
            </a:r>
          </a:p>
        </p:txBody>
      </p:sp>
      <p:sp>
        <p:nvSpPr>
          <p:cNvPr id="4" name="Slide Number Placeholder 3">
            <a:extLst>
              <a:ext uri="{FF2B5EF4-FFF2-40B4-BE49-F238E27FC236}">
                <a16:creationId xmlns:a16="http://schemas.microsoft.com/office/drawing/2014/main" id="{98E1CA25-8673-7951-E0AF-DA0F05EEB5BD}"/>
              </a:ext>
            </a:extLst>
          </p:cNvPr>
          <p:cNvSpPr>
            <a:spLocks noGrp="1"/>
          </p:cNvSpPr>
          <p:nvPr>
            <p:ph type="sldNum" sz="quarter" idx="12"/>
          </p:nvPr>
        </p:nvSpPr>
        <p:spPr/>
        <p:txBody>
          <a:bodyPr/>
          <a:lstStyle/>
          <a:p>
            <a:fld id="{C795FC6A-1DDE-4D80-97D7-06017F2A69D1}" type="slidenum">
              <a:rPr lang="en-US" smtClean="0"/>
              <a:t>39</a:t>
            </a:fld>
            <a:endParaRPr lang="en-US"/>
          </a:p>
        </p:txBody>
      </p:sp>
      <p:pic>
        <p:nvPicPr>
          <p:cNvPr id="6" name="Picture 5">
            <a:extLst>
              <a:ext uri="{FF2B5EF4-FFF2-40B4-BE49-F238E27FC236}">
                <a16:creationId xmlns:a16="http://schemas.microsoft.com/office/drawing/2014/main" id="{3B4F641C-749B-E331-756E-9BF166048FA2}"/>
              </a:ext>
            </a:extLst>
          </p:cNvPr>
          <p:cNvPicPr>
            <a:picLocks noChangeAspect="1"/>
          </p:cNvPicPr>
          <p:nvPr/>
        </p:nvPicPr>
        <p:blipFill>
          <a:blip r:embed="rId2"/>
          <a:stretch>
            <a:fillRect/>
          </a:stretch>
        </p:blipFill>
        <p:spPr>
          <a:xfrm>
            <a:off x="6096000" y="4127050"/>
            <a:ext cx="4820323" cy="1895740"/>
          </a:xfrm>
          <a:prstGeom prst="rect">
            <a:avLst/>
          </a:prstGeom>
        </p:spPr>
      </p:pic>
      <p:pic>
        <p:nvPicPr>
          <p:cNvPr id="5" name="Picture 4">
            <a:extLst>
              <a:ext uri="{FF2B5EF4-FFF2-40B4-BE49-F238E27FC236}">
                <a16:creationId xmlns:a16="http://schemas.microsoft.com/office/drawing/2014/main" id="{8AE9FEC1-69D8-C442-6745-1D18CAE38197}"/>
              </a:ext>
            </a:extLst>
          </p:cNvPr>
          <p:cNvPicPr>
            <a:picLocks noChangeAspect="1"/>
          </p:cNvPicPr>
          <p:nvPr/>
        </p:nvPicPr>
        <p:blipFill>
          <a:blip r:embed="rId3"/>
          <a:stretch>
            <a:fillRect/>
          </a:stretch>
        </p:blipFill>
        <p:spPr>
          <a:xfrm>
            <a:off x="625853" y="4127050"/>
            <a:ext cx="4791744" cy="1886213"/>
          </a:xfrm>
          <a:prstGeom prst="rect">
            <a:avLst/>
          </a:prstGeom>
        </p:spPr>
      </p:pic>
    </p:spTree>
    <p:extLst>
      <p:ext uri="{BB962C8B-B14F-4D97-AF65-F5344CB8AC3E}">
        <p14:creationId xmlns:p14="http://schemas.microsoft.com/office/powerpoint/2010/main" val="97353224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BBA8D-2A93-3557-FA9E-EF3C2E254BAF}"/>
              </a:ext>
            </a:extLst>
          </p:cNvPr>
          <p:cNvSpPr>
            <a:spLocks noGrp="1"/>
          </p:cNvSpPr>
          <p:nvPr>
            <p:ph type="title"/>
          </p:nvPr>
        </p:nvSpPr>
        <p:spPr>
          <a:xfrm>
            <a:off x="831850" y="630685"/>
            <a:ext cx="10515600" cy="842269"/>
          </a:xfrm>
        </p:spPr>
        <p:txBody>
          <a:bodyPr>
            <a:normAutofit fontScale="90000"/>
          </a:bodyPr>
          <a:lstStyle/>
          <a:p>
            <a:pPr algn="ctr"/>
            <a:r>
              <a:rPr lang="en-US" dirty="0"/>
              <a:t>Visualize the clusters</a:t>
            </a:r>
          </a:p>
        </p:txBody>
      </p:sp>
      <p:sp>
        <p:nvSpPr>
          <p:cNvPr id="4" name="Slide Number Placeholder 3">
            <a:extLst>
              <a:ext uri="{FF2B5EF4-FFF2-40B4-BE49-F238E27FC236}">
                <a16:creationId xmlns:a16="http://schemas.microsoft.com/office/drawing/2014/main" id="{C2E287BF-AF56-AF93-4C89-3873FDF36D6E}"/>
              </a:ext>
            </a:extLst>
          </p:cNvPr>
          <p:cNvSpPr>
            <a:spLocks noGrp="1"/>
          </p:cNvSpPr>
          <p:nvPr>
            <p:ph type="sldNum" sz="quarter" idx="12"/>
          </p:nvPr>
        </p:nvSpPr>
        <p:spPr/>
        <p:txBody>
          <a:bodyPr/>
          <a:lstStyle/>
          <a:p>
            <a:fld id="{C795FC6A-1DDE-4D80-97D7-06017F2A69D1}" type="slidenum">
              <a:rPr lang="en-US" smtClean="0"/>
              <a:t>40</a:t>
            </a:fld>
            <a:endParaRPr lang="en-US"/>
          </a:p>
        </p:txBody>
      </p:sp>
    </p:spTree>
    <p:extLst>
      <p:ext uri="{BB962C8B-B14F-4D97-AF65-F5344CB8AC3E}">
        <p14:creationId xmlns:p14="http://schemas.microsoft.com/office/powerpoint/2010/main" val="6931528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BEC4386-C71D-CBAE-84A7-1742810A846A}"/>
              </a:ext>
            </a:extLst>
          </p:cNvPr>
          <p:cNvSpPr>
            <a:spLocks noGrp="1"/>
          </p:cNvSpPr>
          <p:nvPr>
            <p:ph type="sldNum" sz="quarter" idx="12"/>
          </p:nvPr>
        </p:nvSpPr>
        <p:spPr/>
        <p:txBody>
          <a:bodyPr/>
          <a:lstStyle/>
          <a:p>
            <a:fld id="{C795FC6A-1DDE-4D80-97D7-06017F2A69D1}" type="slidenum">
              <a:rPr lang="en-US" smtClean="0"/>
              <a:t>41</a:t>
            </a:fld>
            <a:endParaRPr lang="en-US"/>
          </a:p>
        </p:txBody>
      </p:sp>
      <p:sp>
        <p:nvSpPr>
          <p:cNvPr id="4" name="TextBox 3">
            <a:extLst>
              <a:ext uri="{FF2B5EF4-FFF2-40B4-BE49-F238E27FC236}">
                <a16:creationId xmlns:a16="http://schemas.microsoft.com/office/drawing/2014/main" id="{04A7250E-0D09-0DC3-A958-BFDDF44958D7}"/>
              </a:ext>
            </a:extLst>
          </p:cNvPr>
          <p:cNvSpPr txBox="1"/>
          <p:nvPr/>
        </p:nvSpPr>
        <p:spPr>
          <a:xfrm>
            <a:off x="234906" y="298245"/>
            <a:ext cx="5743378" cy="5940088"/>
          </a:xfrm>
          <a:prstGeom prst="rect">
            <a:avLst/>
          </a:prstGeom>
          <a:noFill/>
        </p:spPr>
        <p:txBody>
          <a:bodyPr wrap="square">
            <a:spAutoFit/>
          </a:bodyPr>
          <a:lstStyle/>
          <a:p>
            <a:r>
              <a:rPr lang="en-US" sz="1600" dirty="0" err="1"/>
              <a:t>pointsDF</a:t>
            </a:r>
            <a:r>
              <a:rPr lang="en-US" sz="1600" dirty="0"/>
              <a:t> = </a:t>
            </a:r>
            <a:r>
              <a:rPr lang="en-US" sz="1600" dirty="0" err="1"/>
              <a:t>pd.read_csv</a:t>
            </a:r>
            <a:r>
              <a:rPr lang="en-US" sz="1600" dirty="0"/>
              <a:t>('points.csv', </a:t>
            </a:r>
            <a:r>
              <a:rPr lang="en-US" sz="1600" dirty="0" err="1"/>
              <a:t>index_col</a:t>
            </a:r>
            <a:r>
              <a:rPr lang="en-US" sz="1600" dirty="0"/>
              <a:t> = 0)</a:t>
            </a:r>
          </a:p>
          <a:p>
            <a:r>
              <a:rPr lang="en-US" sz="1600" dirty="0"/>
              <a:t>#print(pointsDF.head())</a:t>
            </a:r>
          </a:p>
          <a:p>
            <a:r>
              <a:rPr lang="en-US" sz="1600" dirty="0"/>
              <a:t>points = </a:t>
            </a:r>
            <a:r>
              <a:rPr lang="en-US" sz="1600" dirty="0" err="1"/>
              <a:t>pointsDF.to_numpy</a:t>
            </a:r>
            <a:r>
              <a:rPr lang="en-US" sz="1600" dirty="0"/>
              <a:t>()</a:t>
            </a:r>
          </a:p>
          <a:p>
            <a:r>
              <a:rPr lang="en-US" sz="1600" dirty="0"/>
              <a:t>#print(points)</a:t>
            </a:r>
          </a:p>
          <a:p>
            <a:endParaRPr lang="en-US" sz="1600" dirty="0"/>
          </a:p>
          <a:p>
            <a:r>
              <a:rPr lang="en-US" sz="1600" dirty="0" err="1"/>
              <a:t>xs</a:t>
            </a:r>
            <a:r>
              <a:rPr lang="en-US" sz="1600" dirty="0"/>
              <a:t> = points[:,0]</a:t>
            </a:r>
          </a:p>
          <a:p>
            <a:r>
              <a:rPr lang="en-US" sz="1600" dirty="0" err="1"/>
              <a:t>ys</a:t>
            </a:r>
            <a:r>
              <a:rPr lang="en-US" sz="1600" dirty="0"/>
              <a:t> = points[:,1]</a:t>
            </a:r>
          </a:p>
          <a:p>
            <a:r>
              <a:rPr lang="en-US" sz="1600" dirty="0" err="1"/>
              <a:t>plt.scatter</a:t>
            </a:r>
            <a:r>
              <a:rPr lang="en-US" sz="1600" dirty="0"/>
              <a:t>(</a:t>
            </a:r>
            <a:r>
              <a:rPr lang="en-US" sz="1600" dirty="0" err="1"/>
              <a:t>xs,ys</a:t>
            </a:r>
            <a:r>
              <a:rPr lang="en-US" sz="1600" dirty="0"/>
              <a:t>)</a:t>
            </a:r>
            <a:r>
              <a:rPr lang="en-US" sz="1600" dirty="0" err="1"/>
              <a:t>plt.show</a:t>
            </a:r>
            <a:r>
              <a:rPr lang="en-US" sz="1600" dirty="0"/>
              <a:t>()</a:t>
            </a:r>
          </a:p>
          <a:p>
            <a:endParaRPr lang="en-US" sz="1600" dirty="0"/>
          </a:p>
          <a:p>
            <a:r>
              <a:rPr lang="en-US" sz="1600" dirty="0" err="1"/>
              <a:t>npointsDF</a:t>
            </a:r>
            <a:r>
              <a:rPr lang="en-US" sz="1600" dirty="0"/>
              <a:t> = </a:t>
            </a:r>
            <a:r>
              <a:rPr lang="en-US" sz="1600" dirty="0" err="1"/>
              <a:t>pd.read_csv</a:t>
            </a:r>
            <a:r>
              <a:rPr lang="en-US" sz="1600" dirty="0"/>
              <a:t>('new_points.csv', </a:t>
            </a:r>
            <a:r>
              <a:rPr lang="en-US" sz="1600" dirty="0" err="1"/>
              <a:t>index_col</a:t>
            </a:r>
            <a:r>
              <a:rPr lang="en-US" sz="1600" dirty="0"/>
              <a:t> = 0)</a:t>
            </a:r>
          </a:p>
          <a:p>
            <a:r>
              <a:rPr lang="en-US" sz="1600" dirty="0" err="1"/>
              <a:t>new_points</a:t>
            </a:r>
            <a:r>
              <a:rPr lang="en-US" sz="1600" dirty="0"/>
              <a:t> = </a:t>
            </a:r>
            <a:r>
              <a:rPr lang="en-US" sz="1600" dirty="0" err="1"/>
              <a:t>npointsDF.to_numpy</a:t>
            </a:r>
            <a:r>
              <a:rPr lang="en-US" sz="1600" dirty="0"/>
              <a:t>()</a:t>
            </a:r>
          </a:p>
          <a:p>
            <a:endParaRPr lang="en-US" sz="1600" dirty="0"/>
          </a:p>
          <a:p>
            <a:r>
              <a:rPr lang="en-US" sz="1600" dirty="0">
                <a:solidFill>
                  <a:srgbClr val="FF0000"/>
                </a:solidFill>
              </a:rPr>
              <a:t># Import </a:t>
            </a:r>
            <a:r>
              <a:rPr lang="en-US" sz="1600" dirty="0" err="1">
                <a:solidFill>
                  <a:srgbClr val="FF0000"/>
                </a:solidFill>
              </a:rPr>
              <a:t>Kmeans</a:t>
            </a:r>
            <a:endParaRPr lang="en-US" sz="1600" dirty="0">
              <a:solidFill>
                <a:srgbClr val="FF0000"/>
              </a:solidFill>
            </a:endParaRPr>
          </a:p>
          <a:p>
            <a:r>
              <a:rPr lang="en-US" sz="1600" dirty="0"/>
              <a:t>from </a:t>
            </a:r>
            <a:r>
              <a:rPr lang="en-US" sz="1600" dirty="0" err="1"/>
              <a:t>sklearn.cluster</a:t>
            </a:r>
            <a:r>
              <a:rPr lang="en-US" sz="1600" dirty="0"/>
              <a:t> import </a:t>
            </a:r>
            <a:r>
              <a:rPr lang="en-US" sz="1600" dirty="0" err="1"/>
              <a:t>Kmeans</a:t>
            </a:r>
            <a:endParaRPr lang="en-US" sz="1600" dirty="0"/>
          </a:p>
          <a:p>
            <a:r>
              <a:rPr lang="en-US" sz="1600" dirty="0">
                <a:solidFill>
                  <a:srgbClr val="FF0000"/>
                </a:solidFill>
              </a:rPr>
              <a:t># Create a </a:t>
            </a:r>
            <a:r>
              <a:rPr lang="en-US" sz="1600" dirty="0" err="1">
                <a:solidFill>
                  <a:srgbClr val="FF0000"/>
                </a:solidFill>
              </a:rPr>
              <a:t>KMeans</a:t>
            </a:r>
            <a:r>
              <a:rPr lang="en-US" sz="1600" dirty="0">
                <a:solidFill>
                  <a:srgbClr val="FF0000"/>
                </a:solidFill>
              </a:rPr>
              <a:t> instance with 3 clusters: model</a:t>
            </a:r>
          </a:p>
          <a:p>
            <a:r>
              <a:rPr lang="en-US" sz="1600" dirty="0"/>
              <a:t>model = </a:t>
            </a:r>
            <a:r>
              <a:rPr lang="en-US" sz="1600" dirty="0" err="1"/>
              <a:t>KMeans</a:t>
            </a:r>
            <a:r>
              <a:rPr lang="en-US" sz="1600" dirty="0"/>
              <a:t>(</a:t>
            </a:r>
            <a:r>
              <a:rPr lang="en-US" sz="1600" dirty="0" err="1"/>
              <a:t>n_clusters</a:t>
            </a:r>
            <a:r>
              <a:rPr lang="en-US" sz="1600" dirty="0"/>
              <a:t>=3)</a:t>
            </a:r>
          </a:p>
          <a:p>
            <a:r>
              <a:rPr lang="en-US" sz="1600" dirty="0">
                <a:solidFill>
                  <a:srgbClr val="FF0000"/>
                </a:solidFill>
              </a:rPr>
              <a:t># Fit model to points</a:t>
            </a:r>
          </a:p>
          <a:p>
            <a:r>
              <a:rPr lang="en-US" sz="1600" dirty="0" err="1"/>
              <a:t>model.fit</a:t>
            </a:r>
            <a:r>
              <a:rPr lang="en-US" sz="1600" dirty="0"/>
              <a:t>(points)</a:t>
            </a:r>
          </a:p>
          <a:p>
            <a:r>
              <a:rPr lang="en-US" sz="1600" dirty="0">
                <a:solidFill>
                  <a:srgbClr val="FF0000"/>
                </a:solidFill>
              </a:rPr>
              <a:t># Determine the cluster labels of </a:t>
            </a:r>
            <a:r>
              <a:rPr lang="en-US" sz="1600" dirty="0" err="1">
                <a:solidFill>
                  <a:srgbClr val="FF0000"/>
                </a:solidFill>
              </a:rPr>
              <a:t>new_points</a:t>
            </a:r>
            <a:r>
              <a:rPr lang="en-US" sz="1600" dirty="0">
                <a:solidFill>
                  <a:srgbClr val="FF0000"/>
                </a:solidFill>
              </a:rPr>
              <a:t>: labels</a:t>
            </a:r>
          </a:p>
          <a:p>
            <a:r>
              <a:rPr lang="en-US" sz="1600" dirty="0"/>
              <a:t>labels = </a:t>
            </a:r>
            <a:r>
              <a:rPr lang="en-US" sz="1600" dirty="0" err="1"/>
              <a:t>model.predict</a:t>
            </a:r>
            <a:r>
              <a:rPr lang="en-US" sz="1600" dirty="0"/>
              <a:t>(</a:t>
            </a:r>
            <a:r>
              <a:rPr lang="en-US" sz="1600" dirty="0" err="1"/>
              <a:t>new_points</a:t>
            </a:r>
            <a:r>
              <a:rPr lang="en-US" sz="1600" dirty="0"/>
              <a:t>)</a:t>
            </a:r>
          </a:p>
          <a:p>
            <a:r>
              <a:rPr lang="en-US" sz="1600" dirty="0">
                <a:solidFill>
                  <a:srgbClr val="FF0000"/>
                </a:solidFill>
              </a:rPr>
              <a:t># Print cluster labels of </a:t>
            </a:r>
            <a:r>
              <a:rPr lang="en-US" sz="1600" dirty="0" err="1">
                <a:solidFill>
                  <a:srgbClr val="FF0000"/>
                </a:solidFill>
              </a:rPr>
              <a:t>new_points</a:t>
            </a:r>
            <a:endParaRPr lang="en-US" sz="1600" dirty="0">
              <a:solidFill>
                <a:srgbClr val="FF0000"/>
              </a:solidFill>
            </a:endParaRPr>
          </a:p>
          <a:p>
            <a:r>
              <a:rPr lang="en-US" sz="1600" dirty="0"/>
              <a:t>print(labels)</a:t>
            </a:r>
          </a:p>
          <a:p>
            <a:r>
              <a:rPr lang="en-US" sz="1600" dirty="0"/>
              <a:t>#print(new_points)</a:t>
            </a:r>
          </a:p>
        </p:txBody>
      </p:sp>
      <p:sp>
        <p:nvSpPr>
          <p:cNvPr id="8" name="TextBox 7">
            <a:extLst>
              <a:ext uri="{FF2B5EF4-FFF2-40B4-BE49-F238E27FC236}">
                <a16:creationId xmlns:a16="http://schemas.microsoft.com/office/drawing/2014/main" id="{6EDD3369-905F-81F0-40A9-85BFAF6B90A1}"/>
              </a:ext>
            </a:extLst>
          </p:cNvPr>
          <p:cNvSpPr txBox="1"/>
          <p:nvPr/>
        </p:nvSpPr>
        <p:spPr>
          <a:xfrm>
            <a:off x="6096000" y="378720"/>
            <a:ext cx="6094948" cy="5262979"/>
          </a:xfrm>
          <a:prstGeom prst="rect">
            <a:avLst/>
          </a:prstGeom>
          <a:noFill/>
        </p:spPr>
        <p:txBody>
          <a:bodyPr wrap="square">
            <a:spAutoFit/>
          </a:bodyPr>
          <a:lstStyle/>
          <a:p>
            <a:r>
              <a:rPr lang="en-US" sz="1600" dirty="0">
                <a:solidFill>
                  <a:srgbClr val="0070C0"/>
                </a:solidFill>
              </a:rPr>
              <a:t># Import </a:t>
            </a:r>
            <a:r>
              <a:rPr lang="en-US" sz="1600" dirty="0" err="1">
                <a:solidFill>
                  <a:srgbClr val="0070C0"/>
                </a:solidFill>
              </a:rPr>
              <a:t>pyplot</a:t>
            </a:r>
            <a:endParaRPr lang="en-US" sz="1600" dirty="0">
              <a:solidFill>
                <a:srgbClr val="0070C0"/>
              </a:solidFill>
            </a:endParaRPr>
          </a:p>
          <a:p>
            <a:r>
              <a:rPr lang="en-US" sz="1600" dirty="0"/>
              <a:t>from matplotlib import </a:t>
            </a:r>
            <a:r>
              <a:rPr lang="en-US" sz="1600" dirty="0" err="1"/>
              <a:t>pyplot</a:t>
            </a:r>
            <a:r>
              <a:rPr lang="en-US" sz="1600" dirty="0"/>
              <a:t> as </a:t>
            </a:r>
            <a:r>
              <a:rPr lang="en-US" sz="1600" dirty="0" err="1"/>
              <a:t>plt</a:t>
            </a:r>
            <a:endParaRPr lang="en-US" sz="1600" dirty="0"/>
          </a:p>
          <a:p>
            <a:r>
              <a:rPr lang="en-US" sz="1600" dirty="0">
                <a:solidFill>
                  <a:srgbClr val="0070C0"/>
                </a:solidFill>
              </a:rPr>
              <a:t># Assign the columns of </a:t>
            </a:r>
            <a:r>
              <a:rPr lang="en-US" sz="1600" dirty="0" err="1">
                <a:solidFill>
                  <a:srgbClr val="0070C0"/>
                </a:solidFill>
              </a:rPr>
              <a:t>new_points</a:t>
            </a:r>
            <a:r>
              <a:rPr lang="en-US" sz="1600" dirty="0">
                <a:solidFill>
                  <a:srgbClr val="0070C0"/>
                </a:solidFill>
              </a:rPr>
              <a:t>: </a:t>
            </a:r>
            <a:r>
              <a:rPr lang="en-US" sz="1600" dirty="0" err="1">
                <a:solidFill>
                  <a:srgbClr val="0070C0"/>
                </a:solidFill>
              </a:rPr>
              <a:t>xs</a:t>
            </a:r>
            <a:r>
              <a:rPr lang="en-US" sz="1600" dirty="0">
                <a:solidFill>
                  <a:srgbClr val="0070C0"/>
                </a:solidFill>
              </a:rPr>
              <a:t> and </a:t>
            </a:r>
            <a:r>
              <a:rPr lang="en-US" sz="1600" dirty="0" err="1">
                <a:solidFill>
                  <a:srgbClr val="0070C0"/>
                </a:solidFill>
              </a:rPr>
              <a:t>ys</a:t>
            </a:r>
            <a:endParaRPr lang="en-US" sz="1600" dirty="0">
              <a:solidFill>
                <a:srgbClr val="0070C0"/>
              </a:solidFill>
            </a:endParaRPr>
          </a:p>
          <a:p>
            <a:endParaRPr lang="en-US" sz="1600" dirty="0"/>
          </a:p>
          <a:p>
            <a:r>
              <a:rPr lang="en-US" sz="1600" dirty="0" err="1"/>
              <a:t>xs</a:t>
            </a:r>
            <a:r>
              <a:rPr lang="en-US" sz="1600" dirty="0"/>
              <a:t> = </a:t>
            </a:r>
            <a:r>
              <a:rPr lang="en-US" sz="1600" dirty="0" err="1"/>
              <a:t>new_points</a:t>
            </a:r>
            <a:r>
              <a:rPr lang="en-US" sz="1600" dirty="0"/>
              <a:t>[:,0]</a:t>
            </a:r>
          </a:p>
          <a:p>
            <a:r>
              <a:rPr lang="en-US" sz="1600" dirty="0" err="1"/>
              <a:t>ys</a:t>
            </a:r>
            <a:r>
              <a:rPr lang="en-US" sz="1600" dirty="0"/>
              <a:t> = </a:t>
            </a:r>
            <a:r>
              <a:rPr lang="en-US" sz="1600" dirty="0" err="1"/>
              <a:t>new_points</a:t>
            </a:r>
            <a:r>
              <a:rPr lang="en-US" sz="1600" dirty="0"/>
              <a:t>[:,1]</a:t>
            </a:r>
          </a:p>
          <a:p>
            <a:endParaRPr lang="en-US" sz="1600" dirty="0"/>
          </a:p>
          <a:p>
            <a:r>
              <a:rPr lang="en-US" sz="1600" dirty="0">
                <a:solidFill>
                  <a:srgbClr val="0070C0"/>
                </a:solidFill>
              </a:rPr>
              <a:t># Make a scatter plot of </a:t>
            </a:r>
            <a:r>
              <a:rPr lang="en-US" sz="1600" dirty="0" err="1">
                <a:solidFill>
                  <a:srgbClr val="0070C0"/>
                </a:solidFill>
              </a:rPr>
              <a:t>xs</a:t>
            </a:r>
            <a:r>
              <a:rPr lang="en-US" sz="1600" dirty="0">
                <a:solidFill>
                  <a:srgbClr val="0070C0"/>
                </a:solidFill>
              </a:rPr>
              <a:t> and </a:t>
            </a:r>
            <a:r>
              <a:rPr lang="en-US" sz="1600" dirty="0" err="1">
                <a:solidFill>
                  <a:srgbClr val="0070C0"/>
                </a:solidFill>
              </a:rPr>
              <a:t>ys</a:t>
            </a:r>
            <a:r>
              <a:rPr lang="en-US" sz="1600" dirty="0">
                <a:solidFill>
                  <a:srgbClr val="0070C0"/>
                </a:solidFill>
              </a:rPr>
              <a:t>, using labels to define the colors</a:t>
            </a:r>
          </a:p>
          <a:p>
            <a:r>
              <a:rPr lang="en-US" sz="1600" dirty="0" err="1"/>
              <a:t>plt.scatter</a:t>
            </a:r>
            <a:r>
              <a:rPr lang="en-US" sz="1600" dirty="0"/>
              <a:t>(</a:t>
            </a:r>
            <a:r>
              <a:rPr lang="en-US" sz="1600" dirty="0" err="1"/>
              <a:t>xs</a:t>
            </a:r>
            <a:r>
              <a:rPr lang="en-US" sz="1600" dirty="0"/>
              <a:t>, </a:t>
            </a:r>
            <a:r>
              <a:rPr lang="en-US" sz="1600" dirty="0" err="1"/>
              <a:t>ys</a:t>
            </a:r>
            <a:r>
              <a:rPr lang="en-US" sz="1600" dirty="0"/>
              <a:t>, c=labels, alpha=0.5)</a:t>
            </a:r>
          </a:p>
          <a:p>
            <a:endParaRPr lang="en-US" sz="1600" dirty="0"/>
          </a:p>
          <a:p>
            <a:r>
              <a:rPr lang="en-US" sz="1600" dirty="0">
                <a:solidFill>
                  <a:srgbClr val="0070C0"/>
                </a:solidFill>
              </a:rPr>
              <a:t># Assign the cluster centers: centroids</a:t>
            </a:r>
          </a:p>
          <a:p>
            <a:r>
              <a:rPr lang="en-US" sz="1600" dirty="0"/>
              <a:t>centroids = </a:t>
            </a:r>
            <a:r>
              <a:rPr lang="en-US" sz="1600" dirty="0" err="1"/>
              <a:t>model.cluster_centers</a:t>
            </a:r>
            <a:r>
              <a:rPr lang="en-US" sz="1600" dirty="0"/>
              <a:t>_</a:t>
            </a:r>
          </a:p>
          <a:p>
            <a:endParaRPr lang="en-US" sz="1600" dirty="0"/>
          </a:p>
          <a:p>
            <a:r>
              <a:rPr lang="en-US" sz="1600" dirty="0">
                <a:solidFill>
                  <a:srgbClr val="0070C0"/>
                </a:solidFill>
              </a:rPr>
              <a:t># Assign the columns of centroids: </a:t>
            </a:r>
          </a:p>
          <a:p>
            <a:r>
              <a:rPr lang="en-US" sz="1600" dirty="0" err="1"/>
              <a:t>centroids_x</a:t>
            </a:r>
            <a:r>
              <a:rPr lang="en-US" sz="1600" dirty="0"/>
              <a:t>, </a:t>
            </a:r>
            <a:r>
              <a:rPr lang="en-US" sz="1600" dirty="0" err="1"/>
              <a:t>centroids_y</a:t>
            </a:r>
            <a:endParaRPr lang="en-US" sz="1600" dirty="0"/>
          </a:p>
          <a:p>
            <a:r>
              <a:rPr lang="en-US" sz="1600" dirty="0" err="1"/>
              <a:t>centroids_x</a:t>
            </a:r>
            <a:r>
              <a:rPr lang="en-US" sz="1600" dirty="0"/>
              <a:t> = centroids[:,0]</a:t>
            </a:r>
          </a:p>
          <a:p>
            <a:r>
              <a:rPr lang="en-US" sz="1600" dirty="0" err="1"/>
              <a:t>centroids_y</a:t>
            </a:r>
            <a:r>
              <a:rPr lang="en-US" sz="1600" dirty="0"/>
              <a:t> = centroids[:,1]</a:t>
            </a:r>
          </a:p>
          <a:p>
            <a:endParaRPr lang="en-US" sz="1600" dirty="0"/>
          </a:p>
          <a:p>
            <a:r>
              <a:rPr lang="en-US" sz="1600" dirty="0">
                <a:solidFill>
                  <a:srgbClr val="0070C0"/>
                </a:solidFill>
              </a:rPr>
              <a:t># Make a scatter plot of </a:t>
            </a:r>
            <a:r>
              <a:rPr lang="en-US" sz="1600" dirty="0" err="1">
                <a:solidFill>
                  <a:srgbClr val="0070C0"/>
                </a:solidFill>
              </a:rPr>
              <a:t>centroids_x</a:t>
            </a:r>
            <a:r>
              <a:rPr lang="en-US" sz="1600" dirty="0">
                <a:solidFill>
                  <a:srgbClr val="0070C0"/>
                </a:solidFill>
              </a:rPr>
              <a:t> and </a:t>
            </a:r>
            <a:r>
              <a:rPr lang="en-US" sz="1600" dirty="0" err="1">
                <a:solidFill>
                  <a:srgbClr val="0070C0"/>
                </a:solidFill>
              </a:rPr>
              <a:t>centroids_y</a:t>
            </a:r>
            <a:endParaRPr lang="en-US" sz="1600" dirty="0">
              <a:solidFill>
                <a:srgbClr val="0070C0"/>
              </a:solidFill>
            </a:endParaRPr>
          </a:p>
          <a:p>
            <a:r>
              <a:rPr lang="en-US" sz="1600" dirty="0" err="1"/>
              <a:t>plt.scatter</a:t>
            </a:r>
            <a:r>
              <a:rPr lang="en-US" sz="1600" dirty="0"/>
              <a:t>(</a:t>
            </a:r>
            <a:r>
              <a:rPr lang="en-US" sz="1600" dirty="0" err="1"/>
              <a:t>centroids_x</a:t>
            </a:r>
            <a:r>
              <a:rPr lang="en-US" sz="1600" dirty="0"/>
              <a:t>, </a:t>
            </a:r>
            <a:r>
              <a:rPr lang="en-US" sz="1600" dirty="0" err="1"/>
              <a:t>centroids_y</a:t>
            </a:r>
            <a:r>
              <a:rPr lang="en-US" sz="1600" dirty="0"/>
              <a:t>, marker='D', s=50)</a:t>
            </a:r>
          </a:p>
          <a:p>
            <a:r>
              <a:rPr lang="en-US" sz="1600" dirty="0" err="1"/>
              <a:t>plt.show</a:t>
            </a:r>
            <a:r>
              <a:rPr lang="en-US" sz="1600" dirty="0"/>
              <a:t>()</a:t>
            </a:r>
          </a:p>
        </p:txBody>
      </p:sp>
    </p:spTree>
    <p:extLst>
      <p:ext uri="{BB962C8B-B14F-4D97-AF65-F5344CB8AC3E}">
        <p14:creationId xmlns:p14="http://schemas.microsoft.com/office/powerpoint/2010/main" val="401471221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98BCD3E-8DF2-B19B-558D-FC5FAE1EE7DE}"/>
              </a:ext>
            </a:extLst>
          </p:cNvPr>
          <p:cNvSpPr>
            <a:spLocks noGrp="1"/>
          </p:cNvSpPr>
          <p:nvPr>
            <p:ph type="sldNum" sz="quarter" idx="12"/>
          </p:nvPr>
        </p:nvSpPr>
        <p:spPr/>
        <p:txBody>
          <a:bodyPr/>
          <a:lstStyle/>
          <a:p>
            <a:fld id="{C795FC6A-1DDE-4D80-97D7-06017F2A69D1}" type="slidenum">
              <a:rPr lang="en-US" smtClean="0"/>
              <a:t>42</a:t>
            </a:fld>
            <a:endParaRPr lang="en-US"/>
          </a:p>
        </p:txBody>
      </p:sp>
      <p:sp>
        <p:nvSpPr>
          <p:cNvPr id="3" name="TextBox 2">
            <a:extLst>
              <a:ext uri="{FF2B5EF4-FFF2-40B4-BE49-F238E27FC236}">
                <a16:creationId xmlns:a16="http://schemas.microsoft.com/office/drawing/2014/main" id="{7480610A-BFF6-4132-7D4D-CCEE4129DDBD}"/>
              </a:ext>
            </a:extLst>
          </p:cNvPr>
          <p:cNvSpPr txBox="1"/>
          <p:nvPr/>
        </p:nvSpPr>
        <p:spPr>
          <a:xfrm>
            <a:off x="281807" y="390858"/>
            <a:ext cx="8029774" cy="4770537"/>
          </a:xfrm>
          <a:prstGeom prst="rect">
            <a:avLst/>
          </a:prstGeom>
          <a:noFill/>
        </p:spPr>
        <p:txBody>
          <a:bodyPr wrap="square">
            <a:spAutoFit/>
          </a:bodyPr>
          <a:lstStyle/>
          <a:p>
            <a:r>
              <a:rPr lang="en-US" sz="1600" dirty="0" err="1">
                <a:solidFill>
                  <a:srgbClr val="FF0000"/>
                </a:solidFill>
              </a:rPr>
              <a:t>seedsDF</a:t>
            </a:r>
            <a:r>
              <a:rPr lang="en-US" sz="1600" dirty="0">
                <a:solidFill>
                  <a:srgbClr val="FF0000"/>
                </a:solidFill>
              </a:rPr>
              <a:t> = </a:t>
            </a:r>
            <a:r>
              <a:rPr lang="en-US" sz="1600" dirty="0" err="1">
                <a:solidFill>
                  <a:srgbClr val="FF0000"/>
                </a:solidFill>
              </a:rPr>
              <a:t>pd.read_csv</a:t>
            </a:r>
            <a:r>
              <a:rPr lang="en-US" sz="1600" dirty="0">
                <a:solidFill>
                  <a:srgbClr val="FF0000"/>
                </a:solidFill>
              </a:rPr>
              <a:t>('seeds.csv’)</a:t>
            </a:r>
          </a:p>
          <a:p>
            <a:r>
              <a:rPr lang="en-US" sz="1600" dirty="0">
                <a:solidFill>
                  <a:srgbClr val="FF0000"/>
                </a:solidFill>
              </a:rPr>
              <a:t>seeds = </a:t>
            </a:r>
            <a:r>
              <a:rPr lang="en-US" sz="1600" dirty="0" err="1">
                <a:solidFill>
                  <a:srgbClr val="FF0000"/>
                </a:solidFill>
              </a:rPr>
              <a:t>seedsDF.to_numpy</a:t>
            </a:r>
            <a:r>
              <a:rPr lang="en-US" sz="1600" dirty="0">
                <a:solidFill>
                  <a:srgbClr val="FF0000"/>
                </a:solidFill>
              </a:rPr>
              <a:t>()</a:t>
            </a:r>
          </a:p>
          <a:p>
            <a:r>
              <a:rPr lang="en-US" sz="1600" dirty="0" err="1">
                <a:solidFill>
                  <a:srgbClr val="FF0000"/>
                </a:solidFill>
              </a:rPr>
              <a:t>ks</a:t>
            </a:r>
            <a:r>
              <a:rPr lang="en-US" sz="1600" dirty="0">
                <a:solidFill>
                  <a:srgbClr val="FF0000"/>
                </a:solidFill>
              </a:rPr>
              <a:t> = range(1, 10)</a:t>
            </a:r>
          </a:p>
          <a:p>
            <a:r>
              <a:rPr lang="en-US" sz="1600" dirty="0">
                <a:solidFill>
                  <a:srgbClr val="FF0000"/>
                </a:solidFill>
              </a:rPr>
              <a:t>inertias = []</a:t>
            </a:r>
          </a:p>
          <a:p>
            <a:r>
              <a:rPr lang="en-US" sz="1600" dirty="0">
                <a:solidFill>
                  <a:srgbClr val="FF0000"/>
                </a:solidFill>
              </a:rPr>
              <a:t>	for k in </a:t>
            </a:r>
            <a:r>
              <a:rPr lang="en-US" sz="1600" dirty="0" err="1">
                <a:solidFill>
                  <a:srgbClr val="FF0000"/>
                </a:solidFill>
              </a:rPr>
              <a:t>ks</a:t>
            </a:r>
            <a:r>
              <a:rPr lang="en-US" sz="1600" dirty="0">
                <a:solidFill>
                  <a:srgbClr val="FF0000"/>
                </a:solidFill>
              </a:rPr>
              <a:t>:    </a:t>
            </a:r>
          </a:p>
          <a:p>
            <a:r>
              <a:rPr lang="en-US" sz="1600" dirty="0">
                <a:solidFill>
                  <a:srgbClr val="FF0000"/>
                </a:solidFill>
              </a:rPr>
              <a:t>		# Create a </a:t>
            </a:r>
            <a:r>
              <a:rPr lang="en-US" sz="1600" dirty="0" err="1">
                <a:solidFill>
                  <a:srgbClr val="FF0000"/>
                </a:solidFill>
              </a:rPr>
              <a:t>KMeans</a:t>
            </a:r>
            <a:r>
              <a:rPr lang="en-US" sz="1600" dirty="0">
                <a:solidFill>
                  <a:srgbClr val="FF0000"/>
                </a:solidFill>
              </a:rPr>
              <a:t> instance with k </a:t>
            </a:r>
            <a:r>
              <a:rPr lang="en-US" sz="1600" dirty="0" err="1">
                <a:solidFill>
                  <a:srgbClr val="FF0000"/>
                </a:solidFill>
              </a:rPr>
              <a:t>clusters:model</a:t>
            </a:r>
            <a:r>
              <a:rPr lang="en-US" sz="1600" dirty="0">
                <a:solidFill>
                  <a:srgbClr val="FF0000"/>
                </a:solidFill>
              </a:rPr>
              <a:t>    </a:t>
            </a:r>
          </a:p>
          <a:p>
            <a:r>
              <a:rPr lang="en-US" sz="1600" dirty="0">
                <a:solidFill>
                  <a:srgbClr val="FF0000"/>
                </a:solidFill>
              </a:rPr>
              <a:t>		model = </a:t>
            </a:r>
            <a:r>
              <a:rPr lang="en-US" sz="1600" dirty="0" err="1">
                <a:solidFill>
                  <a:srgbClr val="FF0000"/>
                </a:solidFill>
              </a:rPr>
              <a:t>KMeans</a:t>
            </a:r>
            <a:r>
              <a:rPr lang="en-US" sz="1600" dirty="0">
                <a:solidFill>
                  <a:srgbClr val="FF0000"/>
                </a:solidFill>
              </a:rPr>
              <a:t>(</a:t>
            </a:r>
            <a:r>
              <a:rPr lang="en-US" sz="1600" dirty="0" err="1">
                <a:solidFill>
                  <a:srgbClr val="FF0000"/>
                </a:solidFill>
              </a:rPr>
              <a:t>n_clusters</a:t>
            </a:r>
            <a:r>
              <a:rPr lang="en-US" sz="1600" dirty="0">
                <a:solidFill>
                  <a:srgbClr val="FF0000"/>
                </a:solidFill>
              </a:rPr>
              <a:t>=k)        </a:t>
            </a:r>
          </a:p>
          <a:p>
            <a:r>
              <a:rPr lang="en-US" sz="1600" dirty="0">
                <a:solidFill>
                  <a:srgbClr val="FF0000"/>
                </a:solidFill>
              </a:rPr>
              <a:t>		</a:t>
            </a:r>
          </a:p>
          <a:p>
            <a:r>
              <a:rPr lang="en-US" sz="1600" dirty="0">
                <a:solidFill>
                  <a:srgbClr val="FF0000"/>
                </a:solidFill>
              </a:rPr>
              <a:t>		# Fit model to samples    </a:t>
            </a:r>
          </a:p>
          <a:p>
            <a:r>
              <a:rPr lang="en-US" sz="1600" dirty="0">
                <a:solidFill>
                  <a:srgbClr val="FF0000"/>
                </a:solidFill>
              </a:rPr>
              <a:t>		</a:t>
            </a:r>
            <a:r>
              <a:rPr lang="en-US" sz="1600" dirty="0" err="1">
                <a:solidFill>
                  <a:srgbClr val="FF0000"/>
                </a:solidFill>
              </a:rPr>
              <a:t>model.fit</a:t>
            </a:r>
            <a:r>
              <a:rPr lang="en-US" sz="1600" dirty="0">
                <a:solidFill>
                  <a:srgbClr val="FF0000"/>
                </a:solidFill>
              </a:rPr>
              <a:t>(seeds)        </a:t>
            </a:r>
          </a:p>
          <a:p>
            <a:r>
              <a:rPr lang="en-US" sz="1600" dirty="0">
                <a:solidFill>
                  <a:srgbClr val="FF0000"/>
                </a:solidFill>
              </a:rPr>
              <a:t>		</a:t>
            </a:r>
          </a:p>
          <a:p>
            <a:r>
              <a:rPr lang="en-US" sz="1600" dirty="0">
                <a:solidFill>
                  <a:srgbClr val="FF0000"/>
                </a:solidFill>
              </a:rPr>
              <a:t>		# Append the inertia to the list of inertias    					</a:t>
            </a:r>
            <a:r>
              <a:rPr lang="en-US" sz="1600" dirty="0" err="1">
                <a:solidFill>
                  <a:srgbClr val="FF0000"/>
                </a:solidFill>
              </a:rPr>
              <a:t>inertias.append</a:t>
            </a:r>
            <a:r>
              <a:rPr lang="en-US" sz="1600" dirty="0">
                <a:solidFill>
                  <a:srgbClr val="FF0000"/>
                </a:solidFill>
              </a:rPr>
              <a:t>(</a:t>
            </a:r>
            <a:r>
              <a:rPr lang="en-US" sz="1600" dirty="0" err="1">
                <a:solidFill>
                  <a:srgbClr val="FF0000"/>
                </a:solidFill>
              </a:rPr>
              <a:t>model.inertia</a:t>
            </a:r>
            <a:r>
              <a:rPr lang="en-US" sz="1600" dirty="0">
                <a:solidFill>
                  <a:srgbClr val="FF0000"/>
                </a:solidFill>
              </a:rPr>
              <a:t>_)    </a:t>
            </a:r>
          </a:p>
          <a:p>
            <a:r>
              <a:rPr lang="en-US" sz="1600" dirty="0">
                <a:solidFill>
                  <a:srgbClr val="FF0000"/>
                </a:solidFill>
              </a:rPr>
              <a:t># Plot </a:t>
            </a:r>
            <a:r>
              <a:rPr lang="en-US" sz="1600" dirty="0" err="1">
                <a:solidFill>
                  <a:srgbClr val="FF0000"/>
                </a:solidFill>
              </a:rPr>
              <a:t>ks</a:t>
            </a:r>
            <a:r>
              <a:rPr lang="en-US" sz="1600" dirty="0">
                <a:solidFill>
                  <a:srgbClr val="FF0000"/>
                </a:solidFill>
              </a:rPr>
              <a:t> vs inertias</a:t>
            </a:r>
          </a:p>
          <a:p>
            <a:r>
              <a:rPr lang="en-US" sz="1600" dirty="0" err="1">
                <a:solidFill>
                  <a:srgbClr val="FF0000"/>
                </a:solidFill>
              </a:rPr>
              <a:t>plt.plot</a:t>
            </a:r>
            <a:r>
              <a:rPr lang="en-US" sz="1600" dirty="0">
                <a:solidFill>
                  <a:srgbClr val="FF0000"/>
                </a:solidFill>
              </a:rPr>
              <a:t>(</a:t>
            </a:r>
            <a:r>
              <a:rPr lang="en-US" sz="1600" dirty="0" err="1">
                <a:solidFill>
                  <a:srgbClr val="FF0000"/>
                </a:solidFill>
              </a:rPr>
              <a:t>ks</a:t>
            </a:r>
            <a:r>
              <a:rPr lang="en-US" sz="1600" dirty="0">
                <a:solidFill>
                  <a:srgbClr val="FF0000"/>
                </a:solidFill>
              </a:rPr>
              <a:t>, inertias, '-o’)</a:t>
            </a:r>
          </a:p>
          <a:p>
            <a:r>
              <a:rPr lang="en-US" sz="1600" dirty="0" err="1">
                <a:solidFill>
                  <a:srgbClr val="FF0000"/>
                </a:solidFill>
              </a:rPr>
              <a:t>plt.xlabel</a:t>
            </a:r>
            <a:r>
              <a:rPr lang="en-US" sz="1600" dirty="0">
                <a:solidFill>
                  <a:srgbClr val="FF0000"/>
                </a:solidFill>
              </a:rPr>
              <a:t>('number of clusters, k’)</a:t>
            </a:r>
          </a:p>
          <a:p>
            <a:r>
              <a:rPr lang="en-US" sz="1600" dirty="0" err="1">
                <a:solidFill>
                  <a:srgbClr val="FF0000"/>
                </a:solidFill>
              </a:rPr>
              <a:t>plt.ylabel</a:t>
            </a:r>
            <a:r>
              <a:rPr lang="en-US" sz="1600" dirty="0">
                <a:solidFill>
                  <a:srgbClr val="FF0000"/>
                </a:solidFill>
              </a:rPr>
              <a:t>('inertia’)</a:t>
            </a:r>
          </a:p>
          <a:p>
            <a:r>
              <a:rPr lang="en-US" sz="1600" dirty="0" err="1">
                <a:solidFill>
                  <a:srgbClr val="FF0000"/>
                </a:solidFill>
              </a:rPr>
              <a:t>plt.xticks</a:t>
            </a:r>
            <a:r>
              <a:rPr lang="en-US" sz="1600" dirty="0">
                <a:solidFill>
                  <a:srgbClr val="FF0000"/>
                </a:solidFill>
              </a:rPr>
              <a:t>(</a:t>
            </a:r>
            <a:r>
              <a:rPr lang="en-US" sz="1600" dirty="0" err="1">
                <a:solidFill>
                  <a:srgbClr val="FF0000"/>
                </a:solidFill>
              </a:rPr>
              <a:t>ks</a:t>
            </a:r>
            <a:r>
              <a:rPr lang="en-US" sz="1600" dirty="0">
                <a:solidFill>
                  <a:srgbClr val="FF0000"/>
                </a:solidFill>
              </a:rPr>
              <a:t>)</a:t>
            </a:r>
          </a:p>
          <a:p>
            <a:r>
              <a:rPr lang="en-US" sz="1600" dirty="0" err="1">
                <a:solidFill>
                  <a:srgbClr val="FF0000"/>
                </a:solidFill>
              </a:rPr>
              <a:t>plt.show</a:t>
            </a:r>
            <a:r>
              <a:rPr lang="en-US" sz="1600" dirty="0">
                <a:solidFill>
                  <a:srgbClr val="FF0000"/>
                </a:solidFill>
              </a:rPr>
              <a:t>()</a:t>
            </a:r>
          </a:p>
        </p:txBody>
      </p:sp>
    </p:spTree>
    <p:extLst>
      <p:ext uri="{BB962C8B-B14F-4D97-AF65-F5344CB8AC3E}">
        <p14:creationId xmlns:p14="http://schemas.microsoft.com/office/powerpoint/2010/main" val="229600992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D39D549-157B-0DFC-9284-99D51568C6AB}"/>
              </a:ext>
            </a:extLst>
          </p:cNvPr>
          <p:cNvSpPr>
            <a:spLocks noGrp="1"/>
          </p:cNvSpPr>
          <p:nvPr>
            <p:ph type="sldNum" sz="quarter" idx="12"/>
          </p:nvPr>
        </p:nvSpPr>
        <p:spPr/>
        <p:txBody>
          <a:bodyPr/>
          <a:lstStyle/>
          <a:p>
            <a:fld id="{C795FC6A-1DDE-4D80-97D7-06017F2A69D1}" type="slidenum">
              <a:rPr lang="en-US" smtClean="0"/>
              <a:t>43</a:t>
            </a:fld>
            <a:endParaRPr lang="en-US"/>
          </a:p>
        </p:txBody>
      </p:sp>
      <p:sp>
        <p:nvSpPr>
          <p:cNvPr id="5" name="TextBox 4">
            <a:extLst>
              <a:ext uri="{FF2B5EF4-FFF2-40B4-BE49-F238E27FC236}">
                <a16:creationId xmlns:a16="http://schemas.microsoft.com/office/drawing/2014/main" id="{FD85D046-AC33-EB4D-A7A5-013D665FCE88}"/>
              </a:ext>
            </a:extLst>
          </p:cNvPr>
          <p:cNvSpPr txBox="1"/>
          <p:nvPr/>
        </p:nvSpPr>
        <p:spPr>
          <a:xfrm>
            <a:off x="6666843" y="221138"/>
            <a:ext cx="5333868" cy="2974532"/>
          </a:xfrm>
          <a:prstGeom prst="rect">
            <a:avLst/>
          </a:prstGeom>
          <a:noFill/>
        </p:spPr>
        <p:txBody>
          <a:bodyPr wrap="square">
            <a:spAutoFit/>
          </a:bodyPr>
          <a:lstStyle/>
          <a:p>
            <a:pPr>
              <a:lnSpc>
                <a:spcPts val="1575"/>
              </a:lnSpc>
            </a:pPr>
            <a:r>
              <a:rPr lang="en-US" sz="1400" b="0" dirty="0">
                <a:solidFill>
                  <a:srgbClr val="FF0000"/>
                </a:solidFill>
                <a:effectLst/>
                <a:latin typeface="JetBrainsMonoNL"/>
              </a:rPr>
              <a:t># Create a </a:t>
            </a:r>
            <a:r>
              <a:rPr lang="en-US" sz="1400" b="0" dirty="0" err="1">
                <a:solidFill>
                  <a:srgbClr val="FF0000"/>
                </a:solidFill>
                <a:effectLst/>
                <a:latin typeface="JetBrainsMonoNL"/>
              </a:rPr>
              <a:t>KMeans</a:t>
            </a:r>
            <a:r>
              <a:rPr lang="en-US" sz="1400" b="0" dirty="0">
                <a:solidFill>
                  <a:srgbClr val="FF0000"/>
                </a:solidFill>
                <a:effectLst/>
                <a:latin typeface="JetBrainsMonoNL"/>
              </a:rPr>
              <a:t> model with 3 clusters: model</a:t>
            </a:r>
          </a:p>
          <a:p>
            <a:pPr>
              <a:lnSpc>
                <a:spcPts val="1575"/>
              </a:lnSpc>
            </a:pPr>
            <a:r>
              <a:rPr lang="en-US" sz="1400" b="0" dirty="0">
                <a:solidFill>
                  <a:srgbClr val="FF0000"/>
                </a:solidFill>
                <a:effectLst/>
                <a:latin typeface="JetBrainsMonoNL"/>
              </a:rPr>
              <a:t>model = </a:t>
            </a:r>
            <a:r>
              <a:rPr lang="en-US" sz="1400" b="0" dirty="0" err="1">
                <a:solidFill>
                  <a:srgbClr val="FF0000"/>
                </a:solidFill>
                <a:effectLst/>
                <a:latin typeface="JetBrainsMonoNL"/>
              </a:rPr>
              <a:t>KMeans</a:t>
            </a:r>
            <a:r>
              <a:rPr lang="en-US" sz="1400" b="0" dirty="0">
                <a:solidFill>
                  <a:srgbClr val="FF0000"/>
                </a:solidFill>
                <a:effectLst/>
                <a:latin typeface="JetBrainsMonoNL"/>
              </a:rPr>
              <a:t>(</a:t>
            </a:r>
            <a:r>
              <a:rPr lang="en-US" sz="1400" b="0" dirty="0" err="1">
                <a:solidFill>
                  <a:srgbClr val="FF0000"/>
                </a:solidFill>
                <a:effectLst/>
                <a:latin typeface="JetBrainsMonoNL"/>
              </a:rPr>
              <a:t>n_clusters</a:t>
            </a:r>
            <a:r>
              <a:rPr lang="en-US" sz="1400" b="0" dirty="0">
                <a:solidFill>
                  <a:srgbClr val="FF0000"/>
                </a:solidFill>
                <a:effectLst/>
                <a:latin typeface="JetBrainsMonoNL"/>
              </a:rPr>
              <a:t>=3)</a:t>
            </a:r>
          </a:p>
          <a:p>
            <a:pPr>
              <a:lnSpc>
                <a:spcPts val="1575"/>
              </a:lnSpc>
            </a:pPr>
            <a:br>
              <a:rPr lang="en-US" sz="1400" b="0" dirty="0">
                <a:solidFill>
                  <a:srgbClr val="FF0000"/>
                </a:solidFill>
                <a:effectLst/>
                <a:latin typeface="JetBrainsMonoNL"/>
              </a:rPr>
            </a:br>
            <a:r>
              <a:rPr lang="en-US" sz="1400" b="0" dirty="0">
                <a:solidFill>
                  <a:srgbClr val="FF0000"/>
                </a:solidFill>
                <a:effectLst/>
                <a:latin typeface="JetBrainsMonoNL"/>
              </a:rPr>
              <a:t># Use </a:t>
            </a:r>
            <a:r>
              <a:rPr lang="en-US" sz="1400" b="0" dirty="0" err="1">
                <a:solidFill>
                  <a:srgbClr val="FF0000"/>
                </a:solidFill>
                <a:effectLst/>
                <a:latin typeface="JetBrainsMonoNL"/>
              </a:rPr>
              <a:t>fit_predict</a:t>
            </a:r>
            <a:r>
              <a:rPr lang="en-US" sz="1400" b="0" dirty="0">
                <a:solidFill>
                  <a:srgbClr val="FF0000"/>
                </a:solidFill>
                <a:effectLst/>
                <a:latin typeface="JetBrainsMonoNL"/>
              </a:rPr>
              <a:t> to fit model and obtain cluster labels: labels</a:t>
            </a:r>
          </a:p>
          <a:p>
            <a:pPr>
              <a:lnSpc>
                <a:spcPts val="1575"/>
              </a:lnSpc>
            </a:pPr>
            <a:r>
              <a:rPr lang="en-US" sz="1400" b="0" dirty="0">
                <a:solidFill>
                  <a:srgbClr val="FF0000"/>
                </a:solidFill>
                <a:effectLst/>
                <a:latin typeface="JetBrainsMonoNL"/>
              </a:rPr>
              <a:t>labels = </a:t>
            </a:r>
            <a:r>
              <a:rPr lang="en-US" sz="1400" b="0" dirty="0" err="1">
                <a:solidFill>
                  <a:srgbClr val="FF0000"/>
                </a:solidFill>
                <a:effectLst/>
                <a:latin typeface="JetBrainsMonoNL"/>
              </a:rPr>
              <a:t>model.fit_predict</a:t>
            </a:r>
            <a:r>
              <a:rPr lang="en-US" sz="1400" b="0" dirty="0">
                <a:solidFill>
                  <a:srgbClr val="FF0000"/>
                </a:solidFill>
                <a:effectLst/>
                <a:latin typeface="JetBrainsMonoNL"/>
              </a:rPr>
              <a:t>(samples)</a:t>
            </a:r>
          </a:p>
          <a:p>
            <a:pPr>
              <a:lnSpc>
                <a:spcPts val="1575"/>
              </a:lnSpc>
            </a:pPr>
            <a:br>
              <a:rPr lang="en-US" sz="1400" b="0" dirty="0">
                <a:solidFill>
                  <a:srgbClr val="FF0000"/>
                </a:solidFill>
                <a:effectLst/>
                <a:latin typeface="JetBrainsMonoNL"/>
              </a:rPr>
            </a:br>
            <a:r>
              <a:rPr lang="en-US" sz="1400" b="0" dirty="0">
                <a:solidFill>
                  <a:srgbClr val="FF0000"/>
                </a:solidFill>
                <a:effectLst/>
                <a:latin typeface="JetBrainsMonoNL"/>
              </a:rPr>
              <a:t># Create a DataFrame with clusters and varieties as columns: </a:t>
            </a:r>
            <a:r>
              <a:rPr lang="en-US" sz="1400" b="0" dirty="0" err="1">
                <a:solidFill>
                  <a:srgbClr val="FF0000"/>
                </a:solidFill>
                <a:effectLst/>
                <a:latin typeface="JetBrainsMonoNL"/>
              </a:rPr>
              <a:t>df</a:t>
            </a:r>
            <a:endParaRPr lang="en-US" sz="1400" b="0" dirty="0">
              <a:solidFill>
                <a:srgbClr val="FF0000"/>
              </a:solidFill>
              <a:effectLst/>
              <a:latin typeface="JetBrainsMonoNL"/>
            </a:endParaRPr>
          </a:p>
          <a:p>
            <a:pPr>
              <a:lnSpc>
                <a:spcPts val="1575"/>
              </a:lnSpc>
            </a:pPr>
            <a:r>
              <a:rPr lang="en-US" sz="1400" b="0" dirty="0" err="1">
                <a:solidFill>
                  <a:srgbClr val="FF0000"/>
                </a:solidFill>
                <a:effectLst/>
                <a:latin typeface="JetBrainsMonoNL"/>
              </a:rPr>
              <a:t>df</a:t>
            </a:r>
            <a:r>
              <a:rPr lang="en-US" sz="1400" b="0" dirty="0">
                <a:solidFill>
                  <a:srgbClr val="FF0000"/>
                </a:solidFill>
                <a:effectLst/>
                <a:latin typeface="JetBrainsMonoNL"/>
              </a:rPr>
              <a:t> = </a:t>
            </a:r>
            <a:r>
              <a:rPr lang="en-US" sz="1400" b="0" dirty="0" err="1">
                <a:solidFill>
                  <a:srgbClr val="FF0000"/>
                </a:solidFill>
                <a:effectLst/>
                <a:latin typeface="JetBrainsMonoNL"/>
              </a:rPr>
              <a:t>pd.DataFrame</a:t>
            </a:r>
            <a:r>
              <a:rPr lang="en-US" sz="1400" b="0" dirty="0">
                <a:solidFill>
                  <a:srgbClr val="FF0000"/>
                </a:solidFill>
                <a:effectLst/>
                <a:latin typeface="JetBrainsMonoNL"/>
              </a:rPr>
              <a:t>({'labels': labels, 'varieties': varieties})</a:t>
            </a:r>
          </a:p>
          <a:p>
            <a:pPr>
              <a:lnSpc>
                <a:spcPts val="1575"/>
              </a:lnSpc>
            </a:pPr>
            <a:br>
              <a:rPr lang="en-US" sz="1400" b="0" dirty="0">
                <a:solidFill>
                  <a:srgbClr val="FF0000"/>
                </a:solidFill>
                <a:effectLst/>
                <a:latin typeface="JetBrainsMonoNL"/>
              </a:rPr>
            </a:br>
            <a:r>
              <a:rPr lang="en-US" sz="1400" b="0" dirty="0">
                <a:solidFill>
                  <a:srgbClr val="FF0000"/>
                </a:solidFill>
                <a:effectLst/>
                <a:latin typeface="JetBrainsMonoNL"/>
              </a:rPr>
              <a:t># Create crosstab: </a:t>
            </a:r>
            <a:r>
              <a:rPr lang="en-US" sz="1400" b="0" dirty="0" err="1">
                <a:solidFill>
                  <a:srgbClr val="FF0000"/>
                </a:solidFill>
                <a:effectLst/>
                <a:latin typeface="JetBrainsMonoNL"/>
              </a:rPr>
              <a:t>ct</a:t>
            </a:r>
            <a:endParaRPr lang="en-US" sz="1400" b="0" dirty="0">
              <a:solidFill>
                <a:srgbClr val="FF0000"/>
              </a:solidFill>
              <a:effectLst/>
              <a:latin typeface="JetBrainsMonoNL"/>
            </a:endParaRPr>
          </a:p>
          <a:p>
            <a:pPr>
              <a:lnSpc>
                <a:spcPts val="1575"/>
              </a:lnSpc>
            </a:pPr>
            <a:r>
              <a:rPr lang="en-US" sz="1400" b="0" dirty="0" err="1">
                <a:solidFill>
                  <a:srgbClr val="FF0000"/>
                </a:solidFill>
                <a:effectLst/>
                <a:latin typeface="JetBrainsMonoNL"/>
              </a:rPr>
              <a:t>ct</a:t>
            </a:r>
            <a:r>
              <a:rPr lang="en-US" sz="1400" b="0" dirty="0">
                <a:solidFill>
                  <a:srgbClr val="FF0000"/>
                </a:solidFill>
                <a:effectLst/>
                <a:latin typeface="JetBrainsMonoNL"/>
              </a:rPr>
              <a:t> = </a:t>
            </a:r>
            <a:r>
              <a:rPr lang="en-US" sz="1400" b="0" dirty="0" err="1">
                <a:solidFill>
                  <a:srgbClr val="FF0000"/>
                </a:solidFill>
                <a:effectLst/>
                <a:latin typeface="JetBrainsMonoNL"/>
              </a:rPr>
              <a:t>pd.crosstab</a:t>
            </a:r>
            <a:r>
              <a:rPr lang="en-US" sz="1400" b="0" dirty="0">
                <a:solidFill>
                  <a:srgbClr val="FF0000"/>
                </a:solidFill>
                <a:effectLst/>
                <a:latin typeface="JetBrainsMonoNL"/>
              </a:rPr>
              <a:t>(</a:t>
            </a:r>
            <a:r>
              <a:rPr lang="en-US" sz="1400" b="0" dirty="0" err="1">
                <a:solidFill>
                  <a:srgbClr val="FF0000"/>
                </a:solidFill>
                <a:effectLst/>
                <a:latin typeface="JetBrainsMonoNL"/>
              </a:rPr>
              <a:t>df</a:t>
            </a:r>
            <a:r>
              <a:rPr lang="en-US" sz="1400" b="0" dirty="0">
                <a:solidFill>
                  <a:srgbClr val="FF0000"/>
                </a:solidFill>
                <a:effectLst/>
                <a:latin typeface="JetBrainsMonoNL"/>
              </a:rPr>
              <a:t>['labels'], </a:t>
            </a:r>
            <a:r>
              <a:rPr lang="en-US" sz="1400" b="0" dirty="0" err="1">
                <a:solidFill>
                  <a:srgbClr val="FF0000"/>
                </a:solidFill>
                <a:effectLst/>
                <a:latin typeface="JetBrainsMonoNL"/>
              </a:rPr>
              <a:t>df</a:t>
            </a:r>
            <a:r>
              <a:rPr lang="en-US" sz="1400" b="0" dirty="0">
                <a:solidFill>
                  <a:srgbClr val="FF0000"/>
                </a:solidFill>
                <a:effectLst/>
                <a:latin typeface="JetBrainsMonoNL"/>
              </a:rPr>
              <a:t>['varieties'])</a:t>
            </a:r>
          </a:p>
          <a:p>
            <a:pPr>
              <a:lnSpc>
                <a:spcPts val="1575"/>
              </a:lnSpc>
            </a:pPr>
            <a:br>
              <a:rPr lang="en-US" sz="1400" b="0" dirty="0">
                <a:solidFill>
                  <a:srgbClr val="FF0000"/>
                </a:solidFill>
                <a:effectLst/>
                <a:latin typeface="JetBrainsMonoNL"/>
              </a:rPr>
            </a:br>
            <a:r>
              <a:rPr lang="en-US" sz="1400" b="0" dirty="0">
                <a:solidFill>
                  <a:srgbClr val="FF0000"/>
                </a:solidFill>
                <a:effectLst/>
                <a:latin typeface="JetBrainsMonoNL"/>
              </a:rPr>
              <a:t># Display </a:t>
            </a:r>
            <a:r>
              <a:rPr lang="en-US" sz="1400" b="0" dirty="0" err="1">
                <a:solidFill>
                  <a:srgbClr val="FF0000"/>
                </a:solidFill>
                <a:effectLst/>
                <a:latin typeface="JetBrainsMonoNL"/>
              </a:rPr>
              <a:t>ct</a:t>
            </a:r>
            <a:endParaRPr lang="en-US" sz="1400" b="0" dirty="0">
              <a:solidFill>
                <a:srgbClr val="FF0000"/>
              </a:solidFill>
              <a:effectLst/>
              <a:latin typeface="JetBrainsMonoNL"/>
            </a:endParaRPr>
          </a:p>
          <a:p>
            <a:pPr>
              <a:lnSpc>
                <a:spcPts val="1575"/>
              </a:lnSpc>
            </a:pPr>
            <a:r>
              <a:rPr lang="en-US" sz="1400" b="0" dirty="0">
                <a:solidFill>
                  <a:srgbClr val="FF0000"/>
                </a:solidFill>
                <a:effectLst/>
                <a:latin typeface="JetBrainsMonoNL"/>
              </a:rPr>
              <a:t>print(</a:t>
            </a:r>
            <a:r>
              <a:rPr lang="en-US" sz="1400" b="0" dirty="0" err="1">
                <a:solidFill>
                  <a:srgbClr val="FF0000"/>
                </a:solidFill>
                <a:effectLst/>
                <a:latin typeface="JetBrainsMonoNL"/>
              </a:rPr>
              <a:t>ct</a:t>
            </a:r>
            <a:r>
              <a:rPr lang="en-US" sz="1400" b="0" dirty="0">
                <a:solidFill>
                  <a:srgbClr val="FF0000"/>
                </a:solidFill>
                <a:effectLst/>
                <a:latin typeface="JetBrainsMonoNL"/>
              </a:rPr>
              <a:t>)</a:t>
            </a:r>
          </a:p>
        </p:txBody>
      </p:sp>
      <p:sp>
        <p:nvSpPr>
          <p:cNvPr id="4" name="TextBox 3">
            <a:extLst>
              <a:ext uri="{FF2B5EF4-FFF2-40B4-BE49-F238E27FC236}">
                <a16:creationId xmlns:a16="http://schemas.microsoft.com/office/drawing/2014/main" id="{BCBC5115-C2A4-D800-D1C1-E2FF3E2667D6}"/>
              </a:ext>
            </a:extLst>
          </p:cNvPr>
          <p:cNvSpPr txBox="1"/>
          <p:nvPr/>
        </p:nvSpPr>
        <p:spPr>
          <a:xfrm>
            <a:off x="146619" y="221138"/>
            <a:ext cx="6094948" cy="6247864"/>
          </a:xfrm>
          <a:prstGeom prst="rect">
            <a:avLst/>
          </a:prstGeom>
          <a:noFill/>
        </p:spPr>
        <p:txBody>
          <a:bodyPr wrap="square">
            <a:spAutoFit/>
          </a:bodyPr>
          <a:lstStyle/>
          <a:p>
            <a:r>
              <a:rPr lang="en-US" sz="1600" dirty="0"/>
              <a:t>model = </a:t>
            </a:r>
            <a:r>
              <a:rPr lang="en-US" sz="1600" dirty="0" err="1"/>
              <a:t>KMeans</a:t>
            </a:r>
            <a:r>
              <a:rPr lang="en-US" sz="1600" dirty="0"/>
              <a:t>(</a:t>
            </a:r>
            <a:r>
              <a:rPr lang="en-US" sz="1600" dirty="0" err="1"/>
              <a:t>n_clusters</a:t>
            </a:r>
            <a:r>
              <a:rPr lang="en-US" sz="1600" dirty="0"/>
              <a:t>=3)    </a:t>
            </a:r>
          </a:p>
          <a:p>
            <a:endParaRPr lang="en-US" sz="1600" dirty="0"/>
          </a:p>
          <a:p>
            <a:r>
              <a:rPr lang="en-US" sz="1600" dirty="0">
                <a:solidFill>
                  <a:srgbClr val="FF0000"/>
                </a:solidFill>
              </a:rPr>
              <a:t># Fit model to samples</a:t>
            </a:r>
          </a:p>
          <a:p>
            <a:r>
              <a:rPr lang="en-US" sz="1600" dirty="0" err="1"/>
              <a:t>model.fit</a:t>
            </a:r>
            <a:r>
              <a:rPr lang="en-US" sz="1600" dirty="0"/>
              <a:t>(seeds)</a:t>
            </a:r>
          </a:p>
          <a:p>
            <a:r>
              <a:rPr lang="en-US" sz="1600" dirty="0"/>
              <a:t>labels = </a:t>
            </a:r>
            <a:r>
              <a:rPr lang="en-US" sz="1600" dirty="0" err="1"/>
              <a:t>model.predict</a:t>
            </a:r>
            <a:r>
              <a:rPr lang="en-US" sz="1600" dirty="0"/>
              <a:t>(seeds)</a:t>
            </a:r>
          </a:p>
          <a:p>
            <a:endParaRPr lang="en-US" sz="1600" dirty="0"/>
          </a:p>
          <a:p>
            <a:r>
              <a:rPr lang="en-US" sz="1600" dirty="0" err="1"/>
              <a:t>xs</a:t>
            </a:r>
            <a:r>
              <a:rPr lang="en-US" sz="1600" dirty="0"/>
              <a:t> = seeds[:,0]</a:t>
            </a:r>
          </a:p>
          <a:p>
            <a:r>
              <a:rPr lang="en-US" sz="1600" dirty="0" err="1"/>
              <a:t>ys</a:t>
            </a:r>
            <a:r>
              <a:rPr lang="en-US" sz="1600" dirty="0"/>
              <a:t> = seeds[:,2]</a:t>
            </a:r>
          </a:p>
          <a:p>
            <a:r>
              <a:rPr lang="en-US" sz="1600" dirty="0"/>
              <a:t>print(</a:t>
            </a:r>
            <a:r>
              <a:rPr lang="en-US" sz="1600" dirty="0" err="1"/>
              <a:t>seeds.shape</a:t>
            </a:r>
            <a:r>
              <a:rPr lang="en-US" sz="1600" dirty="0"/>
              <a:t>)</a:t>
            </a:r>
          </a:p>
          <a:p>
            <a:r>
              <a:rPr lang="en-US" sz="1600" dirty="0"/>
              <a:t>print(</a:t>
            </a:r>
            <a:r>
              <a:rPr lang="en-US" sz="1600" dirty="0" err="1"/>
              <a:t>labels.shape</a:t>
            </a:r>
            <a:r>
              <a:rPr lang="en-US" sz="1600" dirty="0"/>
              <a:t>)</a:t>
            </a:r>
          </a:p>
          <a:p>
            <a:endParaRPr lang="en-US" sz="1600" dirty="0"/>
          </a:p>
          <a:p>
            <a:r>
              <a:rPr lang="en-US" sz="1600" dirty="0">
                <a:solidFill>
                  <a:srgbClr val="FF0000"/>
                </a:solidFill>
              </a:rPr>
              <a:t># Make a scatter plot of </a:t>
            </a:r>
            <a:r>
              <a:rPr lang="en-US" sz="1600" dirty="0" err="1">
                <a:solidFill>
                  <a:srgbClr val="FF0000"/>
                </a:solidFill>
              </a:rPr>
              <a:t>xs</a:t>
            </a:r>
            <a:r>
              <a:rPr lang="en-US" sz="1600" dirty="0">
                <a:solidFill>
                  <a:srgbClr val="FF0000"/>
                </a:solidFill>
              </a:rPr>
              <a:t> and </a:t>
            </a:r>
            <a:r>
              <a:rPr lang="en-US" sz="1600" dirty="0" err="1">
                <a:solidFill>
                  <a:srgbClr val="FF0000"/>
                </a:solidFill>
              </a:rPr>
              <a:t>ys</a:t>
            </a:r>
            <a:r>
              <a:rPr lang="en-US" sz="1600" dirty="0">
                <a:solidFill>
                  <a:srgbClr val="FF0000"/>
                </a:solidFill>
              </a:rPr>
              <a:t>, using labels to define the colors</a:t>
            </a:r>
          </a:p>
          <a:p>
            <a:r>
              <a:rPr lang="en-US" sz="1600" dirty="0" err="1"/>
              <a:t>plt.scatter</a:t>
            </a:r>
            <a:r>
              <a:rPr lang="en-US" sz="1600" dirty="0"/>
              <a:t>(</a:t>
            </a:r>
            <a:r>
              <a:rPr lang="en-US" sz="1600" dirty="0" err="1"/>
              <a:t>xs</a:t>
            </a:r>
            <a:r>
              <a:rPr lang="en-US" sz="1600" dirty="0"/>
              <a:t>, </a:t>
            </a:r>
            <a:r>
              <a:rPr lang="en-US" sz="1600" dirty="0" err="1"/>
              <a:t>ys</a:t>
            </a:r>
            <a:r>
              <a:rPr lang="en-US" sz="1600" dirty="0"/>
              <a:t>, c=labels, alpha=0.5)</a:t>
            </a:r>
          </a:p>
          <a:p>
            <a:endParaRPr lang="en-US" sz="1600" dirty="0"/>
          </a:p>
          <a:p>
            <a:r>
              <a:rPr lang="en-US" sz="1600" dirty="0">
                <a:solidFill>
                  <a:srgbClr val="FF0000"/>
                </a:solidFill>
              </a:rPr>
              <a:t># Assign the cluster centers: centroids</a:t>
            </a:r>
          </a:p>
          <a:p>
            <a:r>
              <a:rPr lang="en-US" sz="1600" dirty="0"/>
              <a:t>centroids = </a:t>
            </a:r>
            <a:r>
              <a:rPr lang="en-US" sz="1600" dirty="0" err="1"/>
              <a:t>model.cluster_centers</a:t>
            </a:r>
            <a:r>
              <a:rPr lang="en-US" sz="1600" dirty="0"/>
              <a:t>_</a:t>
            </a:r>
          </a:p>
          <a:p>
            <a:r>
              <a:rPr lang="en-US" sz="1600" dirty="0"/>
              <a:t>print(centroids)</a:t>
            </a:r>
          </a:p>
          <a:p>
            <a:endParaRPr lang="en-US" sz="1600" dirty="0">
              <a:solidFill>
                <a:srgbClr val="FF0000"/>
              </a:solidFill>
            </a:endParaRPr>
          </a:p>
          <a:p>
            <a:r>
              <a:rPr lang="en-US" sz="1600" dirty="0">
                <a:solidFill>
                  <a:srgbClr val="FF0000"/>
                </a:solidFill>
              </a:rPr>
              <a:t># Assign the columns of centroids: </a:t>
            </a:r>
            <a:r>
              <a:rPr lang="en-US" sz="1600" dirty="0" err="1">
                <a:solidFill>
                  <a:srgbClr val="FF0000"/>
                </a:solidFill>
              </a:rPr>
              <a:t>centroids_x</a:t>
            </a:r>
            <a:r>
              <a:rPr lang="en-US" sz="1600" dirty="0">
                <a:solidFill>
                  <a:srgbClr val="FF0000"/>
                </a:solidFill>
              </a:rPr>
              <a:t>, </a:t>
            </a:r>
            <a:r>
              <a:rPr lang="en-US" sz="1600" dirty="0" err="1">
                <a:solidFill>
                  <a:srgbClr val="FF0000"/>
                </a:solidFill>
              </a:rPr>
              <a:t>centroids_y</a:t>
            </a:r>
            <a:endParaRPr lang="en-US" sz="1600" dirty="0">
              <a:solidFill>
                <a:srgbClr val="FF0000"/>
              </a:solidFill>
            </a:endParaRPr>
          </a:p>
          <a:p>
            <a:r>
              <a:rPr lang="en-US" sz="1600" dirty="0" err="1"/>
              <a:t>centroids_x</a:t>
            </a:r>
            <a:r>
              <a:rPr lang="en-US" sz="1600" dirty="0"/>
              <a:t> = centroids[:,0]</a:t>
            </a:r>
          </a:p>
          <a:p>
            <a:r>
              <a:rPr lang="en-US" sz="1600" dirty="0" err="1"/>
              <a:t>centroids_y</a:t>
            </a:r>
            <a:r>
              <a:rPr lang="en-US" sz="1600" dirty="0"/>
              <a:t> = centroids[:,1]</a:t>
            </a:r>
          </a:p>
          <a:p>
            <a:endParaRPr lang="en-US" sz="1600" dirty="0"/>
          </a:p>
          <a:p>
            <a:r>
              <a:rPr lang="en-US" sz="1600" dirty="0">
                <a:solidFill>
                  <a:srgbClr val="FF0000"/>
                </a:solidFill>
              </a:rPr>
              <a:t># Make a scatter plot of </a:t>
            </a:r>
            <a:r>
              <a:rPr lang="en-US" sz="1600" dirty="0" err="1">
                <a:solidFill>
                  <a:srgbClr val="FF0000"/>
                </a:solidFill>
              </a:rPr>
              <a:t>centroids_x</a:t>
            </a:r>
            <a:r>
              <a:rPr lang="en-US" sz="1600" dirty="0">
                <a:solidFill>
                  <a:srgbClr val="FF0000"/>
                </a:solidFill>
              </a:rPr>
              <a:t> and </a:t>
            </a:r>
            <a:r>
              <a:rPr lang="en-US" sz="1600" dirty="0" err="1">
                <a:solidFill>
                  <a:srgbClr val="FF0000"/>
                </a:solidFill>
              </a:rPr>
              <a:t>centroids_y</a:t>
            </a:r>
            <a:endParaRPr lang="en-US" sz="1600" dirty="0">
              <a:solidFill>
                <a:srgbClr val="FF0000"/>
              </a:solidFill>
            </a:endParaRPr>
          </a:p>
          <a:p>
            <a:r>
              <a:rPr lang="en-US" sz="1600" dirty="0" err="1"/>
              <a:t>plt.scatter</a:t>
            </a:r>
            <a:r>
              <a:rPr lang="en-US" sz="1600" dirty="0"/>
              <a:t>(</a:t>
            </a:r>
            <a:r>
              <a:rPr lang="en-US" sz="1600" dirty="0" err="1"/>
              <a:t>centroids_x</a:t>
            </a:r>
            <a:r>
              <a:rPr lang="en-US" sz="1600" dirty="0"/>
              <a:t>, </a:t>
            </a:r>
            <a:r>
              <a:rPr lang="en-US" sz="1600" dirty="0" err="1"/>
              <a:t>centroids_y</a:t>
            </a:r>
            <a:r>
              <a:rPr lang="en-US" sz="1600" dirty="0"/>
              <a:t>, marker='D', s=50)</a:t>
            </a:r>
          </a:p>
          <a:p>
            <a:r>
              <a:rPr lang="en-US" sz="1600" dirty="0" err="1"/>
              <a:t>plt.show</a:t>
            </a:r>
            <a:r>
              <a:rPr lang="en-US" sz="1600" dirty="0"/>
              <a:t>()</a:t>
            </a:r>
          </a:p>
        </p:txBody>
      </p:sp>
    </p:spTree>
    <p:extLst>
      <p:ext uri="{BB962C8B-B14F-4D97-AF65-F5344CB8AC3E}">
        <p14:creationId xmlns:p14="http://schemas.microsoft.com/office/powerpoint/2010/main" val="171586853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0E1C7D6-30F6-4883-0782-EC05625FAE64}"/>
              </a:ext>
            </a:extLst>
          </p:cNvPr>
          <p:cNvSpPr>
            <a:spLocks noGrp="1"/>
          </p:cNvSpPr>
          <p:nvPr>
            <p:ph type="sldNum" sz="quarter" idx="12"/>
          </p:nvPr>
        </p:nvSpPr>
        <p:spPr/>
        <p:txBody>
          <a:bodyPr/>
          <a:lstStyle/>
          <a:p>
            <a:fld id="{C795FC6A-1DDE-4D80-97D7-06017F2A69D1}" type="slidenum">
              <a:rPr lang="en-US" smtClean="0"/>
              <a:t>44</a:t>
            </a:fld>
            <a:endParaRPr lang="en-US"/>
          </a:p>
        </p:txBody>
      </p:sp>
      <p:sp>
        <p:nvSpPr>
          <p:cNvPr id="10" name="TextBox 9">
            <a:extLst>
              <a:ext uri="{FF2B5EF4-FFF2-40B4-BE49-F238E27FC236}">
                <a16:creationId xmlns:a16="http://schemas.microsoft.com/office/drawing/2014/main" id="{8CE478FB-A2DA-D0EC-DF2C-8BC41AABA3FF}"/>
              </a:ext>
            </a:extLst>
          </p:cNvPr>
          <p:cNvSpPr txBox="1"/>
          <p:nvPr/>
        </p:nvSpPr>
        <p:spPr>
          <a:xfrm>
            <a:off x="322119" y="402851"/>
            <a:ext cx="6097384" cy="6052298"/>
          </a:xfrm>
          <a:prstGeom prst="rect">
            <a:avLst/>
          </a:prstGeom>
          <a:noFill/>
        </p:spPr>
        <p:txBody>
          <a:bodyPr wrap="square">
            <a:spAutoFit/>
          </a:bodyPr>
          <a:lstStyle/>
          <a:p>
            <a:pPr>
              <a:lnSpc>
                <a:spcPts val="1575"/>
              </a:lnSpc>
            </a:pPr>
            <a:r>
              <a:rPr lang="en-US" b="0" dirty="0">
                <a:solidFill>
                  <a:srgbClr val="FF0000"/>
                </a:solidFill>
                <a:effectLst/>
                <a:latin typeface="JetBrainsMonoNL"/>
              </a:rPr>
              <a:t># Import pandas</a:t>
            </a:r>
          </a:p>
          <a:p>
            <a:pPr>
              <a:lnSpc>
                <a:spcPts val="1575"/>
              </a:lnSpc>
            </a:pPr>
            <a:r>
              <a:rPr lang="en-US" b="0" dirty="0">
                <a:solidFill>
                  <a:srgbClr val="FF0000"/>
                </a:solidFill>
                <a:effectLst/>
                <a:latin typeface="JetBrainsMonoNL"/>
              </a:rPr>
              <a:t># Perform the necessary imports</a:t>
            </a:r>
          </a:p>
          <a:p>
            <a:pPr>
              <a:lnSpc>
                <a:spcPts val="1575"/>
              </a:lnSpc>
            </a:pPr>
            <a:r>
              <a:rPr lang="en-US" b="0" dirty="0">
                <a:solidFill>
                  <a:srgbClr val="FF0000"/>
                </a:solidFill>
                <a:effectLst/>
                <a:latin typeface="JetBrainsMonoNL"/>
              </a:rPr>
              <a:t>from </a:t>
            </a:r>
            <a:r>
              <a:rPr lang="en-US" b="0" dirty="0" err="1">
                <a:solidFill>
                  <a:srgbClr val="FF0000"/>
                </a:solidFill>
                <a:effectLst/>
                <a:latin typeface="JetBrainsMonoNL"/>
              </a:rPr>
              <a:t>sklearn.pipeline</a:t>
            </a:r>
            <a:r>
              <a:rPr lang="en-US" b="0" dirty="0">
                <a:solidFill>
                  <a:srgbClr val="FF0000"/>
                </a:solidFill>
                <a:effectLst/>
                <a:latin typeface="JetBrainsMonoNL"/>
              </a:rPr>
              <a:t> import </a:t>
            </a:r>
            <a:r>
              <a:rPr lang="en-US" b="0" dirty="0" err="1">
                <a:solidFill>
                  <a:srgbClr val="FF0000"/>
                </a:solidFill>
                <a:effectLst/>
                <a:latin typeface="JetBrainsMonoNL"/>
              </a:rPr>
              <a:t>make_pipeline</a:t>
            </a:r>
            <a:endParaRPr lang="en-US" b="0" dirty="0">
              <a:solidFill>
                <a:srgbClr val="FF0000"/>
              </a:solidFill>
              <a:effectLst/>
              <a:latin typeface="JetBrainsMonoNL"/>
            </a:endParaRPr>
          </a:p>
          <a:p>
            <a:pPr>
              <a:lnSpc>
                <a:spcPts val="1575"/>
              </a:lnSpc>
            </a:pPr>
            <a:r>
              <a:rPr lang="en-US" b="0" dirty="0">
                <a:solidFill>
                  <a:srgbClr val="FF0000"/>
                </a:solidFill>
                <a:effectLst/>
                <a:latin typeface="JetBrainsMonoNL"/>
              </a:rPr>
              <a:t>from </a:t>
            </a:r>
            <a:r>
              <a:rPr lang="en-US" b="0" dirty="0" err="1">
                <a:solidFill>
                  <a:srgbClr val="FF0000"/>
                </a:solidFill>
                <a:effectLst/>
                <a:latin typeface="JetBrainsMonoNL"/>
              </a:rPr>
              <a:t>sklearn.preprocessing</a:t>
            </a:r>
            <a:r>
              <a:rPr lang="en-US" b="0" dirty="0">
                <a:solidFill>
                  <a:srgbClr val="FF0000"/>
                </a:solidFill>
                <a:effectLst/>
                <a:latin typeface="JetBrainsMonoNL"/>
              </a:rPr>
              <a:t> import </a:t>
            </a:r>
            <a:r>
              <a:rPr lang="en-US" b="0" dirty="0" err="1">
                <a:solidFill>
                  <a:srgbClr val="FF0000"/>
                </a:solidFill>
                <a:effectLst/>
                <a:latin typeface="JetBrainsMonoNL"/>
              </a:rPr>
              <a:t>StandardScaler</a:t>
            </a:r>
            <a:endParaRPr lang="en-US" b="0" dirty="0">
              <a:solidFill>
                <a:srgbClr val="FF0000"/>
              </a:solidFill>
              <a:effectLst/>
              <a:latin typeface="JetBrainsMonoNL"/>
            </a:endParaRPr>
          </a:p>
          <a:p>
            <a:pPr>
              <a:lnSpc>
                <a:spcPts val="1575"/>
              </a:lnSpc>
            </a:pPr>
            <a:r>
              <a:rPr lang="en-US" b="0" dirty="0">
                <a:solidFill>
                  <a:srgbClr val="FF0000"/>
                </a:solidFill>
                <a:effectLst/>
                <a:latin typeface="JetBrainsMonoNL"/>
              </a:rPr>
              <a:t>from </a:t>
            </a:r>
            <a:r>
              <a:rPr lang="en-US" b="0" dirty="0" err="1">
                <a:solidFill>
                  <a:srgbClr val="FF0000"/>
                </a:solidFill>
                <a:effectLst/>
                <a:latin typeface="JetBrainsMonoNL"/>
              </a:rPr>
              <a:t>sklearn.cluster</a:t>
            </a:r>
            <a:r>
              <a:rPr lang="en-US" b="0" dirty="0">
                <a:solidFill>
                  <a:srgbClr val="FF0000"/>
                </a:solidFill>
                <a:effectLst/>
                <a:latin typeface="JetBrainsMonoNL"/>
              </a:rPr>
              <a:t> import </a:t>
            </a:r>
            <a:r>
              <a:rPr lang="en-US" b="0" dirty="0" err="1">
                <a:solidFill>
                  <a:srgbClr val="FF0000"/>
                </a:solidFill>
                <a:effectLst/>
                <a:latin typeface="JetBrainsMonoNL"/>
              </a:rPr>
              <a:t>KMeans</a:t>
            </a:r>
            <a:endParaRPr lang="en-US" b="0" dirty="0">
              <a:solidFill>
                <a:srgbClr val="FF0000"/>
              </a:solidFill>
              <a:effectLst/>
              <a:latin typeface="JetBrainsMonoNL"/>
            </a:endParaRPr>
          </a:p>
          <a:p>
            <a:pPr>
              <a:lnSpc>
                <a:spcPts val="1575"/>
              </a:lnSpc>
            </a:pPr>
            <a:br>
              <a:rPr lang="en-US" b="0" dirty="0">
                <a:solidFill>
                  <a:srgbClr val="FF0000"/>
                </a:solidFill>
                <a:effectLst/>
                <a:latin typeface="JetBrainsMonoNL"/>
              </a:rPr>
            </a:br>
            <a:r>
              <a:rPr lang="en-US" b="0" dirty="0">
                <a:solidFill>
                  <a:srgbClr val="FF0000"/>
                </a:solidFill>
                <a:effectLst/>
                <a:latin typeface="JetBrainsMonoNL"/>
              </a:rPr>
              <a:t># Create scaler: scaler</a:t>
            </a:r>
          </a:p>
          <a:p>
            <a:pPr>
              <a:lnSpc>
                <a:spcPts val="1575"/>
              </a:lnSpc>
            </a:pPr>
            <a:r>
              <a:rPr lang="en-US" b="0" dirty="0">
                <a:solidFill>
                  <a:srgbClr val="FF0000"/>
                </a:solidFill>
                <a:effectLst/>
                <a:latin typeface="JetBrainsMonoNL"/>
              </a:rPr>
              <a:t>scaler = </a:t>
            </a:r>
            <a:r>
              <a:rPr lang="en-US" b="0" dirty="0" err="1">
                <a:solidFill>
                  <a:srgbClr val="FF0000"/>
                </a:solidFill>
                <a:effectLst/>
                <a:latin typeface="JetBrainsMonoNL"/>
              </a:rPr>
              <a:t>StandardScaler</a:t>
            </a:r>
            <a:r>
              <a:rPr lang="en-US" b="0" dirty="0">
                <a:solidFill>
                  <a:srgbClr val="FF0000"/>
                </a:solidFill>
                <a:effectLst/>
                <a:latin typeface="JetBrainsMonoNL"/>
              </a:rPr>
              <a:t>()</a:t>
            </a:r>
          </a:p>
          <a:p>
            <a:pPr>
              <a:lnSpc>
                <a:spcPts val="1575"/>
              </a:lnSpc>
            </a:pPr>
            <a:br>
              <a:rPr lang="en-US" b="0" dirty="0">
                <a:solidFill>
                  <a:srgbClr val="FF0000"/>
                </a:solidFill>
                <a:effectLst/>
                <a:latin typeface="JetBrainsMonoNL"/>
              </a:rPr>
            </a:br>
            <a:r>
              <a:rPr lang="en-US" b="0" dirty="0">
                <a:solidFill>
                  <a:srgbClr val="FF0000"/>
                </a:solidFill>
                <a:effectLst/>
                <a:latin typeface="JetBrainsMonoNL"/>
              </a:rPr>
              <a:t># Create </a:t>
            </a:r>
            <a:r>
              <a:rPr lang="en-US" b="0" dirty="0" err="1">
                <a:solidFill>
                  <a:srgbClr val="FF0000"/>
                </a:solidFill>
                <a:effectLst/>
                <a:latin typeface="JetBrainsMonoNL"/>
              </a:rPr>
              <a:t>KMeans</a:t>
            </a:r>
            <a:r>
              <a:rPr lang="en-US" b="0" dirty="0">
                <a:solidFill>
                  <a:srgbClr val="FF0000"/>
                </a:solidFill>
                <a:effectLst/>
                <a:latin typeface="JetBrainsMonoNL"/>
              </a:rPr>
              <a:t> instance: </a:t>
            </a:r>
            <a:r>
              <a:rPr lang="en-US" b="0" dirty="0" err="1">
                <a:solidFill>
                  <a:srgbClr val="FF0000"/>
                </a:solidFill>
                <a:effectLst/>
                <a:latin typeface="JetBrainsMonoNL"/>
              </a:rPr>
              <a:t>kmeans</a:t>
            </a:r>
            <a:endParaRPr lang="en-US" b="0" dirty="0">
              <a:solidFill>
                <a:srgbClr val="FF0000"/>
              </a:solidFill>
              <a:effectLst/>
              <a:latin typeface="JetBrainsMonoNL"/>
            </a:endParaRPr>
          </a:p>
          <a:p>
            <a:pPr>
              <a:lnSpc>
                <a:spcPts val="1575"/>
              </a:lnSpc>
            </a:pPr>
            <a:r>
              <a:rPr lang="en-US" b="0" dirty="0" err="1">
                <a:solidFill>
                  <a:srgbClr val="FF0000"/>
                </a:solidFill>
                <a:effectLst/>
                <a:latin typeface="JetBrainsMonoNL"/>
              </a:rPr>
              <a:t>kmeans</a:t>
            </a:r>
            <a:r>
              <a:rPr lang="en-US" b="0" dirty="0">
                <a:solidFill>
                  <a:srgbClr val="FF0000"/>
                </a:solidFill>
                <a:effectLst/>
                <a:latin typeface="JetBrainsMonoNL"/>
              </a:rPr>
              <a:t> = </a:t>
            </a:r>
            <a:r>
              <a:rPr lang="en-US" b="0" dirty="0" err="1">
                <a:solidFill>
                  <a:srgbClr val="FF0000"/>
                </a:solidFill>
                <a:effectLst/>
                <a:latin typeface="JetBrainsMonoNL"/>
              </a:rPr>
              <a:t>KMeans</a:t>
            </a:r>
            <a:r>
              <a:rPr lang="en-US" b="0" dirty="0">
                <a:solidFill>
                  <a:srgbClr val="FF0000"/>
                </a:solidFill>
                <a:effectLst/>
                <a:latin typeface="JetBrainsMonoNL"/>
              </a:rPr>
              <a:t>(</a:t>
            </a:r>
            <a:r>
              <a:rPr lang="en-US" b="0" dirty="0" err="1">
                <a:solidFill>
                  <a:srgbClr val="FF0000"/>
                </a:solidFill>
                <a:effectLst/>
                <a:latin typeface="JetBrainsMonoNL"/>
              </a:rPr>
              <a:t>n_clusters</a:t>
            </a:r>
            <a:r>
              <a:rPr lang="en-US" b="0" dirty="0">
                <a:solidFill>
                  <a:srgbClr val="FF0000"/>
                </a:solidFill>
                <a:effectLst/>
                <a:latin typeface="JetBrainsMonoNL"/>
              </a:rPr>
              <a:t>=4)</a:t>
            </a:r>
          </a:p>
          <a:p>
            <a:pPr>
              <a:lnSpc>
                <a:spcPts val="1575"/>
              </a:lnSpc>
            </a:pPr>
            <a:br>
              <a:rPr lang="en-US" b="0" dirty="0">
                <a:solidFill>
                  <a:srgbClr val="FF0000"/>
                </a:solidFill>
                <a:effectLst/>
                <a:latin typeface="JetBrainsMonoNL"/>
              </a:rPr>
            </a:br>
            <a:r>
              <a:rPr lang="en-US" b="0" dirty="0">
                <a:solidFill>
                  <a:srgbClr val="FF0000"/>
                </a:solidFill>
                <a:effectLst/>
                <a:latin typeface="JetBrainsMonoNL"/>
              </a:rPr>
              <a:t># Create pipeline: pipeline</a:t>
            </a:r>
          </a:p>
          <a:p>
            <a:pPr>
              <a:lnSpc>
                <a:spcPts val="1575"/>
              </a:lnSpc>
            </a:pPr>
            <a:r>
              <a:rPr lang="en-US" b="0" dirty="0">
                <a:solidFill>
                  <a:srgbClr val="FF0000"/>
                </a:solidFill>
                <a:effectLst/>
                <a:latin typeface="JetBrainsMonoNL"/>
              </a:rPr>
              <a:t>pipeline = </a:t>
            </a:r>
            <a:r>
              <a:rPr lang="en-US" b="0" dirty="0" err="1">
                <a:solidFill>
                  <a:srgbClr val="FF0000"/>
                </a:solidFill>
                <a:effectLst/>
                <a:latin typeface="JetBrainsMonoNL"/>
              </a:rPr>
              <a:t>make_pipeline</a:t>
            </a:r>
            <a:r>
              <a:rPr lang="en-US" b="0" dirty="0">
                <a:solidFill>
                  <a:srgbClr val="FF0000"/>
                </a:solidFill>
                <a:effectLst/>
                <a:latin typeface="JetBrainsMonoNL"/>
              </a:rPr>
              <a:t>(scaler, </a:t>
            </a:r>
            <a:r>
              <a:rPr lang="en-US" b="0" dirty="0" err="1">
                <a:solidFill>
                  <a:srgbClr val="FF0000"/>
                </a:solidFill>
                <a:effectLst/>
                <a:latin typeface="JetBrainsMonoNL"/>
              </a:rPr>
              <a:t>kmeans</a:t>
            </a:r>
            <a:r>
              <a:rPr lang="en-US" b="0" dirty="0">
                <a:solidFill>
                  <a:srgbClr val="FF0000"/>
                </a:solidFill>
                <a:effectLst/>
                <a:latin typeface="JetBrainsMonoNL"/>
              </a:rPr>
              <a:t>)</a:t>
            </a:r>
          </a:p>
          <a:p>
            <a:pPr>
              <a:lnSpc>
                <a:spcPts val="1575"/>
              </a:lnSpc>
            </a:pPr>
            <a:br>
              <a:rPr lang="en-US" b="0" dirty="0">
                <a:solidFill>
                  <a:srgbClr val="FF0000"/>
                </a:solidFill>
                <a:effectLst/>
                <a:latin typeface="JetBrainsMonoNL"/>
              </a:rPr>
            </a:br>
            <a:r>
              <a:rPr lang="en-US" b="0" dirty="0">
                <a:solidFill>
                  <a:srgbClr val="FF0000"/>
                </a:solidFill>
                <a:effectLst/>
                <a:latin typeface="JetBrainsMonoNL"/>
              </a:rPr>
              <a:t># Fit the pipeline to samples</a:t>
            </a:r>
          </a:p>
          <a:p>
            <a:pPr>
              <a:lnSpc>
                <a:spcPts val="1575"/>
              </a:lnSpc>
            </a:pPr>
            <a:r>
              <a:rPr lang="en-US" b="0" dirty="0" err="1">
                <a:solidFill>
                  <a:srgbClr val="FF0000"/>
                </a:solidFill>
                <a:effectLst/>
                <a:latin typeface="JetBrainsMonoNL"/>
              </a:rPr>
              <a:t>pipeline.fit</a:t>
            </a:r>
            <a:r>
              <a:rPr lang="en-US" b="0" dirty="0">
                <a:solidFill>
                  <a:srgbClr val="FF0000"/>
                </a:solidFill>
                <a:effectLst/>
                <a:latin typeface="JetBrainsMonoNL"/>
              </a:rPr>
              <a:t>(samples)</a:t>
            </a:r>
          </a:p>
          <a:p>
            <a:pPr>
              <a:lnSpc>
                <a:spcPts val="1575"/>
              </a:lnSpc>
            </a:pPr>
            <a:br>
              <a:rPr lang="en-US" b="0" dirty="0">
                <a:solidFill>
                  <a:srgbClr val="FF0000"/>
                </a:solidFill>
                <a:effectLst/>
                <a:latin typeface="JetBrainsMonoNL"/>
              </a:rPr>
            </a:br>
            <a:r>
              <a:rPr lang="en-US" b="0" dirty="0">
                <a:solidFill>
                  <a:srgbClr val="FF0000"/>
                </a:solidFill>
                <a:effectLst/>
                <a:latin typeface="JetBrainsMonoNL"/>
              </a:rPr>
              <a:t># Calculate the cluster labels: labels</a:t>
            </a:r>
          </a:p>
          <a:p>
            <a:pPr>
              <a:lnSpc>
                <a:spcPts val="1575"/>
              </a:lnSpc>
            </a:pPr>
            <a:r>
              <a:rPr lang="en-US" b="0" dirty="0">
                <a:solidFill>
                  <a:srgbClr val="FF0000"/>
                </a:solidFill>
                <a:effectLst/>
                <a:latin typeface="JetBrainsMonoNL"/>
              </a:rPr>
              <a:t>labels = </a:t>
            </a:r>
            <a:r>
              <a:rPr lang="en-US" b="0" dirty="0" err="1">
                <a:solidFill>
                  <a:srgbClr val="FF0000"/>
                </a:solidFill>
                <a:effectLst/>
                <a:latin typeface="JetBrainsMonoNL"/>
              </a:rPr>
              <a:t>pipeline.predict</a:t>
            </a:r>
            <a:r>
              <a:rPr lang="en-US" b="0" dirty="0">
                <a:solidFill>
                  <a:srgbClr val="FF0000"/>
                </a:solidFill>
                <a:effectLst/>
                <a:latin typeface="JetBrainsMonoNL"/>
              </a:rPr>
              <a:t>(samples)</a:t>
            </a:r>
          </a:p>
          <a:p>
            <a:pPr>
              <a:lnSpc>
                <a:spcPts val="1575"/>
              </a:lnSpc>
            </a:pPr>
            <a:br>
              <a:rPr lang="en-US" b="0" dirty="0">
                <a:solidFill>
                  <a:srgbClr val="FF0000"/>
                </a:solidFill>
                <a:effectLst/>
                <a:latin typeface="JetBrainsMonoNL"/>
              </a:rPr>
            </a:br>
            <a:r>
              <a:rPr lang="en-US" b="0" dirty="0">
                <a:solidFill>
                  <a:srgbClr val="FF0000"/>
                </a:solidFill>
                <a:effectLst/>
                <a:latin typeface="JetBrainsMonoNL"/>
              </a:rPr>
              <a:t># Create a DataFrame with labels and species as columns: </a:t>
            </a:r>
            <a:r>
              <a:rPr lang="en-US" b="0" dirty="0" err="1">
                <a:solidFill>
                  <a:srgbClr val="FF0000"/>
                </a:solidFill>
                <a:effectLst/>
                <a:latin typeface="JetBrainsMonoNL"/>
              </a:rPr>
              <a:t>df</a:t>
            </a:r>
            <a:endParaRPr lang="en-US" b="0" dirty="0">
              <a:solidFill>
                <a:srgbClr val="FF0000"/>
              </a:solidFill>
              <a:effectLst/>
              <a:latin typeface="JetBrainsMonoNL"/>
            </a:endParaRPr>
          </a:p>
          <a:p>
            <a:pPr>
              <a:lnSpc>
                <a:spcPts val="1575"/>
              </a:lnSpc>
            </a:pPr>
            <a:r>
              <a:rPr lang="en-US" b="0" dirty="0" err="1">
                <a:solidFill>
                  <a:srgbClr val="FF0000"/>
                </a:solidFill>
                <a:effectLst/>
                <a:latin typeface="JetBrainsMonoNL"/>
              </a:rPr>
              <a:t>df</a:t>
            </a:r>
            <a:r>
              <a:rPr lang="en-US" b="0" dirty="0">
                <a:solidFill>
                  <a:srgbClr val="FF0000"/>
                </a:solidFill>
                <a:effectLst/>
                <a:latin typeface="JetBrainsMonoNL"/>
              </a:rPr>
              <a:t> = </a:t>
            </a:r>
            <a:r>
              <a:rPr lang="en-US" b="0" dirty="0" err="1">
                <a:solidFill>
                  <a:srgbClr val="FF0000"/>
                </a:solidFill>
                <a:effectLst/>
                <a:latin typeface="JetBrainsMonoNL"/>
              </a:rPr>
              <a:t>pd.DataFrame</a:t>
            </a:r>
            <a:r>
              <a:rPr lang="en-US" b="0" dirty="0">
                <a:solidFill>
                  <a:srgbClr val="FF0000"/>
                </a:solidFill>
                <a:effectLst/>
                <a:latin typeface="JetBrainsMonoNL"/>
              </a:rPr>
              <a:t>({'labels': labels, 'species': species})</a:t>
            </a:r>
          </a:p>
          <a:p>
            <a:pPr>
              <a:lnSpc>
                <a:spcPts val="1575"/>
              </a:lnSpc>
            </a:pPr>
            <a:br>
              <a:rPr lang="en-US" b="0" dirty="0">
                <a:solidFill>
                  <a:srgbClr val="FF0000"/>
                </a:solidFill>
                <a:effectLst/>
                <a:latin typeface="JetBrainsMonoNL"/>
              </a:rPr>
            </a:br>
            <a:r>
              <a:rPr lang="en-US" b="0" dirty="0">
                <a:solidFill>
                  <a:srgbClr val="FF0000"/>
                </a:solidFill>
                <a:effectLst/>
                <a:latin typeface="JetBrainsMonoNL"/>
              </a:rPr>
              <a:t># Create crosstab: </a:t>
            </a:r>
            <a:r>
              <a:rPr lang="en-US" b="0" dirty="0" err="1">
                <a:solidFill>
                  <a:srgbClr val="FF0000"/>
                </a:solidFill>
                <a:effectLst/>
                <a:latin typeface="JetBrainsMonoNL"/>
              </a:rPr>
              <a:t>ct</a:t>
            </a:r>
            <a:endParaRPr lang="en-US" b="0" dirty="0">
              <a:solidFill>
                <a:srgbClr val="FF0000"/>
              </a:solidFill>
              <a:effectLst/>
              <a:latin typeface="JetBrainsMonoNL"/>
            </a:endParaRPr>
          </a:p>
          <a:p>
            <a:pPr>
              <a:lnSpc>
                <a:spcPts val="1575"/>
              </a:lnSpc>
            </a:pPr>
            <a:r>
              <a:rPr lang="en-US" b="0" dirty="0" err="1">
                <a:solidFill>
                  <a:srgbClr val="FF0000"/>
                </a:solidFill>
                <a:effectLst/>
                <a:latin typeface="JetBrainsMonoNL"/>
              </a:rPr>
              <a:t>ct</a:t>
            </a:r>
            <a:r>
              <a:rPr lang="en-US" b="0" dirty="0">
                <a:solidFill>
                  <a:srgbClr val="FF0000"/>
                </a:solidFill>
                <a:effectLst/>
                <a:latin typeface="JetBrainsMonoNL"/>
              </a:rPr>
              <a:t> = </a:t>
            </a:r>
            <a:r>
              <a:rPr lang="en-US" b="0" dirty="0" err="1">
                <a:solidFill>
                  <a:srgbClr val="FF0000"/>
                </a:solidFill>
                <a:effectLst/>
                <a:latin typeface="JetBrainsMonoNL"/>
              </a:rPr>
              <a:t>pd.crosstab</a:t>
            </a:r>
            <a:r>
              <a:rPr lang="en-US" b="0" dirty="0">
                <a:solidFill>
                  <a:srgbClr val="FF0000"/>
                </a:solidFill>
                <a:effectLst/>
                <a:latin typeface="JetBrainsMonoNL"/>
              </a:rPr>
              <a:t>(</a:t>
            </a:r>
            <a:r>
              <a:rPr lang="en-US" b="0" dirty="0" err="1">
                <a:solidFill>
                  <a:srgbClr val="FF0000"/>
                </a:solidFill>
                <a:effectLst/>
                <a:latin typeface="JetBrainsMonoNL"/>
              </a:rPr>
              <a:t>df</a:t>
            </a:r>
            <a:r>
              <a:rPr lang="en-US" b="0" dirty="0">
                <a:solidFill>
                  <a:srgbClr val="FF0000"/>
                </a:solidFill>
                <a:effectLst/>
                <a:latin typeface="JetBrainsMonoNL"/>
              </a:rPr>
              <a:t>['labels'], </a:t>
            </a:r>
            <a:r>
              <a:rPr lang="en-US" b="0" dirty="0" err="1">
                <a:solidFill>
                  <a:srgbClr val="FF0000"/>
                </a:solidFill>
                <a:effectLst/>
                <a:latin typeface="JetBrainsMonoNL"/>
              </a:rPr>
              <a:t>df</a:t>
            </a:r>
            <a:r>
              <a:rPr lang="en-US" b="0" dirty="0">
                <a:solidFill>
                  <a:srgbClr val="FF0000"/>
                </a:solidFill>
                <a:effectLst/>
                <a:latin typeface="JetBrainsMonoNL"/>
              </a:rPr>
              <a:t>['species'])</a:t>
            </a:r>
          </a:p>
          <a:p>
            <a:pPr>
              <a:lnSpc>
                <a:spcPts val="1575"/>
              </a:lnSpc>
            </a:pPr>
            <a:br>
              <a:rPr lang="en-US" b="0" dirty="0">
                <a:solidFill>
                  <a:srgbClr val="FF0000"/>
                </a:solidFill>
                <a:effectLst/>
                <a:latin typeface="JetBrainsMonoNL"/>
              </a:rPr>
            </a:br>
            <a:r>
              <a:rPr lang="en-US" b="0" dirty="0">
                <a:solidFill>
                  <a:srgbClr val="FF0000"/>
                </a:solidFill>
                <a:effectLst/>
                <a:latin typeface="JetBrainsMonoNL"/>
              </a:rPr>
              <a:t># Display </a:t>
            </a:r>
            <a:r>
              <a:rPr lang="en-US" b="0" dirty="0" err="1">
                <a:solidFill>
                  <a:srgbClr val="FF0000"/>
                </a:solidFill>
                <a:effectLst/>
                <a:latin typeface="JetBrainsMonoNL"/>
              </a:rPr>
              <a:t>ct</a:t>
            </a:r>
            <a:endParaRPr lang="en-US" b="0" dirty="0">
              <a:solidFill>
                <a:srgbClr val="FF0000"/>
              </a:solidFill>
              <a:effectLst/>
              <a:latin typeface="JetBrainsMonoNL"/>
            </a:endParaRPr>
          </a:p>
          <a:p>
            <a:pPr>
              <a:lnSpc>
                <a:spcPts val="1575"/>
              </a:lnSpc>
            </a:pPr>
            <a:r>
              <a:rPr lang="en-US" b="0" dirty="0">
                <a:solidFill>
                  <a:srgbClr val="FF0000"/>
                </a:solidFill>
                <a:effectLst/>
                <a:latin typeface="JetBrainsMonoNL"/>
              </a:rPr>
              <a:t>print(</a:t>
            </a:r>
            <a:r>
              <a:rPr lang="en-US" b="0" dirty="0" err="1">
                <a:solidFill>
                  <a:srgbClr val="FF0000"/>
                </a:solidFill>
                <a:effectLst/>
                <a:latin typeface="JetBrainsMonoNL"/>
              </a:rPr>
              <a:t>ct</a:t>
            </a:r>
            <a:r>
              <a:rPr lang="en-US" b="0" dirty="0">
                <a:solidFill>
                  <a:srgbClr val="FF0000"/>
                </a:solidFill>
                <a:effectLst/>
                <a:latin typeface="JetBrainsMonoNL"/>
              </a:rPr>
              <a:t>)</a:t>
            </a:r>
          </a:p>
        </p:txBody>
      </p:sp>
    </p:spTree>
    <p:extLst>
      <p:ext uri="{BB962C8B-B14F-4D97-AF65-F5344CB8AC3E}">
        <p14:creationId xmlns:p14="http://schemas.microsoft.com/office/powerpoint/2010/main" val="6293699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5251677D890584195F954B2851B372A" ma:contentTypeVersion="3" ma:contentTypeDescription="Create a new document." ma:contentTypeScope="" ma:versionID="0ec69dbb0cb07dbcd04384f562df549f">
  <xsd:schema xmlns:xsd="http://www.w3.org/2001/XMLSchema" xmlns:xs="http://www.w3.org/2001/XMLSchema" xmlns:p="http://schemas.microsoft.com/office/2006/metadata/properties" xmlns:ns2="a72fd688-a39b-46f8-b4dc-9fe43a88e128" targetNamespace="http://schemas.microsoft.com/office/2006/metadata/properties" ma:root="true" ma:fieldsID="188c6f61754d11148d00a0cc1d4d794a" ns2:_="">
    <xsd:import namespace="a72fd688-a39b-46f8-b4dc-9fe43a88e128"/>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72fd688-a39b-46f8-b4dc-9fe43a88e12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4A6AAE4-A52C-4F2D-9AA2-0CDB59906B25}"/>
</file>

<file path=customXml/itemProps2.xml><?xml version="1.0" encoding="utf-8"?>
<ds:datastoreItem xmlns:ds="http://schemas.openxmlformats.org/officeDocument/2006/customXml" ds:itemID="{6746B623-9CC9-469B-A263-F534C03E5D0E}"/>
</file>

<file path=customXml/itemProps3.xml><?xml version="1.0" encoding="utf-8"?>
<ds:datastoreItem xmlns:ds="http://schemas.openxmlformats.org/officeDocument/2006/customXml" ds:itemID="{D488917B-25B2-4287-A458-7F9072D66C70}"/>
</file>

<file path=docProps/app.xml><?xml version="1.0" encoding="utf-8"?>
<Properties xmlns="http://schemas.openxmlformats.org/officeDocument/2006/extended-properties" xmlns:vt="http://schemas.openxmlformats.org/officeDocument/2006/docPropsVTypes">
  <TotalTime>2476</TotalTime>
  <Words>3791</Words>
  <Application>Microsoft Office PowerPoint</Application>
  <PresentationFormat>Widescreen</PresentationFormat>
  <Paragraphs>367</Paragraphs>
  <Slides>44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44</vt:i4>
      </vt:variant>
    </vt:vector>
  </HeadingPairs>
  <TitlesOfParts>
    <vt:vector size="52" baseType="lpstr">
      <vt:lpstr>Aptos</vt:lpstr>
      <vt:lpstr>Arial</vt:lpstr>
      <vt:lpstr>Calibri</vt:lpstr>
      <vt:lpstr>Calibri Light</vt:lpstr>
      <vt:lpstr>Candara</vt:lpstr>
      <vt:lpstr>JetBrainsMonoNL</vt:lpstr>
      <vt:lpstr>Studio-Feixen-Sans</vt:lpstr>
      <vt:lpstr>Office Theme</vt:lpstr>
      <vt:lpstr>Unsupervised Machine Learning</vt:lpstr>
      <vt:lpstr>Unsupervised learning</vt:lpstr>
      <vt:lpstr>Supervised vs unsupervised learning</vt:lpstr>
      <vt:lpstr>PowerPoint Presentation</vt:lpstr>
      <vt:lpstr>Arrays, features and samples</vt:lpstr>
      <vt:lpstr>Iris data is 4-dimensional</vt:lpstr>
      <vt:lpstr>K-means clustering</vt:lpstr>
      <vt:lpstr>PowerPoint Presentation</vt:lpstr>
      <vt:lpstr>PowerPoint Presentation</vt:lpstr>
      <vt:lpstr>Cluster labels for new samples</vt:lpstr>
      <vt:lpstr>PowerPoint Presentation</vt:lpstr>
      <vt:lpstr>PowerPoint Presentation</vt:lpstr>
      <vt:lpstr>Practice – How many clusters</vt:lpstr>
      <vt:lpstr>Clustering 2D points</vt:lpstr>
      <vt:lpstr>Train and fit the model</vt:lpstr>
      <vt:lpstr>Inspect your cluster</vt:lpstr>
      <vt:lpstr>PowerPoint Presentation</vt:lpstr>
      <vt:lpstr>Evaluating a clustering</vt:lpstr>
      <vt:lpstr>PowerPoint Presentation</vt:lpstr>
      <vt:lpstr>PowerPoint Presentation</vt:lpstr>
      <vt:lpstr>PowerPoint Presentation</vt:lpstr>
      <vt:lpstr>PowerPoint Presentation</vt:lpstr>
      <vt:lpstr>Measuring clustering quality</vt:lpstr>
      <vt:lpstr>PowerPoint Presentation</vt:lpstr>
      <vt:lpstr>PowerPoint Presentation</vt:lpstr>
      <vt:lpstr>PowerPoint Presentation</vt:lpstr>
      <vt:lpstr>PowerPoint Presentation</vt:lpstr>
      <vt:lpstr>PowerPoint Presentation</vt:lpstr>
      <vt:lpstr>PowerPoint Presentation</vt:lpstr>
      <vt:lpstr>Transforming features for better clustering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Scaling fish data for clustering</vt:lpstr>
      <vt:lpstr>Scaling fish data for clustering (cont.)</vt:lpstr>
      <vt:lpstr>Visualize the clusters</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Learning with Scikit-learn</dc:title>
  <dc:creator>THANACHAI THUMTHAWATWORN</dc:creator>
  <cp:lastModifiedBy>THANACHAI THUMTHAWATWORN</cp:lastModifiedBy>
  <cp:revision>39</cp:revision>
  <dcterms:created xsi:type="dcterms:W3CDTF">2023-09-14T02:10:21Z</dcterms:created>
  <dcterms:modified xsi:type="dcterms:W3CDTF">2026-02-08T09:54:15Z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0x01010025251677D890584195F954B2851B372A</vt:lpwstr>
  </property>
</Properties>
</file>